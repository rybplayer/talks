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Lst>
  <p:sldSz cy="5143500" cx="9144000"/>
  <p:notesSz cx="6858000" cy="9144000"/>
  <p:embeddedFontLst>
    <p:embeddedFont>
      <p:font typeface="Georama"/>
      <p:regular r:id="rId70"/>
      <p:bold r:id="rId71"/>
      <p:italic r:id="rId72"/>
      <p:boldItalic r:id="rId73"/>
    </p:embeddedFont>
    <p:embeddedFont>
      <p:font typeface="Lexend Light"/>
      <p:regular r:id="rId74"/>
      <p:bold r:id="rId75"/>
    </p:embeddedFont>
    <p:embeddedFont>
      <p:font typeface="Lexend"/>
      <p:regular r:id="rId76"/>
      <p:bold r:id="rId7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Georama-boldItalic.fntdata"/><Relationship Id="rId72" Type="http://schemas.openxmlformats.org/officeDocument/2006/relationships/font" Target="fonts/Georama-italic.fntdata"/><Relationship Id="rId31" Type="http://schemas.openxmlformats.org/officeDocument/2006/relationships/slide" Target="slides/slide26.xml"/><Relationship Id="rId75" Type="http://schemas.openxmlformats.org/officeDocument/2006/relationships/font" Target="fonts/LexendLight-bold.fntdata"/><Relationship Id="rId30" Type="http://schemas.openxmlformats.org/officeDocument/2006/relationships/slide" Target="slides/slide25.xml"/><Relationship Id="rId74" Type="http://schemas.openxmlformats.org/officeDocument/2006/relationships/font" Target="fonts/LexendLight-regular.fntdata"/><Relationship Id="rId33" Type="http://schemas.openxmlformats.org/officeDocument/2006/relationships/slide" Target="slides/slide28.xml"/><Relationship Id="rId77" Type="http://schemas.openxmlformats.org/officeDocument/2006/relationships/font" Target="fonts/Lexend-bold.fntdata"/><Relationship Id="rId32" Type="http://schemas.openxmlformats.org/officeDocument/2006/relationships/slide" Target="slides/slide27.xml"/><Relationship Id="rId76" Type="http://schemas.openxmlformats.org/officeDocument/2006/relationships/font" Target="fonts/Lexend-regular.fntdata"/><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Georama-bold.fntdata"/><Relationship Id="rId70" Type="http://schemas.openxmlformats.org/officeDocument/2006/relationships/font" Target="fonts/Georama-regular.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5760b40eaf_2_2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5760b40eaf_2_2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5760b40eaf_2_2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5760b40eaf_2_2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57d24e059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57d24e059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5760b40eaf_2_2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5760b40eaf_2_2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5760b40eaf_2_2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5760b40eaf_2_2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5760b40eaf_2_2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5760b40eaf_2_2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5760b40eaf_2_2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5760b40eaf_2_2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5760b40eaf_2_2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5760b40eaf_2_2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5760b40eaf_2_2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5760b40eaf_2_2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5760b40eaf_2_2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5760b40eaf_2_2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5760b40eaf_2_24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5760b40eaf_2_2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5760b40eaf_2_2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5760b40eaf_2_2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5760b40eaf_2_23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5760b40eaf_2_2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5760b40eaf_2_2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5760b40eaf_2_2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57d24e0591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57d24e0591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57d24e0591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57d24e0591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57d24e0591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57d24e0591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57d24e0591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57d24e0591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5760b40eaf_2_24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5760b40eaf_2_24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5760b40eaf_2_2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5760b40eaf_2_2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5760b40eaf_2_2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5760b40eaf_2_2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5760b40eaf_2_23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5760b40eaf_2_2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5760b40eaf_2_24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5760b40eaf_2_24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5760b40eaf_2_24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5760b40eaf_2_24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5760b40eaf_2_24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5760b40eaf_2_24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5760b40eaf_2_2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5760b40eaf_2_2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5760b40eaf_2_23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5760b40eaf_2_23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57d24e0591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57d24e0591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57d24e0591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57d24e0591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57d24e0591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57d24e0591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57d24e0591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57d24e0591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57d24e0591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57d24e0591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57d24e0591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57d24e0591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57d24e0591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57d24e0591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57d24e0591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57d24e0591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5760b40eaf_2_2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5760b40eaf_2_2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5760b40eaf_2_24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5760b40eaf_2_2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5760b40eaf_2_2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5760b40eaf_2_2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5760b40eaf_2_2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5760b40eaf_2_2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5760b40eaf_2_25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5760b40eaf_2_25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5760b40eaf_2_24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5760b40eaf_2_24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57d24e0591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57d24e0591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57d24e0591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57d24e0591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57d24e0591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57d24e0591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57d24e0591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357d24e0591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5760b40eaf_2_2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35760b40eaf_2_2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5760b40eaf_2_25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35760b40eaf_2_25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5760b40eaf_2_25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35760b40eaf_2_25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5760b40eaf_2_25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35760b40eaf_2_25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5760b40eaf_2_25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35760b40eaf_2_25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5760b40eaf_2_25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5760b40eaf_2_25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57d24e0591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357d24e0591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57d24e0591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357d24e0591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57d24e0591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57d24e0591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57d24e0591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57d24e0591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5760b40eaf_2_25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35760b40eaf_2_25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5760b40eaf_2_25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5760b40eaf_2_25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5760b40eaf_2_25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35760b40eaf_2_25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5760b40eaf_2_25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35760b40eaf_2_25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5760b40eaf_2_25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35760b40eaf_2_25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57a330f5a4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357a330f5a4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57a330f5a4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57a330f5a4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57a330f5a4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357a330f5a4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5760b40eaf_2_26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35760b40eaf_2_26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hyperlink" Target="https://www.brainzilla.com/logic/logic-grid/basic-1/"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hyperlink" Target="https://www.brainzilla.com/logic/logic-grid/basic-1/"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hyperlink" Target="https://arxiv.org/pdf/1910.06636" TargetMode="External"/><Relationship Id="rId5"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hyperlink" Target="https://www.dr-mikes-math-games-for-kids.com/truth-lies-logic-puzzle-generator.html" TargetMode="External"/><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hyperlink" Target="https://www.legacy.com/us/obituaries/nytimes/name/robert-schmittberger-obituary?id=54463994" TargetMode="External"/><Relationship Id="rId4" Type="http://schemas.openxmlformats.org/officeDocument/2006/relationships/image" Target="../media/image8.png"/><Relationship Id="rId5" Type="http://schemas.openxmlformats.org/officeDocument/2006/relationships/image" Target="../media/image11.png"/><Relationship Id="rId6" Type="http://schemas.openxmlformats.org/officeDocument/2006/relationships/image" Target="../media/image10.png"/><Relationship Id="rId7" Type="http://schemas.openxmlformats.org/officeDocument/2006/relationships/image" Target="../media/image1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1428448"/>
            <a:ext cx="8520600" cy="15801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b="1" lang="en">
                <a:latin typeface="Lexend"/>
                <a:ea typeface="Lexend"/>
                <a:cs typeface="Lexend"/>
                <a:sym typeface="Lexend"/>
              </a:rPr>
              <a:t>Logic Grids </a:t>
            </a:r>
            <a:r>
              <a:rPr lang="en">
                <a:latin typeface="Lexend Light"/>
                <a:ea typeface="Lexend Light"/>
                <a:cs typeface="Lexend Light"/>
                <a:sym typeface="Lexend Light"/>
              </a:rPr>
              <a:t>a</a:t>
            </a:r>
            <a:r>
              <a:rPr lang="en">
                <a:latin typeface="Lexend Light"/>
                <a:ea typeface="Lexend Light"/>
                <a:cs typeface="Lexend Light"/>
                <a:sym typeface="Lexend Light"/>
              </a:rPr>
              <a:t>s</a:t>
            </a:r>
            <a:endParaRPr>
              <a:latin typeface="Lexend Light"/>
              <a:ea typeface="Lexend Light"/>
              <a:cs typeface="Lexend Light"/>
              <a:sym typeface="Lexend Light"/>
            </a:endParaRPr>
          </a:p>
          <a:p>
            <a:pPr indent="0" lvl="0" marL="0" rtl="0" algn="ctr">
              <a:spcBef>
                <a:spcPts val="0"/>
              </a:spcBef>
              <a:spcAft>
                <a:spcPts val="0"/>
              </a:spcAft>
              <a:buNone/>
            </a:pPr>
            <a:r>
              <a:rPr b="1" lang="en">
                <a:latin typeface="Lexend"/>
                <a:ea typeface="Lexend"/>
                <a:cs typeface="Lexend"/>
                <a:sym typeface="Lexend"/>
              </a:rPr>
              <a:t>Data Structures</a:t>
            </a:r>
            <a:endParaRPr b="1">
              <a:latin typeface="Lexend"/>
              <a:ea typeface="Lexend"/>
              <a:cs typeface="Lexend"/>
              <a:sym typeface="Lexend"/>
            </a:endParaRPr>
          </a:p>
        </p:txBody>
      </p:sp>
      <p:sp>
        <p:nvSpPr>
          <p:cNvPr id="55" name="Google Shape;55;p13"/>
          <p:cNvSpPr txBox="1"/>
          <p:nvPr>
            <p:ph type="ctrTitle"/>
          </p:nvPr>
        </p:nvSpPr>
        <p:spPr>
          <a:xfrm>
            <a:off x="311700" y="3008549"/>
            <a:ext cx="8520600" cy="706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3000">
                <a:latin typeface="Georama"/>
                <a:ea typeface="Georama"/>
                <a:cs typeface="Georama"/>
                <a:sym typeface="Georama"/>
              </a:rPr>
              <a:t>Ryan Y. Batubara</a:t>
            </a:r>
            <a:endParaRPr sz="3000">
              <a:latin typeface="Georama"/>
              <a:ea typeface="Georama"/>
              <a:cs typeface="Georama"/>
              <a:sym typeface="Georama"/>
            </a:endParaRPr>
          </a:p>
        </p:txBody>
      </p:sp>
      <p:sp>
        <p:nvSpPr>
          <p:cNvPr id="56" name="Google Shape;56;p13"/>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0</a:t>
            </a:r>
            <a:endParaRPr b="1">
              <a:latin typeface="Georama"/>
              <a:ea typeface="Georama"/>
              <a:cs typeface="Georama"/>
              <a:sym typeface="Georam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ctrTitle"/>
          </p:nvPr>
        </p:nvSpPr>
        <p:spPr>
          <a:xfrm>
            <a:off x="311700" y="1781698"/>
            <a:ext cx="8520600" cy="1580100"/>
          </a:xfrm>
          <a:prstGeom prst="rect">
            <a:avLst/>
          </a:prstGeom>
        </p:spPr>
        <p:txBody>
          <a:bodyPr anchorCtr="0" anchor="ctr" bIns="91425" lIns="91425" spcFirstLastPara="1" rIns="91425" wrap="square" tIns="91425">
            <a:normAutofit/>
          </a:bodyPr>
          <a:lstStyle/>
          <a:p>
            <a:pPr indent="-558800" lvl="0" marL="457200" rtl="0" algn="ctr">
              <a:spcBef>
                <a:spcPts val="0"/>
              </a:spcBef>
              <a:spcAft>
                <a:spcPts val="0"/>
              </a:spcAft>
              <a:buSzPts val="5200"/>
              <a:buFont typeface="Lexend"/>
              <a:buAutoNum type="arabicPeriod"/>
            </a:pPr>
            <a:r>
              <a:rPr lang="en">
                <a:latin typeface="Lexend"/>
                <a:ea typeface="Lexend"/>
                <a:cs typeface="Lexend"/>
                <a:sym typeface="Lexend"/>
              </a:rPr>
              <a:t>What’s a logic grid?</a:t>
            </a:r>
            <a:endParaRPr>
              <a:latin typeface="Lexend"/>
              <a:ea typeface="Lexend"/>
              <a:cs typeface="Lexend"/>
              <a:sym typeface="Lexend"/>
            </a:endParaRPr>
          </a:p>
        </p:txBody>
      </p:sp>
      <p:sp>
        <p:nvSpPr>
          <p:cNvPr id="62" name="Google Shape;62;p14"/>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1</a:t>
            </a:r>
            <a:endParaRPr b="1">
              <a:latin typeface="Georama"/>
              <a:ea typeface="Georama"/>
              <a:cs typeface="Georama"/>
              <a:sym typeface="Georam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What’s a logic grid?</a:t>
            </a:r>
            <a:endParaRPr>
              <a:latin typeface="Lexend Light"/>
              <a:ea typeface="Lexend Light"/>
              <a:cs typeface="Lexend Light"/>
              <a:sym typeface="Lexend Light"/>
            </a:endParaRPr>
          </a:p>
        </p:txBody>
      </p:sp>
      <p:pic>
        <p:nvPicPr>
          <p:cNvPr id="68" name="Google Shape;68;p15"/>
          <p:cNvPicPr preferRelativeResize="0"/>
          <p:nvPr/>
        </p:nvPicPr>
        <p:blipFill>
          <a:blip r:embed="rId3">
            <a:alphaModFix/>
          </a:blip>
          <a:stretch>
            <a:fillRect/>
          </a:stretch>
        </p:blipFill>
        <p:spPr>
          <a:xfrm>
            <a:off x="795063" y="1171250"/>
            <a:ext cx="3617108" cy="3437400"/>
          </a:xfrm>
          <a:prstGeom prst="rect">
            <a:avLst/>
          </a:prstGeom>
          <a:noFill/>
          <a:ln>
            <a:noFill/>
          </a:ln>
        </p:spPr>
      </p:pic>
      <p:sp>
        <p:nvSpPr>
          <p:cNvPr id="69" name="Google Shape;69;p15"/>
          <p:cNvSpPr txBox="1"/>
          <p:nvPr/>
        </p:nvSpPr>
        <p:spPr>
          <a:xfrm>
            <a:off x="4626013" y="1171250"/>
            <a:ext cx="3807000" cy="32586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Peter's birthday is in April.</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Eric is 7.</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Arnold was born in September.</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Peter is 8.</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Clr>
                <a:schemeClr val="dk1"/>
              </a:buClr>
              <a:buSzPts val="1100"/>
              <a:buFont typeface="Arial"/>
              <a:buNone/>
            </a:pPr>
            <a:r>
              <a:t/>
            </a:r>
            <a:endParaRPr b="1">
              <a:solidFill>
                <a:schemeClr val="dk1"/>
              </a:solidFill>
              <a:latin typeface="Georama"/>
              <a:ea typeface="Georama"/>
              <a:cs typeface="Georama"/>
              <a:sym typeface="Georama"/>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From </a:t>
            </a:r>
            <a:r>
              <a:rPr lang="en" sz="1800">
                <a:solidFill>
                  <a:schemeClr val="dk1"/>
                </a:solidFill>
                <a:uFill>
                  <a:noFill/>
                </a:uFill>
                <a:latin typeface="Georama"/>
                <a:ea typeface="Georama"/>
                <a:cs typeface="Georama"/>
                <a:sym typeface="Georama"/>
                <a:hlinkClick r:id="rId4">
                  <a:extLst>
                    <a:ext uri="{A12FA001-AC4F-418D-AE19-62706E023703}">
                      <ahyp:hlinkClr val="tx"/>
                    </a:ext>
                  </a:extLst>
                </a:hlinkClick>
              </a:rPr>
              <a:t>Brainzilla Basic Logic Grid 1</a:t>
            </a:r>
            <a:r>
              <a:rPr lang="en" sz="1800">
                <a:solidFill>
                  <a:schemeClr val="dk1"/>
                </a:solidFill>
                <a:latin typeface="Georama"/>
                <a:ea typeface="Georama"/>
                <a:cs typeface="Georama"/>
                <a:sym typeface="Georama"/>
              </a:rPr>
              <a:t>.</a:t>
            </a:r>
            <a:endParaRPr sz="1800">
              <a:solidFill>
                <a:schemeClr val="dk1"/>
              </a:solidFill>
              <a:latin typeface="Georama"/>
              <a:ea typeface="Georama"/>
              <a:cs typeface="Georama"/>
              <a:sym typeface="Georama"/>
            </a:endParaRPr>
          </a:p>
        </p:txBody>
      </p:sp>
      <p:sp>
        <p:nvSpPr>
          <p:cNvPr id="70" name="Google Shape;70;p15"/>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1</a:t>
            </a:r>
            <a:endParaRPr b="1">
              <a:latin typeface="Georama"/>
              <a:ea typeface="Georama"/>
              <a:cs typeface="Georama"/>
              <a:sym typeface="Georam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What’s a logic grid?</a:t>
            </a:r>
            <a:endParaRPr>
              <a:latin typeface="Lexend Light"/>
              <a:ea typeface="Lexend Light"/>
              <a:cs typeface="Lexend Light"/>
              <a:sym typeface="Lexend Light"/>
            </a:endParaRPr>
          </a:p>
        </p:txBody>
      </p:sp>
      <p:pic>
        <p:nvPicPr>
          <p:cNvPr id="76" name="Google Shape;76;p16"/>
          <p:cNvPicPr preferRelativeResize="0"/>
          <p:nvPr/>
        </p:nvPicPr>
        <p:blipFill>
          <a:blip r:embed="rId3">
            <a:alphaModFix/>
          </a:blip>
          <a:stretch>
            <a:fillRect/>
          </a:stretch>
        </p:blipFill>
        <p:spPr>
          <a:xfrm>
            <a:off x="795063" y="1171250"/>
            <a:ext cx="3617108" cy="3437400"/>
          </a:xfrm>
          <a:prstGeom prst="rect">
            <a:avLst/>
          </a:prstGeom>
          <a:noFill/>
          <a:ln>
            <a:noFill/>
          </a:ln>
        </p:spPr>
      </p:pic>
      <p:sp>
        <p:nvSpPr>
          <p:cNvPr id="77" name="Google Shape;77;p16"/>
          <p:cNvSpPr txBox="1"/>
          <p:nvPr/>
        </p:nvSpPr>
        <p:spPr>
          <a:xfrm>
            <a:off x="4626013" y="1171250"/>
            <a:ext cx="3807000" cy="32586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Peter's birthday is in April.</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Eric is 7.</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Arnold was born in September.</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Peter is 8.</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Clr>
                <a:schemeClr val="dk1"/>
              </a:buClr>
              <a:buSzPts val="1100"/>
              <a:buFont typeface="Arial"/>
              <a:buNone/>
            </a:pPr>
            <a:r>
              <a:t/>
            </a:r>
            <a:endParaRPr b="1">
              <a:solidFill>
                <a:schemeClr val="dk1"/>
              </a:solidFill>
              <a:latin typeface="Georama"/>
              <a:ea typeface="Georama"/>
              <a:cs typeface="Georama"/>
              <a:sym typeface="Georama"/>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Georama"/>
                <a:ea typeface="Georama"/>
                <a:cs typeface="Georama"/>
                <a:sym typeface="Georama"/>
              </a:rPr>
              <a:t>Arnold is 9, born in September.</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Georama"/>
                <a:ea typeface="Georama"/>
                <a:cs typeface="Georama"/>
                <a:sym typeface="Georama"/>
              </a:rPr>
              <a:t>Eric is 7, born in January.</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Georama"/>
                <a:ea typeface="Georama"/>
                <a:cs typeface="Georama"/>
                <a:sym typeface="Georama"/>
              </a:rPr>
              <a:t>Peter is 8, born in April.</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From </a:t>
            </a:r>
            <a:r>
              <a:rPr lang="en" sz="1800">
                <a:solidFill>
                  <a:schemeClr val="dk1"/>
                </a:solidFill>
                <a:uFill>
                  <a:noFill/>
                </a:uFill>
                <a:latin typeface="Georama"/>
                <a:ea typeface="Georama"/>
                <a:cs typeface="Georama"/>
                <a:sym typeface="Georama"/>
                <a:hlinkClick r:id="rId4">
                  <a:extLst>
                    <a:ext uri="{A12FA001-AC4F-418D-AE19-62706E023703}">
                      <ahyp:hlinkClr val="tx"/>
                    </a:ext>
                  </a:extLst>
                </a:hlinkClick>
              </a:rPr>
              <a:t>Brainzilla Basic Logic Grid 1</a:t>
            </a:r>
            <a:r>
              <a:rPr lang="en" sz="1800">
                <a:solidFill>
                  <a:schemeClr val="dk1"/>
                </a:solidFill>
                <a:latin typeface="Georama"/>
                <a:ea typeface="Georama"/>
                <a:cs typeface="Georama"/>
                <a:sym typeface="Georama"/>
              </a:rPr>
              <a:t>.</a:t>
            </a:r>
            <a:endParaRPr sz="1800">
              <a:solidFill>
                <a:schemeClr val="dk1"/>
              </a:solidFill>
              <a:latin typeface="Georama"/>
              <a:ea typeface="Georama"/>
              <a:cs typeface="Georama"/>
              <a:sym typeface="Georama"/>
            </a:endParaRPr>
          </a:p>
        </p:txBody>
      </p:sp>
      <p:sp>
        <p:nvSpPr>
          <p:cNvPr id="78" name="Google Shape;78;p16"/>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1</a:t>
            </a:r>
            <a:endParaRPr b="1">
              <a:latin typeface="Georama"/>
              <a:ea typeface="Georama"/>
              <a:cs typeface="Georama"/>
              <a:sym typeface="Georam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What’s a logic grid?</a:t>
            </a:r>
            <a:endParaRPr>
              <a:latin typeface="Lexend Light"/>
              <a:ea typeface="Lexend Light"/>
              <a:cs typeface="Lexend Light"/>
              <a:sym typeface="Lexend Light"/>
            </a:endParaRPr>
          </a:p>
        </p:txBody>
      </p:sp>
      <p:pic>
        <p:nvPicPr>
          <p:cNvPr id="84" name="Google Shape;84;p17"/>
          <p:cNvPicPr preferRelativeResize="0"/>
          <p:nvPr/>
        </p:nvPicPr>
        <p:blipFill>
          <a:blip r:embed="rId3">
            <a:alphaModFix/>
          </a:blip>
          <a:stretch>
            <a:fillRect/>
          </a:stretch>
        </p:blipFill>
        <p:spPr>
          <a:xfrm>
            <a:off x="691863" y="1171250"/>
            <a:ext cx="3617108" cy="3437400"/>
          </a:xfrm>
          <a:prstGeom prst="rect">
            <a:avLst/>
          </a:prstGeom>
          <a:noFill/>
          <a:ln>
            <a:noFill/>
          </a:ln>
        </p:spPr>
      </p:pic>
      <p:sp>
        <p:nvSpPr>
          <p:cNvPr id="85" name="Google Shape;85;p17"/>
          <p:cNvSpPr txBox="1"/>
          <p:nvPr/>
        </p:nvSpPr>
        <p:spPr>
          <a:xfrm>
            <a:off x="4571988" y="1171250"/>
            <a:ext cx="3807000" cy="332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b="1" lang="en" sz="1800">
                <a:solidFill>
                  <a:schemeClr val="dk1"/>
                </a:solidFill>
                <a:latin typeface="Georama"/>
                <a:ea typeface="Georama"/>
                <a:cs typeface="Georama"/>
                <a:sym typeface="Georama"/>
              </a:rPr>
              <a:t>Logic grids (LGs)</a:t>
            </a:r>
            <a:r>
              <a:rPr lang="en" sz="1800">
                <a:solidFill>
                  <a:schemeClr val="dk1"/>
                </a:solidFill>
                <a:latin typeface="Georama"/>
                <a:ea typeface="Georama"/>
                <a:cs typeface="Georama"/>
                <a:sym typeface="Georama"/>
              </a:rPr>
              <a:t> are puzzles where</a:t>
            </a:r>
            <a:br>
              <a:rPr lang="en" sz="1800">
                <a:solidFill>
                  <a:schemeClr val="dk1"/>
                </a:solidFill>
                <a:latin typeface="Georama"/>
                <a:ea typeface="Georama"/>
                <a:cs typeface="Georama"/>
                <a:sym typeface="Georama"/>
              </a:rPr>
            </a:b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You are given </a:t>
            </a:r>
            <a:r>
              <a:rPr i="1" lang="en" sz="1800">
                <a:solidFill>
                  <a:schemeClr val="dk1"/>
                </a:solidFill>
                <a:latin typeface="Georama"/>
                <a:ea typeface="Georama"/>
                <a:cs typeface="Georama"/>
                <a:sym typeface="Georama"/>
              </a:rPr>
              <a:t>c</a:t>
            </a:r>
            <a:r>
              <a:rPr lang="en" sz="1800">
                <a:solidFill>
                  <a:schemeClr val="dk1"/>
                </a:solidFill>
                <a:latin typeface="Georama"/>
                <a:ea typeface="Georama"/>
                <a:cs typeface="Georama"/>
                <a:sym typeface="Georama"/>
              </a:rPr>
              <a:t> categories,</a:t>
            </a:r>
            <a:br>
              <a:rPr lang="en" sz="1800">
                <a:solidFill>
                  <a:schemeClr val="dk1"/>
                </a:solidFill>
                <a:latin typeface="Georama"/>
                <a:ea typeface="Georama"/>
                <a:cs typeface="Georama"/>
                <a:sym typeface="Georama"/>
              </a:rPr>
            </a:br>
            <a:r>
              <a:rPr lang="en" sz="1800">
                <a:solidFill>
                  <a:schemeClr val="dk1"/>
                </a:solidFill>
                <a:latin typeface="Georama"/>
                <a:ea typeface="Georama"/>
                <a:cs typeface="Georama"/>
                <a:sym typeface="Georama"/>
              </a:rPr>
              <a:t>e</a:t>
            </a:r>
            <a:r>
              <a:rPr lang="en" sz="1800">
                <a:solidFill>
                  <a:schemeClr val="dk1"/>
                </a:solidFill>
                <a:latin typeface="Georama"/>
                <a:ea typeface="Georama"/>
                <a:cs typeface="Georama"/>
                <a:sym typeface="Georama"/>
              </a:rPr>
              <a:t>ach with </a:t>
            </a:r>
            <a:r>
              <a:rPr i="1" lang="en" sz="1800">
                <a:solidFill>
                  <a:schemeClr val="dk1"/>
                </a:solidFill>
                <a:latin typeface="Georama"/>
                <a:ea typeface="Georama"/>
                <a:cs typeface="Georama"/>
                <a:sym typeface="Georama"/>
              </a:rPr>
              <a:t>n</a:t>
            </a:r>
            <a:r>
              <a:rPr lang="en" sz="1800">
                <a:solidFill>
                  <a:schemeClr val="dk1"/>
                </a:solidFill>
                <a:latin typeface="Georama"/>
                <a:ea typeface="Georama"/>
                <a:cs typeface="Georama"/>
                <a:sym typeface="Georama"/>
              </a:rPr>
              <a:t> distinct elements.</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You are given </a:t>
            </a:r>
            <a:r>
              <a:rPr b="1" lang="en" sz="1800">
                <a:solidFill>
                  <a:schemeClr val="dk1"/>
                </a:solidFill>
                <a:latin typeface="Georama"/>
                <a:ea typeface="Georama"/>
                <a:cs typeface="Georama"/>
                <a:sym typeface="Georama"/>
              </a:rPr>
              <a:t>clues</a:t>
            </a:r>
            <a:r>
              <a:rPr lang="en" sz="1800">
                <a:solidFill>
                  <a:schemeClr val="dk1"/>
                </a:solidFill>
                <a:latin typeface="Georama"/>
                <a:ea typeface="Georama"/>
                <a:cs typeface="Georama"/>
                <a:sym typeface="Georama"/>
              </a:rPr>
              <a:t> about the categories and elements,</a:t>
            </a:r>
            <a:br>
              <a:rPr lang="en" sz="1800">
                <a:solidFill>
                  <a:schemeClr val="dk1"/>
                </a:solidFill>
                <a:latin typeface="Georama"/>
                <a:ea typeface="Georama"/>
                <a:cs typeface="Georama"/>
                <a:sym typeface="Georama"/>
              </a:rPr>
            </a:br>
            <a:r>
              <a:rPr lang="en" sz="1800">
                <a:solidFill>
                  <a:schemeClr val="dk1"/>
                </a:solidFill>
                <a:latin typeface="Georama"/>
                <a:ea typeface="Georama"/>
                <a:cs typeface="Georama"/>
                <a:sym typeface="Georama"/>
              </a:rPr>
              <a:t>l</a:t>
            </a:r>
            <a:r>
              <a:rPr lang="en" sz="1800">
                <a:solidFill>
                  <a:schemeClr val="dk1"/>
                </a:solidFill>
                <a:latin typeface="Georama"/>
                <a:ea typeface="Georama"/>
                <a:cs typeface="Georama"/>
                <a:sym typeface="Georama"/>
              </a:rPr>
              <a:t>eading to a </a:t>
            </a:r>
            <a:r>
              <a:rPr b="1" lang="en" sz="1800">
                <a:solidFill>
                  <a:schemeClr val="dk1"/>
                </a:solidFill>
                <a:latin typeface="Georama"/>
                <a:ea typeface="Georama"/>
                <a:cs typeface="Georama"/>
                <a:sym typeface="Georama"/>
              </a:rPr>
              <a:t>unique</a:t>
            </a:r>
            <a:r>
              <a:rPr lang="en" sz="1800">
                <a:solidFill>
                  <a:schemeClr val="dk1"/>
                </a:solidFill>
                <a:latin typeface="Georama"/>
                <a:ea typeface="Georama"/>
                <a:cs typeface="Georama"/>
                <a:sym typeface="Georama"/>
              </a:rPr>
              <a:t> </a:t>
            </a:r>
            <a:r>
              <a:rPr b="1" lang="en" sz="1800">
                <a:solidFill>
                  <a:schemeClr val="dk1"/>
                </a:solidFill>
                <a:latin typeface="Georama"/>
                <a:ea typeface="Georama"/>
                <a:cs typeface="Georama"/>
                <a:sym typeface="Georama"/>
              </a:rPr>
              <a:t>bijection </a:t>
            </a:r>
            <a:r>
              <a:rPr lang="en" sz="1800">
                <a:solidFill>
                  <a:schemeClr val="dk1"/>
                </a:solidFill>
                <a:latin typeface="Georama"/>
                <a:ea typeface="Georama"/>
                <a:cs typeface="Georama"/>
                <a:sym typeface="Georama"/>
              </a:rPr>
              <a:t>between categories.</a:t>
            </a:r>
            <a:endParaRPr sz="1800">
              <a:solidFill>
                <a:schemeClr val="dk1"/>
              </a:solidFill>
              <a:latin typeface="Georama"/>
              <a:ea typeface="Georama"/>
              <a:cs typeface="Georama"/>
              <a:sym typeface="Georama"/>
            </a:endParaRPr>
          </a:p>
        </p:txBody>
      </p:sp>
      <p:pic>
        <p:nvPicPr>
          <p:cNvPr id="86" name="Google Shape;86;p17"/>
          <p:cNvPicPr preferRelativeResize="0"/>
          <p:nvPr/>
        </p:nvPicPr>
        <p:blipFill>
          <a:blip r:embed="rId3">
            <a:alphaModFix/>
          </a:blip>
          <a:stretch>
            <a:fillRect/>
          </a:stretch>
        </p:blipFill>
        <p:spPr>
          <a:xfrm>
            <a:off x="795063" y="1171250"/>
            <a:ext cx="3617108" cy="3437400"/>
          </a:xfrm>
          <a:prstGeom prst="rect">
            <a:avLst/>
          </a:prstGeom>
          <a:noFill/>
          <a:ln>
            <a:noFill/>
          </a:ln>
        </p:spPr>
      </p:pic>
      <p:pic>
        <p:nvPicPr>
          <p:cNvPr id="87" name="Google Shape;87;p17"/>
          <p:cNvPicPr preferRelativeResize="0"/>
          <p:nvPr/>
        </p:nvPicPr>
        <p:blipFill>
          <a:blip r:embed="rId4">
            <a:alphaModFix/>
          </a:blip>
          <a:stretch>
            <a:fillRect/>
          </a:stretch>
        </p:blipFill>
        <p:spPr>
          <a:xfrm>
            <a:off x="773314" y="1171250"/>
            <a:ext cx="3660613" cy="3437400"/>
          </a:xfrm>
          <a:prstGeom prst="rect">
            <a:avLst/>
          </a:prstGeom>
          <a:noFill/>
          <a:ln>
            <a:noFill/>
          </a:ln>
        </p:spPr>
      </p:pic>
      <p:sp>
        <p:nvSpPr>
          <p:cNvPr id="88" name="Google Shape;88;p17"/>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1</a:t>
            </a:r>
            <a:endParaRPr b="1">
              <a:latin typeface="Georama"/>
              <a:ea typeface="Georama"/>
              <a:cs typeface="Georama"/>
              <a:sym typeface="Georam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So what</a:t>
            </a:r>
            <a:r>
              <a:rPr lang="en">
                <a:latin typeface="Lexend Light"/>
                <a:ea typeface="Lexend Light"/>
                <a:cs typeface="Lexend Light"/>
                <a:sym typeface="Lexend Light"/>
              </a:rPr>
              <a:t>?</a:t>
            </a:r>
            <a:endParaRPr>
              <a:latin typeface="Lexend Light"/>
              <a:ea typeface="Lexend Light"/>
              <a:cs typeface="Lexend Light"/>
              <a:sym typeface="Lexend Light"/>
            </a:endParaRPr>
          </a:p>
        </p:txBody>
      </p:sp>
      <p:pic>
        <p:nvPicPr>
          <p:cNvPr id="94" name="Google Shape;94;p18"/>
          <p:cNvPicPr preferRelativeResize="0"/>
          <p:nvPr/>
        </p:nvPicPr>
        <p:blipFill>
          <a:blip r:embed="rId3">
            <a:alphaModFix/>
          </a:blip>
          <a:stretch>
            <a:fillRect/>
          </a:stretch>
        </p:blipFill>
        <p:spPr>
          <a:xfrm>
            <a:off x="691863" y="1171250"/>
            <a:ext cx="3617108" cy="3437400"/>
          </a:xfrm>
          <a:prstGeom prst="rect">
            <a:avLst/>
          </a:prstGeom>
          <a:noFill/>
          <a:ln>
            <a:noFill/>
          </a:ln>
        </p:spPr>
      </p:pic>
      <p:sp>
        <p:nvSpPr>
          <p:cNvPr id="95" name="Google Shape;95;p18"/>
          <p:cNvSpPr txBox="1"/>
          <p:nvPr/>
        </p:nvSpPr>
        <p:spPr>
          <a:xfrm>
            <a:off x="4571988" y="1131600"/>
            <a:ext cx="3807000" cy="332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Logic grids (with </a:t>
            </a:r>
            <a:r>
              <a:rPr lang="en" sz="1800">
                <a:solidFill>
                  <a:schemeClr val="dk1"/>
                </a:solidFill>
                <a:latin typeface="Georama"/>
                <a:ea typeface="Georama"/>
                <a:cs typeface="Georama"/>
                <a:sym typeface="Georama"/>
              </a:rPr>
              <a:t>only</a:t>
            </a:r>
            <a:r>
              <a:rPr lang="en" sz="1800">
                <a:solidFill>
                  <a:schemeClr val="dk1"/>
                </a:solidFill>
                <a:latin typeface="Georama"/>
                <a:ea typeface="Georama"/>
                <a:cs typeface="Georama"/>
                <a:sym typeface="Georama"/>
              </a:rPr>
              <a:t> simple* clues) are solvable in </a:t>
            </a:r>
            <a:r>
              <a:rPr b="1" lang="en" sz="1800">
                <a:solidFill>
                  <a:schemeClr val="dk1"/>
                </a:solidFill>
                <a:latin typeface="Georama"/>
                <a:ea typeface="Georama"/>
                <a:cs typeface="Georama"/>
                <a:sym typeface="Georama"/>
              </a:rPr>
              <a:t>polynomial time</a:t>
            </a:r>
            <a:r>
              <a:rPr lang="en" sz="1800">
                <a:solidFill>
                  <a:schemeClr val="dk1"/>
                </a:solidFill>
                <a:latin typeface="Georama"/>
                <a:ea typeface="Georama"/>
                <a:cs typeface="Georama"/>
                <a:sym typeface="Georama"/>
              </a:rPr>
              <a:t> w.r.t. # of categories and elements.</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Also, many solvers can give provably </a:t>
            </a:r>
            <a:r>
              <a:rPr lang="en" sz="1800">
                <a:solidFill>
                  <a:schemeClr val="dk1"/>
                </a:solidFill>
                <a:latin typeface="Georama"/>
                <a:ea typeface="Georama"/>
                <a:cs typeface="Georama"/>
                <a:sym typeface="Georama"/>
              </a:rPr>
              <a:t>correct</a:t>
            </a:r>
            <a:r>
              <a:rPr lang="en" sz="1800">
                <a:solidFill>
                  <a:schemeClr val="dk1"/>
                </a:solidFill>
                <a:latin typeface="Georama"/>
                <a:ea typeface="Georama"/>
                <a:cs typeface="Georama"/>
                <a:sym typeface="Georama"/>
              </a:rPr>
              <a:t> human-like reasoning:</a:t>
            </a:r>
            <a:br>
              <a:rPr lang="en" sz="1800">
                <a:solidFill>
                  <a:schemeClr val="dk1"/>
                </a:solidFill>
                <a:latin typeface="Georama"/>
                <a:ea typeface="Georama"/>
                <a:cs typeface="Georama"/>
                <a:sym typeface="Georama"/>
              </a:rPr>
            </a:br>
            <a:r>
              <a:rPr lang="en" sz="1800" u="sng">
                <a:solidFill>
                  <a:schemeClr val="dk1"/>
                </a:solidFill>
                <a:latin typeface="Georama"/>
                <a:ea typeface="Georama"/>
                <a:cs typeface="Georama"/>
                <a:sym typeface="Georama"/>
                <a:hlinkClick r:id="rId4">
                  <a:extLst>
                    <a:ext uri="{A12FA001-AC4F-418D-AE19-62706E023703}">
                      <ahyp:hlinkClr val="tx"/>
                    </a:ext>
                  </a:extLst>
                </a:hlinkClick>
              </a:rPr>
              <a:t>https://arxiv.org/pdf/1910.06636</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br>
              <a:rPr lang="en" sz="1800">
                <a:solidFill>
                  <a:schemeClr val="dk1"/>
                </a:solidFill>
                <a:latin typeface="Georama"/>
                <a:ea typeface="Georama"/>
                <a:cs typeface="Georama"/>
                <a:sym typeface="Georama"/>
              </a:rPr>
            </a:br>
            <a:r>
              <a:rPr lang="en" sz="1800">
                <a:solidFill>
                  <a:srgbClr val="999999"/>
                </a:solidFill>
                <a:latin typeface="Georama"/>
                <a:ea typeface="Georama"/>
                <a:cs typeface="Georama"/>
                <a:sym typeface="Georama"/>
              </a:rPr>
              <a:t>*only intuitionistic logic clues, and some other constraints.</a:t>
            </a:r>
            <a:endParaRPr sz="1800">
              <a:solidFill>
                <a:srgbClr val="999999"/>
              </a:solidFill>
              <a:latin typeface="Georama"/>
              <a:ea typeface="Georama"/>
              <a:cs typeface="Georama"/>
              <a:sym typeface="Georama"/>
            </a:endParaRPr>
          </a:p>
        </p:txBody>
      </p:sp>
      <p:pic>
        <p:nvPicPr>
          <p:cNvPr id="96" name="Google Shape;96;p18"/>
          <p:cNvPicPr preferRelativeResize="0"/>
          <p:nvPr/>
        </p:nvPicPr>
        <p:blipFill>
          <a:blip r:embed="rId3">
            <a:alphaModFix/>
          </a:blip>
          <a:stretch>
            <a:fillRect/>
          </a:stretch>
        </p:blipFill>
        <p:spPr>
          <a:xfrm>
            <a:off x="795063" y="1171250"/>
            <a:ext cx="3617108" cy="3437400"/>
          </a:xfrm>
          <a:prstGeom prst="rect">
            <a:avLst/>
          </a:prstGeom>
          <a:noFill/>
          <a:ln>
            <a:noFill/>
          </a:ln>
        </p:spPr>
      </p:pic>
      <p:pic>
        <p:nvPicPr>
          <p:cNvPr id="97" name="Google Shape;97;p18"/>
          <p:cNvPicPr preferRelativeResize="0"/>
          <p:nvPr/>
        </p:nvPicPr>
        <p:blipFill>
          <a:blip r:embed="rId5">
            <a:alphaModFix/>
          </a:blip>
          <a:stretch>
            <a:fillRect/>
          </a:stretch>
        </p:blipFill>
        <p:spPr>
          <a:xfrm>
            <a:off x="773314" y="1171250"/>
            <a:ext cx="3660613" cy="3437400"/>
          </a:xfrm>
          <a:prstGeom prst="rect">
            <a:avLst/>
          </a:prstGeom>
          <a:noFill/>
          <a:ln>
            <a:noFill/>
          </a:ln>
        </p:spPr>
      </p:pic>
      <p:sp>
        <p:nvSpPr>
          <p:cNvPr id="98" name="Google Shape;98;p18"/>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1</a:t>
            </a:r>
            <a:endParaRPr b="1">
              <a:latin typeface="Georama"/>
              <a:ea typeface="Georama"/>
              <a:cs typeface="Georama"/>
              <a:sym typeface="Georam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9"/>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So what?</a:t>
            </a:r>
            <a:endParaRPr>
              <a:latin typeface="Lexend Light"/>
              <a:ea typeface="Lexend Light"/>
              <a:cs typeface="Lexend Light"/>
              <a:sym typeface="Lexend Light"/>
            </a:endParaRPr>
          </a:p>
        </p:txBody>
      </p:sp>
      <p:pic>
        <p:nvPicPr>
          <p:cNvPr id="104" name="Google Shape;104;p19"/>
          <p:cNvPicPr preferRelativeResize="0"/>
          <p:nvPr/>
        </p:nvPicPr>
        <p:blipFill>
          <a:blip r:embed="rId3">
            <a:alphaModFix/>
          </a:blip>
          <a:stretch>
            <a:fillRect/>
          </a:stretch>
        </p:blipFill>
        <p:spPr>
          <a:xfrm>
            <a:off x="691863" y="1171250"/>
            <a:ext cx="3617108" cy="3437400"/>
          </a:xfrm>
          <a:prstGeom prst="rect">
            <a:avLst/>
          </a:prstGeom>
          <a:noFill/>
          <a:ln>
            <a:noFill/>
          </a:ln>
        </p:spPr>
      </p:pic>
      <p:sp>
        <p:nvSpPr>
          <p:cNvPr id="105" name="Google Shape;105;p19"/>
          <p:cNvSpPr txBox="1"/>
          <p:nvPr/>
        </p:nvSpPr>
        <p:spPr>
          <a:xfrm>
            <a:off x="4571988" y="1171250"/>
            <a:ext cx="3807000" cy="332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Answers are also </a:t>
            </a:r>
            <a:r>
              <a:rPr b="1" lang="en" sz="1800">
                <a:solidFill>
                  <a:schemeClr val="dk1"/>
                </a:solidFill>
                <a:latin typeface="Georama"/>
                <a:ea typeface="Georama"/>
                <a:cs typeface="Georama"/>
                <a:sym typeface="Georama"/>
              </a:rPr>
              <a:t>provably correct</a:t>
            </a:r>
            <a:r>
              <a:rPr lang="en" sz="1800">
                <a:solidFill>
                  <a:schemeClr val="dk1"/>
                </a:solidFill>
                <a:latin typeface="Georama"/>
                <a:ea typeface="Georama"/>
                <a:cs typeface="Georama"/>
                <a:sym typeface="Georama"/>
              </a:rPr>
              <a:t> </a:t>
            </a:r>
            <a:br>
              <a:rPr lang="en" sz="1800">
                <a:solidFill>
                  <a:schemeClr val="dk1"/>
                </a:solidFill>
                <a:latin typeface="Georama"/>
                <a:ea typeface="Georama"/>
                <a:cs typeface="Georama"/>
                <a:sym typeface="Georama"/>
              </a:rPr>
            </a:br>
            <a:r>
              <a:rPr lang="en" sz="1800">
                <a:solidFill>
                  <a:schemeClr val="dk1"/>
                </a:solidFill>
                <a:latin typeface="Georama"/>
                <a:ea typeface="Georama"/>
                <a:cs typeface="Georama"/>
                <a:sym typeface="Georama"/>
              </a:rPr>
              <a:t>(in polynomial time).</a:t>
            </a:r>
            <a:br>
              <a:rPr lang="en" sz="1800">
                <a:solidFill>
                  <a:schemeClr val="dk1"/>
                </a:solidFill>
                <a:latin typeface="Georama"/>
                <a:ea typeface="Georama"/>
                <a:cs typeface="Georama"/>
                <a:sym typeface="Georama"/>
              </a:rPr>
            </a:b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If the puzzle has a </a:t>
            </a:r>
            <a:r>
              <a:rPr lang="en" sz="1800">
                <a:solidFill>
                  <a:schemeClr val="dk1"/>
                </a:solidFill>
                <a:latin typeface="Georama"/>
                <a:ea typeface="Georama"/>
                <a:cs typeface="Georama"/>
                <a:sym typeface="Georama"/>
              </a:rPr>
              <a:t>unique solution, if your answer does not violate any of the clues or rules, it is correct.</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Even without uniqueness, your answer is still correct if it never contradicts the clues &amp; rules!</a:t>
            </a:r>
            <a:endParaRPr sz="1800">
              <a:solidFill>
                <a:schemeClr val="dk1"/>
              </a:solidFill>
              <a:latin typeface="Georama"/>
              <a:ea typeface="Georama"/>
              <a:cs typeface="Georama"/>
              <a:sym typeface="Georama"/>
            </a:endParaRPr>
          </a:p>
        </p:txBody>
      </p:sp>
      <p:pic>
        <p:nvPicPr>
          <p:cNvPr id="106" name="Google Shape;106;p19"/>
          <p:cNvPicPr preferRelativeResize="0"/>
          <p:nvPr/>
        </p:nvPicPr>
        <p:blipFill>
          <a:blip r:embed="rId3">
            <a:alphaModFix/>
          </a:blip>
          <a:stretch>
            <a:fillRect/>
          </a:stretch>
        </p:blipFill>
        <p:spPr>
          <a:xfrm>
            <a:off x="795063" y="1171250"/>
            <a:ext cx="3617108" cy="3437400"/>
          </a:xfrm>
          <a:prstGeom prst="rect">
            <a:avLst/>
          </a:prstGeom>
          <a:noFill/>
          <a:ln>
            <a:noFill/>
          </a:ln>
        </p:spPr>
      </p:pic>
      <p:pic>
        <p:nvPicPr>
          <p:cNvPr id="107" name="Google Shape;107;p19"/>
          <p:cNvPicPr preferRelativeResize="0"/>
          <p:nvPr/>
        </p:nvPicPr>
        <p:blipFill>
          <a:blip r:embed="rId4">
            <a:alphaModFix/>
          </a:blip>
          <a:stretch>
            <a:fillRect/>
          </a:stretch>
        </p:blipFill>
        <p:spPr>
          <a:xfrm>
            <a:off x="773314" y="1171250"/>
            <a:ext cx="3660613" cy="3437400"/>
          </a:xfrm>
          <a:prstGeom prst="rect">
            <a:avLst/>
          </a:prstGeom>
          <a:noFill/>
          <a:ln>
            <a:noFill/>
          </a:ln>
        </p:spPr>
      </p:pic>
      <p:sp>
        <p:nvSpPr>
          <p:cNvPr id="108" name="Google Shape;108;p19"/>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1</a:t>
            </a:r>
            <a:endParaRPr b="1">
              <a:latin typeface="Georama"/>
              <a:ea typeface="Georama"/>
              <a:cs typeface="Georama"/>
              <a:sym typeface="Georam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0"/>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How about brute force?</a:t>
            </a:r>
            <a:endParaRPr>
              <a:latin typeface="Lexend Light"/>
              <a:ea typeface="Lexend Light"/>
              <a:cs typeface="Lexend Light"/>
              <a:sym typeface="Lexend Light"/>
            </a:endParaRPr>
          </a:p>
        </p:txBody>
      </p:sp>
      <p:sp>
        <p:nvSpPr>
          <p:cNvPr id="114" name="Google Shape;114;p20"/>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1</a:t>
            </a:r>
            <a:endParaRPr b="1">
              <a:latin typeface="Georama"/>
              <a:ea typeface="Georama"/>
              <a:cs typeface="Georama"/>
              <a:sym typeface="Georama"/>
            </a:endParaRPr>
          </a:p>
        </p:txBody>
      </p:sp>
      <p:sp>
        <p:nvSpPr>
          <p:cNvPr id="115" name="Google Shape;115;p20"/>
          <p:cNvSpPr txBox="1"/>
          <p:nvPr/>
        </p:nvSpPr>
        <p:spPr>
          <a:xfrm>
            <a:off x="764988" y="1171250"/>
            <a:ext cx="7614000" cy="3258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If you have </a:t>
            </a:r>
            <a:r>
              <a:rPr i="1" lang="en" sz="1800">
                <a:solidFill>
                  <a:schemeClr val="dk1"/>
                </a:solidFill>
                <a:latin typeface="Georama"/>
                <a:ea typeface="Georama"/>
                <a:cs typeface="Georama"/>
                <a:sym typeface="Georama"/>
              </a:rPr>
              <a:t>c </a:t>
            </a:r>
            <a:r>
              <a:rPr lang="en" sz="1800">
                <a:solidFill>
                  <a:schemeClr val="dk1"/>
                </a:solidFill>
                <a:latin typeface="Georama"/>
                <a:ea typeface="Georama"/>
                <a:cs typeface="Georama"/>
                <a:sym typeface="Georama"/>
              </a:rPr>
              <a:t>categories each with </a:t>
            </a:r>
            <a:r>
              <a:rPr i="1" lang="en" sz="1800">
                <a:solidFill>
                  <a:schemeClr val="dk1"/>
                </a:solidFill>
                <a:latin typeface="Georama"/>
                <a:ea typeface="Georama"/>
                <a:cs typeface="Georama"/>
                <a:sym typeface="Georama"/>
              </a:rPr>
              <a:t>n</a:t>
            </a:r>
            <a:r>
              <a:rPr lang="en" sz="1800">
                <a:solidFill>
                  <a:schemeClr val="dk1"/>
                </a:solidFill>
                <a:latin typeface="Georama"/>
                <a:ea typeface="Georama"/>
                <a:cs typeface="Georama"/>
                <a:sym typeface="Georama"/>
              </a:rPr>
              <a:t> elements, there are</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000">
              <a:solidFill>
                <a:schemeClr val="dk1"/>
              </a:solidFill>
              <a:latin typeface="Georama"/>
              <a:ea typeface="Georama"/>
              <a:cs typeface="Georama"/>
              <a:sym typeface="Georama"/>
            </a:endParaRPr>
          </a:p>
          <a:p>
            <a:pPr indent="0" lvl="0" marL="0" rtl="0" algn="ctr">
              <a:lnSpc>
                <a:spcPct val="115000"/>
              </a:lnSpc>
              <a:spcBef>
                <a:spcPts val="0"/>
              </a:spcBef>
              <a:spcAft>
                <a:spcPts val="0"/>
              </a:spcAft>
              <a:buNone/>
            </a:pPr>
            <a:r>
              <a:rPr lang="en" sz="3000">
                <a:solidFill>
                  <a:schemeClr val="dk1"/>
                </a:solidFill>
                <a:latin typeface="Georama"/>
                <a:ea typeface="Georama"/>
                <a:cs typeface="Georama"/>
                <a:sym typeface="Georama"/>
              </a:rPr>
              <a:t>(n!)</a:t>
            </a:r>
            <a:r>
              <a:rPr baseline="30000" lang="en" sz="3000">
                <a:solidFill>
                  <a:schemeClr val="dk1"/>
                </a:solidFill>
                <a:latin typeface="Georama"/>
                <a:ea typeface="Georama"/>
                <a:cs typeface="Georama"/>
                <a:sym typeface="Georama"/>
              </a:rPr>
              <a:t>c-1</a:t>
            </a:r>
            <a:endParaRPr baseline="30000" sz="30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0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b="1" lang="en" sz="1800">
                <a:solidFill>
                  <a:schemeClr val="dk1"/>
                </a:solidFill>
                <a:latin typeface="Georama"/>
                <a:ea typeface="Georama"/>
                <a:cs typeface="Georama"/>
                <a:sym typeface="Georama"/>
              </a:rPr>
              <a:t>&gt;&gt;exponential </a:t>
            </a:r>
            <a:r>
              <a:rPr b="1" lang="en" sz="1800">
                <a:solidFill>
                  <a:schemeClr val="dk1"/>
                </a:solidFill>
                <a:latin typeface="Georama"/>
                <a:ea typeface="Georama"/>
                <a:cs typeface="Georama"/>
                <a:sym typeface="Georama"/>
              </a:rPr>
              <a:t>p</a:t>
            </a:r>
            <a:r>
              <a:rPr b="1" lang="en" sz="1800">
                <a:solidFill>
                  <a:schemeClr val="dk1"/>
                </a:solidFill>
                <a:latin typeface="Georama"/>
                <a:ea typeface="Georama"/>
                <a:cs typeface="Georama"/>
                <a:sym typeface="Georama"/>
              </a:rPr>
              <a:t>ossible bijections</a:t>
            </a:r>
            <a:r>
              <a:rPr lang="en" sz="1800">
                <a:solidFill>
                  <a:schemeClr val="dk1"/>
                </a:solidFill>
                <a:latin typeface="Georama"/>
                <a:ea typeface="Georama"/>
                <a:cs typeface="Georama"/>
                <a:sym typeface="Georama"/>
              </a:rPr>
              <a:t>, since</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Fixing one category’s </a:t>
            </a:r>
            <a:r>
              <a:rPr i="1" lang="en" sz="1800">
                <a:solidFill>
                  <a:schemeClr val="dk1"/>
                </a:solidFill>
                <a:latin typeface="Georama"/>
                <a:ea typeface="Georama"/>
                <a:cs typeface="Georama"/>
                <a:sym typeface="Georama"/>
              </a:rPr>
              <a:t>n</a:t>
            </a:r>
            <a:r>
              <a:rPr lang="en" sz="1800">
                <a:solidFill>
                  <a:schemeClr val="dk1"/>
                </a:solidFill>
                <a:latin typeface="Georama"/>
                <a:ea typeface="Georama"/>
                <a:cs typeface="Georama"/>
                <a:sym typeface="Georama"/>
              </a:rPr>
              <a:t> elements, the first element has </a:t>
            </a:r>
            <a:r>
              <a:rPr i="1" lang="en" sz="1800">
                <a:solidFill>
                  <a:schemeClr val="dk1"/>
                </a:solidFill>
                <a:latin typeface="Georama"/>
                <a:ea typeface="Georama"/>
                <a:cs typeface="Georama"/>
                <a:sym typeface="Georama"/>
              </a:rPr>
              <a:t>n</a:t>
            </a:r>
            <a:r>
              <a:rPr lang="en" sz="1800">
                <a:solidFill>
                  <a:schemeClr val="dk1"/>
                </a:solidFill>
                <a:latin typeface="Georama"/>
                <a:ea typeface="Georama"/>
                <a:cs typeface="Georama"/>
                <a:sym typeface="Georama"/>
              </a:rPr>
              <a:t> choices to map into another category, the second </a:t>
            </a:r>
            <a:r>
              <a:rPr i="1" lang="en" sz="1800">
                <a:solidFill>
                  <a:schemeClr val="dk1"/>
                </a:solidFill>
                <a:latin typeface="Georama"/>
                <a:ea typeface="Georama"/>
                <a:cs typeface="Georama"/>
                <a:sym typeface="Georama"/>
              </a:rPr>
              <a:t>n-1</a:t>
            </a:r>
            <a:r>
              <a:rPr lang="en" sz="1800">
                <a:solidFill>
                  <a:schemeClr val="dk1"/>
                </a:solidFill>
                <a:latin typeface="Georama"/>
                <a:ea typeface="Georama"/>
                <a:cs typeface="Georama"/>
                <a:sym typeface="Georama"/>
              </a:rPr>
              <a:t>, and so on, so </a:t>
            </a:r>
            <a:r>
              <a:rPr i="1" lang="en" sz="1800">
                <a:solidFill>
                  <a:schemeClr val="dk1"/>
                </a:solidFill>
                <a:latin typeface="Georama"/>
                <a:ea typeface="Georama"/>
                <a:cs typeface="Georama"/>
                <a:sym typeface="Georama"/>
              </a:rPr>
              <a:t>n!</a:t>
            </a:r>
            <a:r>
              <a:rPr lang="en" sz="1800">
                <a:solidFill>
                  <a:schemeClr val="dk1"/>
                </a:solidFill>
                <a:latin typeface="Georama"/>
                <a:ea typeface="Georama"/>
                <a:cs typeface="Georama"/>
                <a:sym typeface="Georama"/>
              </a:rPr>
              <a:t> </a:t>
            </a:r>
            <a:r>
              <a:rPr lang="en" sz="1800">
                <a:solidFill>
                  <a:schemeClr val="dk1"/>
                </a:solidFill>
                <a:latin typeface="Georama"/>
                <a:ea typeface="Georama"/>
                <a:cs typeface="Georama"/>
                <a:sym typeface="Georama"/>
              </a:rPr>
              <a:t>b</a:t>
            </a:r>
            <a:r>
              <a:rPr lang="en" sz="1800">
                <a:solidFill>
                  <a:schemeClr val="dk1"/>
                </a:solidFill>
                <a:latin typeface="Georama"/>
                <a:ea typeface="Georama"/>
                <a:cs typeface="Georama"/>
                <a:sym typeface="Georama"/>
              </a:rPr>
              <a:t>ijections between any two categories of equal size </a:t>
            </a:r>
            <a:r>
              <a:rPr i="1" lang="en" sz="1800">
                <a:solidFill>
                  <a:schemeClr val="dk1"/>
                </a:solidFill>
                <a:latin typeface="Georama"/>
                <a:ea typeface="Georama"/>
                <a:cs typeface="Georama"/>
                <a:sym typeface="Georama"/>
              </a:rPr>
              <a:t>n</a:t>
            </a:r>
            <a:r>
              <a:rPr lang="en" sz="1800">
                <a:solidFill>
                  <a:schemeClr val="dk1"/>
                </a:solidFill>
                <a:latin typeface="Georama"/>
                <a:ea typeface="Georama"/>
                <a:cs typeface="Georama"/>
                <a:sym typeface="Georama"/>
              </a:rPr>
              <a:t>.</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Chain the categories one after another, repeating the above </a:t>
            </a:r>
            <a:r>
              <a:rPr i="1" lang="en" sz="1800">
                <a:solidFill>
                  <a:schemeClr val="dk1"/>
                </a:solidFill>
                <a:latin typeface="Georama"/>
                <a:ea typeface="Georama"/>
                <a:cs typeface="Georama"/>
                <a:sym typeface="Georama"/>
              </a:rPr>
              <a:t>c</a:t>
            </a:r>
            <a:r>
              <a:rPr i="1" lang="en" sz="1800">
                <a:solidFill>
                  <a:schemeClr val="dk1"/>
                </a:solidFill>
                <a:latin typeface="Georama"/>
                <a:ea typeface="Georama"/>
                <a:cs typeface="Georama"/>
                <a:sym typeface="Georama"/>
              </a:rPr>
              <a:t>-1</a:t>
            </a:r>
            <a:r>
              <a:rPr lang="en" sz="1800">
                <a:solidFill>
                  <a:schemeClr val="dk1"/>
                </a:solidFill>
                <a:latin typeface="Georama"/>
                <a:ea typeface="Georama"/>
                <a:cs typeface="Georama"/>
                <a:sym typeface="Georama"/>
              </a:rPr>
              <a:t> times.</a:t>
            </a:r>
            <a:endParaRPr sz="1800">
              <a:solidFill>
                <a:schemeClr val="dk1"/>
              </a:solidFill>
              <a:latin typeface="Georama"/>
              <a:ea typeface="Georama"/>
              <a:cs typeface="Georama"/>
              <a:sym typeface="Georam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1"/>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Why polynomial?</a:t>
            </a:r>
            <a:endParaRPr>
              <a:latin typeface="Lexend Light"/>
              <a:ea typeface="Lexend Light"/>
              <a:cs typeface="Lexend Light"/>
              <a:sym typeface="Lexend Light"/>
            </a:endParaRPr>
          </a:p>
        </p:txBody>
      </p:sp>
      <p:sp>
        <p:nvSpPr>
          <p:cNvPr id="121" name="Google Shape;121;p21"/>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1</a:t>
            </a:r>
            <a:endParaRPr b="1">
              <a:latin typeface="Georama"/>
              <a:ea typeface="Georama"/>
              <a:cs typeface="Georama"/>
              <a:sym typeface="Georama"/>
            </a:endParaRPr>
          </a:p>
        </p:txBody>
      </p:sp>
      <p:sp>
        <p:nvSpPr>
          <p:cNvPr id="122" name="Google Shape;122;p21"/>
          <p:cNvSpPr txBox="1"/>
          <p:nvPr/>
        </p:nvSpPr>
        <p:spPr>
          <a:xfrm>
            <a:off x="764988" y="1171250"/>
            <a:ext cx="7614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There are a </a:t>
            </a:r>
            <a:r>
              <a:rPr b="1" lang="en" sz="1800">
                <a:solidFill>
                  <a:schemeClr val="dk1"/>
                </a:solidFill>
                <a:latin typeface="Georama"/>
                <a:ea typeface="Georama"/>
                <a:cs typeface="Georama"/>
                <a:sym typeface="Georama"/>
              </a:rPr>
              <a:t>finite number of techniques</a:t>
            </a:r>
            <a:r>
              <a:rPr lang="en" sz="1800">
                <a:solidFill>
                  <a:schemeClr val="dk1"/>
                </a:solidFill>
                <a:latin typeface="Georama"/>
                <a:ea typeface="Georama"/>
                <a:cs typeface="Georama"/>
                <a:sym typeface="Georama"/>
              </a:rPr>
              <a:t>* that can solve any logic grid:</a:t>
            </a:r>
            <a:endParaRPr sz="1800">
              <a:solidFill>
                <a:schemeClr val="dk1"/>
              </a:solidFill>
              <a:latin typeface="Georama"/>
              <a:ea typeface="Georama"/>
              <a:cs typeface="Georama"/>
              <a:sym typeface="Georama"/>
            </a:endParaRPr>
          </a:p>
        </p:txBody>
      </p:sp>
      <p:sp>
        <p:nvSpPr>
          <p:cNvPr id="123" name="Google Shape;123;p21"/>
          <p:cNvSpPr txBox="1"/>
          <p:nvPr/>
        </p:nvSpPr>
        <p:spPr>
          <a:xfrm>
            <a:off x="4571988" y="1745850"/>
            <a:ext cx="3807000" cy="33294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1"/>
              </a:buClr>
              <a:buSzPts val="1800"/>
              <a:buFont typeface="Georama"/>
              <a:buAutoNum type="arabicPeriod" startAt="9"/>
            </a:pPr>
            <a:r>
              <a:rPr lang="en" sz="1800">
                <a:solidFill>
                  <a:schemeClr val="dk1"/>
                </a:solidFill>
                <a:latin typeface="Georama"/>
                <a:ea typeface="Georama"/>
                <a:cs typeface="Georama"/>
                <a:sym typeface="Georama"/>
              </a:rPr>
              <a:t>Transitive Relationships (Either/Or)</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startAt="9"/>
            </a:pPr>
            <a:r>
              <a:rPr lang="en" sz="1800">
                <a:solidFill>
                  <a:schemeClr val="dk1"/>
                </a:solidFill>
                <a:latin typeface="Georama"/>
                <a:ea typeface="Georama"/>
                <a:cs typeface="Georama"/>
                <a:sym typeface="Georama"/>
              </a:rPr>
              <a:t>Transitive Relationships (Unaligned Pair)</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startAt="9"/>
            </a:pPr>
            <a:r>
              <a:rPr lang="en" sz="1800">
                <a:solidFill>
                  <a:schemeClr val="dk1"/>
                </a:solidFill>
                <a:latin typeface="Georama"/>
                <a:ea typeface="Georama"/>
                <a:cs typeface="Georama"/>
                <a:sym typeface="Georama"/>
              </a:rPr>
              <a:t>Comparative Relationships</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startAt="9"/>
            </a:pPr>
            <a:r>
              <a:rPr lang="en" sz="1800">
                <a:solidFill>
                  <a:schemeClr val="dk1"/>
                </a:solidFill>
                <a:latin typeface="Georama"/>
                <a:ea typeface="Georama"/>
                <a:cs typeface="Georama"/>
                <a:sym typeface="Georama"/>
              </a:rPr>
              <a:t>Guided trial and error</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startAt="9"/>
            </a:pPr>
            <a:r>
              <a:rPr lang="en" sz="1800">
                <a:solidFill>
                  <a:schemeClr val="dk1"/>
                </a:solidFill>
                <a:latin typeface="Georama"/>
                <a:ea typeface="Georama"/>
                <a:cs typeface="Georama"/>
                <a:sym typeface="Georama"/>
              </a:rPr>
              <a:t>Taking Notes</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br>
              <a:rPr lang="en" sz="1800">
                <a:solidFill>
                  <a:srgbClr val="999999"/>
                </a:solidFill>
                <a:latin typeface="Georama"/>
                <a:ea typeface="Georama"/>
                <a:cs typeface="Georama"/>
                <a:sym typeface="Georama"/>
              </a:rPr>
            </a:br>
            <a:r>
              <a:rPr lang="en" sz="1800">
                <a:solidFill>
                  <a:srgbClr val="999999"/>
                </a:solidFill>
                <a:latin typeface="Georama"/>
                <a:ea typeface="Georama"/>
                <a:cs typeface="Georama"/>
                <a:sym typeface="Georama"/>
              </a:rPr>
              <a:t>*and a polynomial upper bound on </a:t>
            </a:r>
            <a:endParaRPr sz="1800">
              <a:solidFill>
                <a:srgbClr val="999999"/>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rgbClr val="999999"/>
                </a:solidFill>
                <a:latin typeface="Georama"/>
                <a:ea typeface="Georama"/>
                <a:cs typeface="Georama"/>
                <a:sym typeface="Georama"/>
              </a:rPr>
              <a:t>t</a:t>
            </a:r>
            <a:r>
              <a:rPr lang="en" sz="1800">
                <a:solidFill>
                  <a:srgbClr val="999999"/>
                </a:solidFill>
                <a:latin typeface="Georama"/>
                <a:ea typeface="Georama"/>
                <a:cs typeface="Georama"/>
                <a:sym typeface="Georama"/>
              </a:rPr>
              <a:t>he number of simple clues.</a:t>
            </a:r>
            <a:endParaRPr sz="1800">
              <a:solidFill>
                <a:srgbClr val="999999"/>
              </a:solidFill>
              <a:latin typeface="Georama"/>
              <a:ea typeface="Georama"/>
              <a:cs typeface="Georama"/>
              <a:sym typeface="Georama"/>
            </a:endParaRPr>
          </a:p>
        </p:txBody>
      </p:sp>
      <p:sp>
        <p:nvSpPr>
          <p:cNvPr id="124" name="Google Shape;124;p21"/>
          <p:cNvSpPr txBox="1"/>
          <p:nvPr/>
        </p:nvSpPr>
        <p:spPr>
          <a:xfrm>
            <a:off x="764988" y="1745850"/>
            <a:ext cx="3807000" cy="26922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True and False Clues</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Multi-Elimination Clues</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Neither/Nor Clues</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Either/Or Clues</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Greater/Lesser Than Clues</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Unaligned Pair Clues</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Transpositions</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Parallel Cross Eliminations</a:t>
            </a:r>
            <a:endParaRPr sz="1800">
              <a:solidFill>
                <a:schemeClr val="dk1"/>
              </a:solidFill>
              <a:latin typeface="Georama"/>
              <a:ea typeface="Georama"/>
              <a:cs typeface="Georama"/>
              <a:sym typeface="Georam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2"/>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Useless logic grids?</a:t>
            </a:r>
            <a:endParaRPr>
              <a:latin typeface="Lexend Light"/>
              <a:ea typeface="Lexend Light"/>
              <a:cs typeface="Lexend Light"/>
              <a:sym typeface="Lexend Light"/>
            </a:endParaRPr>
          </a:p>
        </p:txBody>
      </p:sp>
      <p:sp>
        <p:nvSpPr>
          <p:cNvPr id="130" name="Google Shape;130;p22"/>
          <p:cNvSpPr txBox="1"/>
          <p:nvPr/>
        </p:nvSpPr>
        <p:spPr>
          <a:xfrm>
            <a:off x="764988" y="1384550"/>
            <a:ext cx="3807000" cy="2692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So we have:</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Polynomial-time solvers.</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Explainable solvers.</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Provably correct </a:t>
            </a:r>
            <a:r>
              <a:rPr lang="en" sz="1800">
                <a:solidFill>
                  <a:schemeClr val="dk1"/>
                </a:solidFill>
                <a:latin typeface="Georama"/>
                <a:ea typeface="Georama"/>
                <a:cs typeface="Georama"/>
                <a:sym typeface="Georama"/>
              </a:rPr>
              <a:t>answers</a:t>
            </a:r>
            <a:r>
              <a:rPr lang="en" sz="1800">
                <a:solidFill>
                  <a:schemeClr val="dk1"/>
                </a:solidFill>
                <a:latin typeface="Georama"/>
                <a:ea typeface="Georama"/>
                <a:cs typeface="Georama"/>
                <a:sym typeface="Georama"/>
              </a:rPr>
              <a:t>.</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These are all </a:t>
            </a:r>
            <a:r>
              <a:rPr i="1" lang="en" sz="1800">
                <a:solidFill>
                  <a:schemeClr val="dk1"/>
                </a:solidFill>
                <a:latin typeface="Georama"/>
                <a:ea typeface="Georama"/>
                <a:cs typeface="Georama"/>
                <a:sym typeface="Georama"/>
              </a:rPr>
              <a:t>very nice</a:t>
            </a:r>
            <a:r>
              <a:rPr lang="en" sz="1800">
                <a:solidFill>
                  <a:schemeClr val="dk1"/>
                </a:solidFill>
                <a:latin typeface="Georama"/>
                <a:ea typeface="Georama"/>
                <a:cs typeface="Georama"/>
                <a:sym typeface="Georama"/>
              </a:rPr>
              <a:t> properties</a:t>
            </a:r>
            <a:br>
              <a:rPr lang="en" sz="1800">
                <a:solidFill>
                  <a:schemeClr val="dk1"/>
                </a:solidFill>
                <a:latin typeface="Georama"/>
                <a:ea typeface="Georama"/>
                <a:cs typeface="Georama"/>
                <a:sym typeface="Georama"/>
              </a:rPr>
            </a:br>
            <a:r>
              <a:rPr lang="en" sz="1800">
                <a:solidFill>
                  <a:schemeClr val="dk1"/>
                </a:solidFill>
                <a:latin typeface="Georama"/>
                <a:ea typeface="Georama"/>
                <a:cs typeface="Georama"/>
                <a:sym typeface="Georama"/>
              </a:rPr>
              <a:t>f</a:t>
            </a:r>
            <a:r>
              <a:rPr lang="en" sz="1800">
                <a:solidFill>
                  <a:schemeClr val="dk1"/>
                </a:solidFill>
                <a:latin typeface="Georama"/>
                <a:ea typeface="Georama"/>
                <a:cs typeface="Georama"/>
                <a:sym typeface="Georama"/>
              </a:rPr>
              <a:t>or a problem class to have.</a:t>
            </a:r>
            <a:endParaRPr i="1" sz="1800">
              <a:solidFill>
                <a:schemeClr val="dk1"/>
              </a:solidFill>
              <a:latin typeface="Georama"/>
              <a:ea typeface="Georama"/>
              <a:cs typeface="Georama"/>
              <a:sym typeface="Georama"/>
            </a:endParaRPr>
          </a:p>
        </p:txBody>
      </p:sp>
      <p:sp>
        <p:nvSpPr>
          <p:cNvPr id="131" name="Google Shape;131;p22"/>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1</a:t>
            </a:r>
            <a:endParaRPr b="1">
              <a:latin typeface="Georama"/>
              <a:ea typeface="Georama"/>
              <a:cs typeface="Georama"/>
              <a:sym typeface="Georam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3"/>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Useless logic grids?</a:t>
            </a:r>
            <a:endParaRPr>
              <a:latin typeface="Lexend Light"/>
              <a:ea typeface="Lexend Light"/>
              <a:cs typeface="Lexend Light"/>
              <a:sym typeface="Lexend Light"/>
            </a:endParaRPr>
          </a:p>
        </p:txBody>
      </p:sp>
      <p:sp>
        <p:nvSpPr>
          <p:cNvPr id="137" name="Google Shape;137;p23"/>
          <p:cNvSpPr txBox="1"/>
          <p:nvPr/>
        </p:nvSpPr>
        <p:spPr>
          <a:xfrm>
            <a:off x="4571988" y="1384550"/>
            <a:ext cx="3807000" cy="332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But it’s</a:t>
            </a:r>
            <a:r>
              <a:rPr b="1" lang="en" sz="1800">
                <a:solidFill>
                  <a:schemeClr val="dk1"/>
                </a:solidFill>
                <a:latin typeface="Georama"/>
                <a:ea typeface="Georama"/>
                <a:cs typeface="Georama"/>
                <a:sym typeface="Georama"/>
              </a:rPr>
              <a:t> useless</a:t>
            </a:r>
            <a:r>
              <a:rPr lang="en" sz="1800">
                <a:solidFill>
                  <a:schemeClr val="dk1"/>
                </a:solidFill>
                <a:latin typeface="Georama"/>
                <a:ea typeface="Georama"/>
                <a:cs typeface="Georama"/>
                <a:sym typeface="Georama"/>
              </a:rPr>
              <a:t>; You need:</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All categories </a:t>
            </a:r>
            <a:r>
              <a:rPr i="1" lang="en" sz="1800">
                <a:solidFill>
                  <a:schemeClr val="dk1"/>
                </a:solidFill>
                <a:latin typeface="Georama"/>
                <a:ea typeface="Georama"/>
                <a:cs typeface="Georama"/>
                <a:sym typeface="Georama"/>
              </a:rPr>
              <a:t>known</a:t>
            </a:r>
            <a:r>
              <a:rPr lang="en" sz="1800">
                <a:solidFill>
                  <a:schemeClr val="dk1"/>
                </a:solidFill>
                <a:latin typeface="Georama"/>
                <a:ea typeface="Georama"/>
                <a:cs typeface="Georama"/>
                <a:sym typeface="Georama"/>
              </a:rPr>
              <a:t> &amp; </a:t>
            </a:r>
            <a:r>
              <a:rPr i="1" lang="en" sz="1800">
                <a:solidFill>
                  <a:schemeClr val="dk1"/>
                </a:solidFill>
                <a:latin typeface="Georama"/>
                <a:ea typeface="Georama"/>
                <a:cs typeface="Georama"/>
                <a:sym typeface="Georama"/>
              </a:rPr>
              <a:t>unique</a:t>
            </a:r>
            <a:r>
              <a:rPr lang="en" sz="1800">
                <a:solidFill>
                  <a:schemeClr val="dk1"/>
                </a:solidFill>
                <a:latin typeface="Georama"/>
                <a:ea typeface="Georama"/>
                <a:cs typeface="Georama"/>
                <a:sym typeface="Georama"/>
              </a:rPr>
              <a:t>.</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All elements </a:t>
            </a:r>
            <a:r>
              <a:rPr i="1" lang="en" sz="1800">
                <a:solidFill>
                  <a:schemeClr val="dk1"/>
                </a:solidFill>
                <a:latin typeface="Georama"/>
                <a:ea typeface="Georama"/>
                <a:cs typeface="Georama"/>
                <a:sym typeface="Georama"/>
              </a:rPr>
              <a:t>known </a:t>
            </a:r>
            <a:r>
              <a:rPr lang="en" sz="1800">
                <a:solidFill>
                  <a:schemeClr val="dk1"/>
                </a:solidFill>
                <a:latin typeface="Georama"/>
                <a:ea typeface="Georama"/>
                <a:cs typeface="Georama"/>
                <a:sym typeface="Georama"/>
              </a:rPr>
              <a:t>&amp; </a:t>
            </a:r>
            <a:r>
              <a:rPr i="1" lang="en" sz="1800">
                <a:solidFill>
                  <a:schemeClr val="dk1"/>
                </a:solidFill>
                <a:latin typeface="Georama"/>
                <a:ea typeface="Georama"/>
                <a:cs typeface="Georama"/>
                <a:sym typeface="Georama"/>
              </a:rPr>
              <a:t>unique</a:t>
            </a:r>
            <a:r>
              <a:rPr lang="en" sz="1800">
                <a:solidFill>
                  <a:schemeClr val="dk1"/>
                </a:solidFill>
                <a:latin typeface="Georama"/>
                <a:ea typeface="Georama"/>
                <a:cs typeface="Georama"/>
                <a:sym typeface="Georama"/>
              </a:rPr>
              <a:t>.</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All clues </a:t>
            </a:r>
            <a:r>
              <a:rPr i="1" lang="en" sz="1800">
                <a:solidFill>
                  <a:schemeClr val="dk1"/>
                </a:solidFill>
                <a:latin typeface="Georama"/>
                <a:ea typeface="Georama"/>
                <a:cs typeface="Georama"/>
                <a:sym typeface="Georama"/>
              </a:rPr>
              <a:t>correct</a:t>
            </a:r>
            <a:r>
              <a:rPr lang="en" sz="1800">
                <a:solidFill>
                  <a:schemeClr val="dk1"/>
                </a:solidFill>
                <a:latin typeface="Georama"/>
                <a:ea typeface="Georama"/>
                <a:cs typeface="Georama"/>
                <a:sym typeface="Georama"/>
              </a:rPr>
              <a:t>.</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i="1" lang="en" sz="1800">
                <a:solidFill>
                  <a:schemeClr val="dk1"/>
                </a:solidFill>
                <a:latin typeface="Georama"/>
                <a:ea typeface="Georama"/>
                <a:cs typeface="Georama"/>
                <a:sym typeface="Georama"/>
              </a:rPr>
              <a:t>Non-contradicting</a:t>
            </a:r>
            <a:r>
              <a:rPr lang="en" sz="1800">
                <a:solidFill>
                  <a:schemeClr val="dk1"/>
                </a:solidFill>
                <a:latin typeface="Georama"/>
                <a:ea typeface="Georama"/>
                <a:cs typeface="Georama"/>
                <a:sym typeface="Georama"/>
              </a:rPr>
              <a:t> clues.</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Clues result in a </a:t>
            </a:r>
            <a:r>
              <a:rPr i="1" lang="en" sz="1800">
                <a:solidFill>
                  <a:schemeClr val="dk1"/>
                </a:solidFill>
                <a:latin typeface="Georama"/>
                <a:ea typeface="Georama"/>
                <a:cs typeface="Georama"/>
                <a:sym typeface="Georama"/>
              </a:rPr>
              <a:t>solution</a:t>
            </a:r>
            <a:r>
              <a:rPr lang="en" sz="1800">
                <a:solidFill>
                  <a:schemeClr val="dk1"/>
                </a:solidFill>
                <a:latin typeface="Georama"/>
                <a:ea typeface="Georama"/>
                <a:cs typeface="Georama"/>
                <a:sym typeface="Georama"/>
              </a:rPr>
              <a:t>.</a:t>
            </a:r>
            <a:br>
              <a:rPr lang="en" sz="1800">
                <a:solidFill>
                  <a:schemeClr val="dk1"/>
                </a:solidFill>
                <a:latin typeface="Georama"/>
                <a:ea typeface="Georama"/>
                <a:cs typeface="Georama"/>
                <a:sym typeface="Georama"/>
              </a:rPr>
            </a:br>
            <a:r>
              <a:rPr lang="en" sz="1800">
                <a:solidFill>
                  <a:schemeClr val="dk1"/>
                </a:solidFill>
                <a:latin typeface="Georama"/>
                <a:ea typeface="Georama"/>
                <a:cs typeface="Georama"/>
                <a:sym typeface="Georama"/>
              </a:rPr>
              <a:t>(Ideally unique solution too.)</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You </a:t>
            </a:r>
            <a:r>
              <a:rPr i="1" lang="en" sz="1800">
                <a:solidFill>
                  <a:schemeClr val="dk1"/>
                </a:solidFill>
                <a:latin typeface="Georama"/>
                <a:ea typeface="Georama"/>
                <a:cs typeface="Georama"/>
                <a:sym typeface="Georama"/>
              </a:rPr>
              <a:t>kind of</a:t>
            </a:r>
            <a:r>
              <a:rPr lang="en" sz="1800">
                <a:solidFill>
                  <a:schemeClr val="dk1"/>
                </a:solidFill>
                <a:latin typeface="Georama"/>
                <a:ea typeface="Georama"/>
                <a:cs typeface="Georama"/>
                <a:sym typeface="Georama"/>
              </a:rPr>
              <a:t> already have the answer!</a:t>
            </a:r>
            <a:endParaRPr sz="1800">
              <a:solidFill>
                <a:schemeClr val="dk1"/>
              </a:solidFill>
              <a:latin typeface="Georama"/>
              <a:ea typeface="Georama"/>
              <a:cs typeface="Georama"/>
              <a:sym typeface="Georama"/>
            </a:endParaRPr>
          </a:p>
        </p:txBody>
      </p:sp>
      <p:sp>
        <p:nvSpPr>
          <p:cNvPr id="138" name="Google Shape;138;p23"/>
          <p:cNvSpPr txBox="1"/>
          <p:nvPr/>
        </p:nvSpPr>
        <p:spPr>
          <a:xfrm>
            <a:off x="764988" y="1384550"/>
            <a:ext cx="3807000" cy="2692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So we have:</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Polynomial-time solvers.</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Explainable solvers.</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Provably correct answers.</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These are all </a:t>
            </a:r>
            <a:r>
              <a:rPr i="1" lang="en" sz="1800">
                <a:solidFill>
                  <a:schemeClr val="dk1"/>
                </a:solidFill>
                <a:latin typeface="Georama"/>
                <a:ea typeface="Georama"/>
                <a:cs typeface="Georama"/>
                <a:sym typeface="Georama"/>
              </a:rPr>
              <a:t>very nice</a:t>
            </a:r>
            <a:r>
              <a:rPr lang="en" sz="1800">
                <a:solidFill>
                  <a:schemeClr val="dk1"/>
                </a:solidFill>
                <a:latin typeface="Georama"/>
                <a:ea typeface="Georama"/>
                <a:cs typeface="Georama"/>
                <a:sym typeface="Georama"/>
              </a:rPr>
              <a:t> properties</a:t>
            </a:r>
            <a:br>
              <a:rPr lang="en" sz="1800">
                <a:solidFill>
                  <a:schemeClr val="dk1"/>
                </a:solidFill>
                <a:latin typeface="Georama"/>
                <a:ea typeface="Georama"/>
                <a:cs typeface="Georama"/>
                <a:sym typeface="Georama"/>
              </a:rPr>
            </a:br>
            <a:r>
              <a:rPr lang="en" sz="1800">
                <a:solidFill>
                  <a:schemeClr val="dk1"/>
                </a:solidFill>
                <a:latin typeface="Georama"/>
                <a:ea typeface="Georama"/>
                <a:cs typeface="Georama"/>
                <a:sym typeface="Georama"/>
              </a:rPr>
              <a:t>for a problem class to have.</a:t>
            </a:r>
            <a:endParaRPr i="1" sz="1800">
              <a:solidFill>
                <a:schemeClr val="dk1"/>
              </a:solidFill>
              <a:latin typeface="Georama"/>
              <a:ea typeface="Georama"/>
              <a:cs typeface="Georama"/>
              <a:sym typeface="Georama"/>
            </a:endParaRPr>
          </a:p>
        </p:txBody>
      </p:sp>
      <p:sp>
        <p:nvSpPr>
          <p:cNvPr id="139" name="Google Shape;139;p23"/>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1</a:t>
            </a:r>
            <a:endParaRPr b="1">
              <a:latin typeface="Georama"/>
              <a:ea typeface="Georama"/>
              <a:cs typeface="Georama"/>
              <a:sym typeface="Georam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4"/>
          <p:cNvSpPr txBox="1"/>
          <p:nvPr>
            <p:ph type="ctrTitle"/>
          </p:nvPr>
        </p:nvSpPr>
        <p:spPr>
          <a:xfrm>
            <a:off x="311700" y="1781698"/>
            <a:ext cx="8520600" cy="1580100"/>
          </a:xfrm>
          <a:prstGeom prst="rect">
            <a:avLst/>
          </a:prstGeom>
        </p:spPr>
        <p:txBody>
          <a:bodyPr anchorCtr="0" anchor="ctr" bIns="91425" lIns="91425" spcFirstLastPara="1" rIns="91425" wrap="square" tIns="91425">
            <a:normAutofit/>
          </a:bodyPr>
          <a:lstStyle/>
          <a:p>
            <a:pPr indent="-558800" lvl="0" marL="457200" rtl="0" algn="ctr">
              <a:spcBef>
                <a:spcPts val="0"/>
              </a:spcBef>
              <a:spcAft>
                <a:spcPts val="0"/>
              </a:spcAft>
              <a:buSzPts val="5200"/>
              <a:buFont typeface="Lexend"/>
              <a:buAutoNum type="arabicPeriod" startAt="2"/>
            </a:pPr>
            <a:r>
              <a:rPr lang="en">
                <a:latin typeface="Lexend"/>
                <a:ea typeface="Lexend"/>
                <a:cs typeface="Lexend"/>
                <a:sym typeface="Lexend"/>
              </a:rPr>
              <a:t>Useful LGs?</a:t>
            </a:r>
            <a:endParaRPr>
              <a:latin typeface="Lexend"/>
              <a:ea typeface="Lexend"/>
              <a:cs typeface="Lexend"/>
              <a:sym typeface="Lexend"/>
            </a:endParaRPr>
          </a:p>
        </p:txBody>
      </p:sp>
      <p:sp>
        <p:nvSpPr>
          <p:cNvPr id="145" name="Google Shape;145;p24"/>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2</a:t>
            </a:r>
            <a:endParaRPr b="1">
              <a:latin typeface="Georama"/>
              <a:ea typeface="Georama"/>
              <a:cs typeface="Georama"/>
              <a:sym typeface="Georam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5"/>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Key deductions</a:t>
            </a:r>
            <a:endParaRPr>
              <a:latin typeface="Lexend Light"/>
              <a:ea typeface="Lexend Light"/>
              <a:cs typeface="Lexend Light"/>
              <a:sym typeface="Lexend Light"/>
            </a:endParaRPr>
          </a:p>
        </p:txBody>
      </p:sp>
      <p:sp>
        <p:nvSpPr>
          <p:cNvPr id="151" name="Google Shape;151;p25"/>
          <p:cNvSpPr txBox="1"/>
          <p:nvPr/>
        </p:nvSpPr>
        <p:spPr>
          <a:xfrm>
            <a:off x="4571988" y="1171250"/>
            <a:ext cx="3807000" cy="301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Logic grids have a lot of constraints,</a:t>
            </a:r>
            <a:br>
              <a:rPr lang="en" sz="1800">
                <a:solidFill>
                  <a:schemeClr val="dk1"/>
                </a:solidFill>
                <a:latin typeface="Georama"/>
                <a:ea typeface="Georama"/>
                <a:cs typeface="Georama"/>
                <a:sym typeface="Georama"/>
              </a:rPr>
            </a:br>
            <a:r>
              <a:rPr lang="en" sz="1800">
                <a:solidFill>
                  <a:schemeClr val="dk1"/>
                </a:solidFill>
                <a:latin typeface="Georama"/>
                <a:ea typeface="Georama"/>
                <a:cs typeface="Georama"/>
                <a:sym typeface="Georama"/>
              </a:rPr>
              <a:t>b</a:t>
            </a:r>
            <a:r>
              <a:rPr lang="en" sz="1800">
                <a:solidFill>
                  <a:schemeClr val="dk1"/>
                </a:solidFill>
                <a:latin typeface="Georama"/>
                <a:ea typeface="Georama"/>
                <a:cs typeface="Georama"/>
                <a:sym typeface="Georama"/>
              </a:rPr>
              <a:t>ut they’re useful when the puzzle satisfies those constraints.</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Even when the puzzle does </a:t>
            </a:r>
            <a:r>
              <a:rPr i="1" lang="en" sz="1800">
                <a:solidFill>
                  <a:schemeClr val="dk1"/>
                </a:solidFill>
                <a:latin typeface="Georama"/>
                <a:ea typeface="Georama"/>
                <a:cs typeface="Georama"/>
                <a:sym typeface="Georama"/>
              </a:rPr>
              <a:t>not </a:t>
            </a:r>
            <a:r>
              <a:rPr lang="en" sz="1800">
                <a:solidFill>
                  <a:schemeClr val="dk1"/>
                </a:solidFill>
                <a:latin typeface="Georama"/>
                <a:ea typeface="Georama"/>
                <a:cs typeface="Georama"/>
                <a:sym typeface="Georama"/>
              </a:rPr>
              <a:t>look like it can be solved as a logic grid.</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Question: What’s the “hardest” part of this puzzle?</a:t>
            </a:r>
            <a:endParaRPr sz="1800">
              <a:solidFill>
                <a:schemeClr val="dk1"/>
              </a:solidFill>
              <a:latin typeface="Georama"/>
              <a:ea typeface="Georama"/>
              <a:cs typeface="Georama"/>
              <a:sym typeface="Georama"/>
            </a:endParaRPr>
          </a:p>
        </p:txBody>
      </p:sp>
      <p:sp>
        <p:nvSpPr>
          <p:cNvPr id="152" name="Google Shape;152;p25"/>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2</a:t>
            </a:r>
            <a:endParaRPr b="1">
              <a:latin typeface="Georama"/>
              <a:ea typeface="Georama"/>
              <a:cs typeface="Georama"/>
              <a:sym typeface="Georama"/>
            </a:endParaRPr>
          </a:p>
        </p:txBody>
      </p:sp>
      <p:pic>
        <p:nvPicPr>
          <p:cNvPr id="153" name="Google Shape;153;p25"/>
          <p:cNvPicPr preferRelativeResize="0"/>
          <p:nvPr/>
        </p:nvPicPr>
        <p:blipFill>
          <a:blip r:embed="rId3">
            <a:alphaModFix/>
          </a:blip>
          <a:stretch>
            <a:fillRect/>
          </a:stretch>
        </p:blipFill>
        <p:spPr>
          <a:xfrm>
            <a:off x="1742705" y="1171250"/>
            <a:ext cx="2669470" cy="34374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6"/>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Key takeaways</a:t>
            </a:r>
            <a:endParaRPr>
              <a:latin typeface="Lexend Light"/>
              <a:ea typeface="Lexend Light"/>
              <a:cs typeface="Lexend Light"/>
              <a:sym typeface="Lexend Light"/>
            </a:endParaRPr>
          </a:p>
        </p:txBody>
      </p:sp>
      <p:sp>
        <p:nvSpPr>
          <p:cNvPr id="159" name="Google Shape;159;p26"/>
          <p:cNvSpPr txBox="1"/>
          <p:nvPr/>
        </p:nvSpPr>
        <p:spPr>
          <a:xfrm>
            <a:off x="4571988" y="1171250"/>
            <a:ext cx="3807000" cy="332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When you have a problem encoded as a logic grid, you might as well say it’s </a:t>
            </a:r>
            <a:r>
              <a:rPr b="1" lang="en" sz="1800">
                <a:solidFill>
                  <a:schemeClr val="dk1"/>
                </a:solidFill>
                <a:latin typeface="Georama"/>
                <a:ea typeface="Georama"/>
                <a:cs typeface="Georama"/>
                <a:sym typeface="Georama"/>
              </a:rPr>
              <a:t>trivially solvable</a:t>
            </a:r>
            <a:r>
              <a:rPr lang="en" sz="1800">
                <a:solidFill>
                  <a:schemeClr val="dk1"/>
                </a:solidFill>
                <a:latin typeface="Georama"/>
                <a:ea typeface="Georama"/>
                <a:cs typeface="Georama"/>
                <a:sym typeface="Georama"/>
              </a:rPr>
              <a:t>.</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A lot of the “difficulty” in applying logic grids comes from identifying or </a:t>
            </a:r>
            <a:r>
              <a:rPr b="1" lang="en" sz="1800">
                <a:solidFill>
                  <a:schemeClr val="dk1"/>
                </a:solidFill>
                <a:latin typeface="Georama"/>
                <a:ea typeface="Georama"/>
                <a:cs typeface="Georama"/>
                <a:sym typeface="Georama"/>
              </a:rPr>
              <a:t>constructing the grid</a:t>
            </a:r>
            <a:r>
              <a:rPr lang="en" sz="1800">
                <a:solidFill>
                  <a:schemeClr val="dk1"/>
                </a:solidFill>
                <a:latin typeface="Georama"/>
                <a:ea typeface="Georama"/>
                <a:cs typeface="Georama"/>
                <a:sym typeface="Georama"/>
              </a:rPr>
              <a:t> itself.</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Puzzle from </a:t>
            </a:r>
            <a:r>
              <a:rPr i="1" lang="en" sz="1800">
                <a:solidFill>
                  <a:schemeClr val="dk1"/>
                </a:solidFill>
                <a:latin typeface="Georama"/>
                <a:ea typeface="Georama"/>
                <a:cs typeface="Georama"/>
                <a:sym typeface="Georama"/>
              </a:rPr>
              <a:t>Return to Montague Island</a:t>
            </a:r>
            <a:r>
              <a:rPr lang="en" sz="1800">
                <a:solidFill>
                  <a:schemeClr val="dk1"/>
                </a:solidFill>
                <a:latin typeface="Georama"/>
                <a:ea typeface="Georama"/>
                <a:cs typeface="Georama"/>
                <a:sym typeface="Georama"/>
              </a:rPr>
              <a:t>, puzzle 1.1.</a:t>
            </a:r>
            <a:endParaRPr sz="1800">
              <a:solidFill>
                <a:schemeClr val="dk1"/>
              </a:solidFill>
              <a:latin typeface="Georama"/>
              <a:ea typeface="Georama"/>
              <a:cs typeface="Georama"/>
              <a:sym typeface="Georama"/>
            </a:endParaRPr>
          </a:p>
        </p:txBody>
      </p:sp>
      <p:sp>
        <p:nvSpPr>
          <p:cNvPr id="160" name="Google Shape;160;p26"/>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2</a:t>
            </a:r>
            <a:endParaRPr b="1">
              <a:latin typeface="Georama"/>
              <a:ea typeface="Georama"/>
              <a:cs typeface="Georama"/>
              <a:sym typeface="Georama"/>
            </a:endParaRPr>
          </a:p>
        </p:txBody>
      </p:sp>
      <p:pic>
        <p:nvPicPr>
          <p:cNvPr id="161" name="Google Shape;161;p26"/>
          <p:cNvPicPr preferRelativeResize="0"/>
          <p:nvPr/>
        </p:nvPicPr>
        <p:blipFill>
          <a:blip r:embed="rId3">
            <a:alphaModFix/>
          </a:blip>
          <a:stretch>
            <a:fillRect/>
          </a:stretch>
        </p:blipFill>
        <p:spPr>
          <a:xfrm>
            <a:off x="1742705" y="1171250"/>
            <a:ext cx="2669470" cy="34374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5" name="Shape 165"/>
        <p:cNvGrpSpPr/>
        <p:nvPr/>
      </p:nvGrpSpPr>
      <p:grpSpPr>
        <a:xfrm>
          <a:off x="0" y="0"/>
          <a:ext cx="0" cy="0"/>
          <a:chOff x="0" y="0"/>
          <a:chExt cx="0" cy="0"/>
        </a:xfrm>
      </p:grpSpPr>
      <p:sp>
        <p:nvSpPr>
          <p:cNvPr id="166" name="Google Shape;166;p27"/>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Key solutions</a:t>
            </a:r>
            <a:endParaRPr>
              <a:latin typeface="Lexend Light"/>
              <a:ea typeface="Lexend Light"/>
              <a:cs typeface="Lexend Light"/>
              <a:sym typeface="Lexend Light"/>
            </a:endParaRPr>
          </a:p>
        </p:txBody>
      </p:sp>
      <p:sp>
        <p:nvSpPr>
          <p:cNvPr id="167" name="Google Shape;167;p27"/>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2</a:t>
            </a:r>
            <a:endParaRPr b="1">
              <a:latin typeface="Georama"/>
              <a:ea typeface="Georama"/>
              <a:cs typeface="Georama"/>
              <a:sym typeface="Georama"/>
            </a:endParaRPr>
          </a:p>
        </p:txBody>
      </p:sp>
      <p:sp>
        <p:nvSpPr>
          <p:cNvPr id="168" name="Google Shape;168;p27"/>
          <p:cNvSpPr txBox="1"/>
          <p:nvPr/>
        </p:nvSpPr>
        <p:spPr>
          <a:xfrm>
            <a:off x="921750" y="1384950"/>
            <a:ext cx="7300500" cy="2692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“Box 4 must contain the key to box 12 since that key is found nowhere else. Since box 4 contains the key to box 12, box 12 cannot contain the key to box 4, since there would then be no way to open either box. Therefore, box 12 contains the key to box 8, which means that box 3 contains the key to box 7 and box 11 contains the key to box 9, which contains the key to box 10.”</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Solution from Return to Montague Island, puzzle 1.1.</a:t>
            </a:r>
            <a:endParaRPr sz="1800">
              <a:solidFill>
                <a:schemeClr val="dk1"/>
              </a:solidFill>
              <a:latin typeface="Georama"/>
              <a:ea typeface="Georama"/>
              <a:cs typeface="Georama"/>
              <a:sym typeface="Georam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2" name="Shape 172"/>
        <p:cNvGrpSpPr/>
        <p:nvPr/>
      </p:nvGrpSpPr>
      <p:grpSpPr>
        <a:xfrm>
          <a:off x="0" y="0"/>
          <a:ext cx="0" cy="0"/>
          <a:chOff x="0" y="0"/>
          <a:chExt cx="0" cy="0"/>
        </a:xfrm>
      </p:grpSpPr>
      <p:sp>
        <p:nvSpPr>
          <p:cNvPr id="173" name="Google Shape;173;p28"/>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Key solutions</a:t>
            </a:r>
            <a:endParaRPr>
              <a:latin typeface="Lexend Light"/>
              <a:ea typeface="Lexend Light"/>
              <a:cs typeface="Lexend Light"/>
              <a:sym typeface="Lexend Light"/>
            </a:endParaRPr>
          </a:p>
        </p:txBody>
      </p:sp>
      <p:sp>
        <p:nvSpPr>
          <p:cNvPr id="174" name="Google Shape;174;p28"/>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2</a:t>
            </a:r>
            <a:endParaRPr b="1">
              <a:latin typeface="Georama"/>
              <a:ea typeface="Georama"/>
              <a:cs typeface="Georama"/>
              <a:sym typeface="Georama"/>
            </a:endParaRPr>
          </a:p>
        </p:txBody>
      </p:sp>
      <p:sp>
        <p:nvSpPr>
          <p:cNvPr id="175" name="Google Shape;175;p28"/>
          <p:cNvSpPr txBox="1"/>
          <p:nvPr/>
        </p:nvSpPr>
        <p:spPr>
          <a:xfrm>
            <a:off x="921750" y="1384950"/>
            <a:ext cx="7300500" cy="2692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a:t>
            </a:r>
            <a:r>
              <a:rPr lang="en" sz="1800">
                <a:solidFill>
                  <a:schemeClr val="dk1"/>
                </a:solidFill>
                <a:latin typeface="Georama"/>
                <a:ea typeface="Georama"/>
                <a:cs typeface="Georama"/>
                <a:sym typeface="Georama"/>
              </a:rPr>
              <a:t>If box 10 contained the key to box 11, the keys to boxes 9, 10, and 11 would all be within those same three boxes, and no other box would have a key to any of them. Therefore, box 10 contains the key to box 6 and box 2 contains the key to box 5. Since box 12 does not contain the key to box 4, box 1 does. The key to box 11 must be in box 5, and boxes 6, 7, and 8 have no keys.”</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Solution from Return to Montague Island, puzzle 1.1.</a:t>
            </a:r>
            <a:endParaRPr sz="1800">
              <a:solidFill>
                <a:schemeClr val="dk1"/>
              </a:solidFill>
              <a:latin typeface="Georama"/>
              <a:ea typeface="Georama"/>
              <a:cs typeface="Georama"/>
              <a:sym typeface="Georam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9" name="Shape 179"/>
        <p:cNvGrpSpPr/>
        <p:nvPr/>
      </p:nvGrpSpPr>
      <p:grpSpPr>
        <a:xfrm>
          <a:off x="0" y="0"/>
          <a:ext cx="0" cy="0"/>
          <a:chOff x="0" y="0"/>
          <a:chExt cx="0" cy="0"/>
        </a:xfrm>
      </p:grpSpPr>
      <p:sp>
        <p:nvSpPr>
          <p:cNvPr id="180" name="Google Shape;180;p29"/>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Key solutions</a:t>
            </a:r>
            <a:endParaRPr>
              <a:latin typeface="Lexend Light"/>
              <a:ea typeface="Lexend Light"/>
              <a:cs typeface="Lexend Light"/>
              <a:sym typeface="Lexend Light"/>
            </a:endParaRPr>
          </a:p>
        </p:txBody>
      </p:sp>
      <p:sp>
        <p:nvSpPr>
          <p:cNvPr id="181" name="Google Shape;181;p29"/>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2</a:t>
            </a:r>
            <a:endParaRPr b="1">
              <a:latin typeface="Georama"/>
              <a:ea typeface="Georama"/>
              <a:cs typeface="Georama"/>
              <a:sym typeface="Georama"/>
            </a:endParaRPr>
          </a:p>
        </p:txBody>
      </p:sp>
      <p:sp>
        <p:nvSpPr>
          <p:cNvPr id="182" name="Google Shape;182;p29"/>
          <p:cNvSpPr txBox="1"/>
          <p:nvPr/>
        </p:nvSpPr>
        <p:spPr>
          <a:xfrm>
            <a:off x="921750" y="1384950"/>
            <a:ext cx="7300500" cy="2055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a:t>
            </a:r>
            <a:r>
              <a:rPr lang="en" sz="1800">
                <a:solidFill>
                  <a:schemeClr val="dk1"/>
                </a:solidFill>
                <a:latin typeface="Georama"/>
                <a:ea typeface="Georama"/>
                <a:cs typeface="Georama"/>
                <a:sym typeface="Georama"/>
              </a:rPr>
              <a:t>Starting with box 2 leads to boxes 5, 11, 9, 10, and 6, which is the sequence that uses the most keys, so the prize is in box 6. Starting with box 1 leads to boxes 4, 12, and 8. Starting with box 3 leads only to box 7.</a:t>
            </a:r>
            <a:r>
              <a:rPr lang="en" sz="1800">
                <a:solidFill>
                  <a:schemeClr val="dk1"/>
                </a:solidFill>
                <a:latin typeface="Georama"/>
                <a:ea typeface="Georama"/>
                <a:cs typeface="Georama"/>
                <a:sym typeface="Georama"/>
              </a:rPr>
              <a:t>”</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Solution from Return to Montague Island, puzzle 1.1.</a:t>
            </a:r>
            <a:endParaRPr sz="1800">
              <a:solidFill>
                <a:schemeClr val="dk1"/>
              </a:solidFill>
              <a:latin typeface="Georama"/>
              <a:ea typeface="Georama"/>
              <a:cs typeface="Georama"/>
              <a:sym typeface="Georam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6" name="Shape 186"/>
        <p:cNvGrpSpPr/>
        <p:nvPr/>
      </p:nvGrpSpPr>
      <p:grpSpPr>
        <a:xfrm>
          <a:off x="0" y="0"/>
          <a:ext cx="0" cy="0"/>
          <a:chOff x="0" y="0"/>
          <a:chExt cx="0" cy="0"/>
        </a:xfrm>
      </p:grpSpPr>
      <p:sp>
        <p:nvSpPr>
          <p:cNvPr id="187" name="Google Shape;187;p30"/>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Key solutions</a:t>
            </a:r>
            <a:endParaRPr>
              <a:latin typeface="Lexend Light"/>
              <a:ea typeface="Lexend Light"/>
              <a:cs typeface="Lexend Light"/>
              <a:sym typeface="Lexend Light"/>
            </a:endParaRPr>
          </a:p>
        </p:txBody>
      </p:sp>
      <p:sp>
        <p:nvSpPr>
          <p:cNvPr id="188" name="Google Shape;188;p30"/>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2</a:t>
            </a:r>
            <a:endParaRPr b="1">
              <a:latin typeface="Georama"/>
              <a:ea typeface="Georama"/>
              <a:cs typeface="Georama"/>
              <a:sym typeface="Georama"/>
            </a:endParaRPr>
          </a:p>
        </p:txBody>
      </p:sp>
      <p:sp>
        <p:nvSpPr>
          <p:cNvPr id="189" name="Google Shape;189;p30"/>
          <p:cNvSpPr txBox="1"/>
          <p:nvPr/>
        </p:nvSpPr>
        <p:spPr>
          <a:xfrm>
            <a:off x="921750" y="1384950"/>
            <a:ext cx="7300500" cy="2692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a:t>
            </a:r>
            <a:r>
              <a:rPr lang="en" sz="1800">
                <a:solidFill>
                  <a:schemeClr val="dk1"/>
                </a:solidFill>
                <a:latin typeface="Georama"/>
                <a:ea typeface="Georama"/>
                <a:cs typeface="Georama"/>
                <a:sym typeface="Georama"/>
              </a:rPr>
              <a:t>Box 1 contains the key to box 4</a:t>
            </a:r>
            <a:r>
              <a:rPr lang="en" sz="1800">
                <a:solidFill>
                  <a:schemeClr val="dk1"/>
                </a:solidFill>
                <a:latin typeface="Georama"/>
                <a:ea typeface="Georama"/>
                <a:cs typeface="Georama"/>
                <a:sym typeface="Georama"/>
              </a:rPr>
              <a:t>.</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Box 2 contains the key to box 5</a:t>
            </a:r>
            <a:r>
              <a:rPr lang="en" sz="1800">
                <a:solidFill>
                  <a:schemeClr val="dk1"/>
                </a:solidFill>
                <a:latin typeface="Georama"/>
                <a:ea typeface="Georama"/>
                <a:cs typeface="Georama"/>
                <a:sym typeface="Georama"/>
              </a:rPr>
              <a:t>.</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Box 3 contains the key to box 7.</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Georama"/>
                <a:ea typeface="Georama"/>
                <a:cs typeface="Georama"/>
                <a:sym typeface="Georama"/>
              </a:rPr>
              <a:t>Box 4 contains the key to box 12.</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Georama"/>
                <a:ea typeface="Georama"/>
                <a:cs typeface="Georama"/>
                <a:sym typeface="Georama"/>
              </a:rPr>
              <a:t>Box 5 contains the key to box 11.</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Box 6 contains the prize.</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Solution from Return to Montague Island, puzzle 1.1.</a:t>
            </a:r>
            <a:endParaRPr sz="1800">
              <a:solidFill>
                <a:schemeClr val="dk1"/>
              </a:solidFill>
              <a:latin typeface="Georama"/>
              <a:ea typeface="Georama"/>
              <a:cs typeface="Georama"/>
              <a:sym typeface="Georama"/>
            </a:endParaRPr>
          </a:p>
        </p:txBody>
      </p:sp>
      <p:sp>
        <p:nvSpPr>
          <p:cNvPr id="190" name="Google Shape;190;p30"/>
          <p:cNvSpPr txBox="1"/>
          <p:nvPr/>
        </p:nvSpPr>
        <p:spPr>
          <a:xfrm>
            <a:off x="4572000" y="1384950"/>
            <a:ext cx="3909600" cy="237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Georama"/>
                <a:ea typeface="Georama"/>
                <a:cs typeface="Georama"/>
                <a:sym typeface="Georama"/>
              </a:rPr>
              <a:t>Box 7 is empty.</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Georama"/>
                <a:ea typeface="Georama"/>
                <a:cs typeface="Georama"/>
                <a:sym typeface="Georama"/>
              </a:rPr>
              <a:t>Box 8 is empty.</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Georama"/>
                <a:ea typeface="Georama"/>
                <a:cs typeface="Georama"/>
                <a:sym typeface="Georama"/>
              </a:rPr>
              <a:t>Box 9 contains the key to box 10.</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Georama"/>
                <a:ea typeface="Georama"/>
                <a:cs typeface="Georama"/>
                <a:sym typeface="Georama"/>
              </a:rPr>
              <a:t>Box 10 contains the key to box 6.</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Georama"/>
                <a:ea typeface="Georama"/>
                <a:cs typeface="Georama"/>
                <a:sym typeface="Georama"/>
              </a:rPr>
              <a:t>Box 11 contains the key to box 9.</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Georama"/>
                <a:ea typeface="Georama"/>
                <a:cs typeface="Georama"/>
                <a:sym typeface="Georama"/>
              </a:rPr>
              <a:t>Box 12 contains the key to box 8.”</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1"/>
          <p:cNvSpPr txBox="1"/>
          <p:nvPr>
            <p:ph type="ctrTitle"/>
          </p:nvPr>
        </p:nvSpPr>
        <p:spPr>
          <a:xfrm>
            <a:off x="311700" y="1781698"/>
            <a:ext cx="8520600" cy="1580100"/>
          </a:xfrm>
          <a:prstGeom prst="rect">
            <a:avLst/>
          </a:prstGeom>
        </p:spPr>
        <p:txBody>
          <a:bodyPr anchorCtr="0" anchor="ctr" bIns="91425" lIns="91425" spcFirstLastPara="1" rIns="91425" wrap="square" tIns="91425">
            <a:normAutofit/>
          </a:bodyPr>
          <a:lstStyle/>
          <a:p>
            <a:pPr indent="-558800" lvl="0" marL="457200" rtl="0" algn="ctr">
              <a:spcBef>
                <a:spcPts val="0"/>
              </a:spcBef>
              <a:spcAft>
                <a:spcPts val="0"/>
              </a:spcAft>
              <a:buSzPts val="5200"/>
              <a:buFont typeface="Lexend"/>
              <a:buAutoNum type="arabicPeriod" startAt="3"/>
            </a:pPr>
            <a:r>
              <a:rPr lang="en">
                <a:latin typeface="Lexend"/>
                <a:ea typeface="Lexend"/>
                <a:cs typeface="Lexend"/>
                <a:sym typeface="Lexend"/>
              </a:rPr>
              <a:t>Useless LGs?</a:t>
            </a:r>
            <a:endParaRPr>
              <a:latin typeface="Lexend"/>
              <a:ea typeface="Lexend"/>
              <a:cs typeface="Lexend"/>
              <a:sym typeface="Lexend"/>
            </a:endParaRPr>
          </a:p>
        </p:txBody>
      </p:sp>
      <p:sp>
        <p:nvSpPr>
          <p:cNvPr id="196" name="Google Shape;196;p31"/>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3</a:t>
            </a:r>
            <a:endParaRPr b="1">
              <a:latin typeface="Georama"/>
              <a:ea typeface="Georama"/>
              <a:cs typeface="Georama"/>
              <a:sym typeface="Georam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2"/>
          <p:cNvSpPr txBox="1"/>
          <p:nvPr/>
        </p:nvSpPr>
        <p:spPr>
          <a:xfrm>
            <a:off x="764988" y="1171250"/>
            <a:ext cx="7614000" cy="2692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Fatima and Amara come from a land where </a:t>
            </a:r>
            <a:br>
              <a:rPr lang="en" sz="1800">
                <a:solidFill>
                  <a:schemeClr val="dk1"/>
                </a:solidFill>
                <a:latin typeface="Georama"/>
                <a:ea typeface="Georama"/>
                <a:cs typeface="Georama"/>
                <a:sym typeface="Georama"/>
              </a:rPr>
            </a:br>
            <a:r>
              <a:rPr lang="en" sz="1800">
                <a:solidFill>
                  <a:schemeClr val="dk1"/>
                </a:solidFill>
                <a:latin typeface="Georama"/>
                <a:ea typeface="Georama"/>
                <a:cs typeface="Georama"/>
                <a:sym typeface="Georama"/>
              </a:rPr>
              <a:t>some always tell the </a:t>
            </a:r>
            <a:r>
              <a:rPr lang="en" sz="1800">
                <a:solidFill>
                  <a:schemeClr val="dk1"/>
                </a:solidFill>
                <a:latin typeface="Georama"/>
                <a:ea typeface="Georama"/>
                <a:cs typeface="Georama"/>
                <a:sym typeface="Georama"/>
              </a:rPr>
              <a:t>truth, and the rest always lie.</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Amara says, “Either Fatima lies, or I am truthful.”</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Are Fatima and/or Amara liars?</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Usually we use a </a:t>
            </a:r>
            <a:r>
              <a:rPr b="1" lang="en" sz="1800">
                <a:solidFill>
                  <a:schemeClr val="dk1"/>
                </a:solidFill>
                <a:latin typeface="Georama"/>
                <a:ea typeface="Georama"/>
                <a:cs typeface="Georama"/>
                <a:sym typeface="Georama"/>
              </a:rPr>
              <a:t>truth table</a:t>
            </a:r>
            <a:r>
              <a:rPr lang="en" sz="1800">
                <a:solidFill>
                  <a:schemeClr val="dk1"/>
                </a:solidFill>
                <a:latin typeface="Georama"/>
                <a:ea typeface="Georama"/>
                <a:cs typeface="Georama"/>
                <a:sym typeface="Georama"/>
              </a:rPr>
              <a:t>, but can we use a logic grid?</a:t>
            </a:r>
            <a:endParaRPr sz="1800">
              <a:solidFill>
                <a:schemeClr val="dk1"/>
              </a:solidFill>
              <a:latin typeface="Georama"/>
              <a:ea typeface="Georama"/>
              <a:cs typeface="Georama"/>
              <a:sym typeface="Georama"/>
            </a:endParaRPr>
          </a:p>
        </p:txBody>
      </p:sp>
      <p:sp>
        <p:nvSpPr>
          <p:cNvPr id="202" name="Google Shape;202;p32"/>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Who’s the liar?</a:t>
            </a:r>
            <a:endParaRPr>
              <a:latin typeface="Lexend Light"/>
              <a:ea typeface="Lexend Light"/>
              <a:cs typeface="Lexend Light"/>
              <a:sym typeface="Lexend Light"/>
            </a:endParaRPr>
          </a:p>
        </p:txBody>
      </p:sp>
      <p:sp>
        <p:nvSpPr>
          <p:cNvPr id="203" name="Google Shape;203;p32"/>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3</a:t>
            </a:r>
            <a:endParaRPr b="1">
              <a:latin typeface="Georama"/>
              <a:ea typeface="Georama"/>
              <a:cs typeface="Georama"/>
              <a:sym typeface="Georam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3"/>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What’s the grid?</a:t>
            </a:r>
            <a:endParaRPr>
              <a:latin typeface="Lexend Light"/>
              <a:ea typeface="Lexend Light"/>
              <a:cs typeface="Lexend Light"/>
              <a:sym typeface="Lexend Light"/>
            </a:endParaRPr>
          </a:p>
        </p:txBody>
      </p:sp>
      <p:sp>
        <p:nvSpPr>
          <p:cNvPr id="209" name="Google Shape;209;p33"/>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3</a:t>
            </a:r>
            <a:endParaRPr b="1">
              <a:latin typeface="Georama"/>
              <a:ea typeface="Georama"/>
              <a:cs typeface="Georama"/>
              <a:sym typeface="Georama"/>
            </a:endParaRPr>
          </a:p>
        </p:txBody>
      </p:sp>
      <p:pic>
        <p:nvPicPr>
          <p:cNvPr id="210" name="Google Shape;210;p33"/>
          <p:cNvPicPr preferRelativeResize="0"/>
          <p:nvPr/>
        </p:nvPicPr>
        <p:blipFill>
          <a:blip r:embed="rId3">
            <a:alphaModFix/>
          </a:blip>
          <a:stretch>
            <a:fillRect/>
          </a:stretch>
        </p:blipFill>
        <p:spPr>
          <a:xfrm>
            <a:off x="2246004" y="1078450"/>
            <a:ext cx="4651974" cy="38586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4"/>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A</a:t>
            </a:r>
            <a:r>
              <a:rPr lang="en">
                <a:latin typeface="Lexend Light"/>
                <a:ea typeface="Lexend Light"/>
                <a:cs typeface="Lexend Light"/>
                <a:sym typeface="Lexend Light"/>
              </a:rPr>
              <a:t>n impostor</a:t>
            </a:r>
            <a:r>
              <a:rPr lang="en">
                <a:latin typeface="Lexend Light"/>
                <a:ea typeface="Lexend Light"/>
                <a:cs typeface="Lexend Light"/>
                <a:sym typeface="Lexend Light"/>
              </a:rPr>
              <a:t> grid</a:t>
            </a:r>
            <a:r>
              <a:rPr lang="en">
                <a:latin typeface="Lexend Light"/>
                <a:ea typeface="Lexend Light"/>
                <a:cs typeface="Lexend Light"/>
                <a:sym typeface="Lexend Light"/>
              </a:rPr>
              <a:t>?</a:t>
            </a:r>
            <a:endParaRPr>
              <a:latin typeface="Lexend Light"/>
              <a:ea typeface="Lexend Light"/>
              <a:cs typeface="Lexend Light"/>
              <a:sym typeface="Lexend Light"/>
            </a:endParaRPr>
          </a:p>
        </p:txBody>
      </p:sp>
      <p:sp>
        <p:nvSpPr>
          <p:cNvPr id="216" name="Google Shape;216;p34"/>
          <p:cNvSpPr txBox="1"/>
          <p:nvPr/>
        </p:nvSpPr>
        <p:spPr>
          <a:xfrm>
            <a:off x="4572000" y="1384550"/>
            <a:ext cx="3909600" cy="3966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A solution exists, but it’s more work than a truth table, since we want </a:t>
            </a:r>
            <a:br>
              <a:rPr lang="en" sz="1800">
                <a:solidFill>
                  <a:schemeClr val="dk1"/>
                </a:solidFill>
                <a:latin typeface="Georama"/>
                <a:ea typeface="Georama"/>
                <a:cs typeface="Georama"/>
                <a:sym typeface="Georama"/>
              </a:rPr>
            </a:br>
            <a:r>
              <a:rPr lang="en" sz="1800">
                <a:solidFill>
                  <a:schemeClr val="dk1"/>
                </a:solidFill>
                <a:latin typeface="Georama"/>
                <a:ea typeface="Georama"/>
                <a:cs typeface="Georama"/>
                <a:sym typeface="Georama"/>
              </a:rPr>
              <a:t>unique categories in bijection.</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So, </a:t>
            </a:r>
            <a:r>
              <a:rPr b="1" lang="en" sz="1800">
                <a:solidFill>
                  <a:schemeClr val="dk1"/>
                </a:solidFill>
                <a:latin typeface="Georama"/>
                <a:ea typeface="Georama"/>
                <a:cs typeface="Georama"/>
                <a:sym typeface="Georama"/>
              </a:rPr>
              <a:t>truth tables ≠ </a:t>
            </a:r>
            <a:r>
              <a:rPr b="1" lang="en" sz="1800">
                <a:solidFill>
                  <a:schemeClr val="dk1"/>
                </a:solidFill>
                <a:latin typeface="Georama"/>
                <a:ea typeface="Georama"/>
                <a:cs typeface="Georama"/>
                <a:sym typeface="Georama"/>
              </a:rPr>
              <a:t>logic grids</a:t>
            </a:r>
            <a:r>
              <a:rPr lang="en" sz="1800">
                <a:solidFill>
                  <a:schemeClr val="dk1"/>
                </a:solidFill>
                <a:latin typeface="Georama"/>
                <a:ea typeface="Georama"/>
                <a:cs typeface="Georama"/>
                <a:sym typeface="Georama"/>
              </a:rPr>
              <a:t>.</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But what if we </a:t>
            </a:r>
            <a:r>
              <a:rPr lang="en" sz="1800">
                <a:solidFill>
                  <a:schemeClr val="dk1"/>
                </a:solidFill>
                <a:latin typeface="Georama"/>
                <a:ea typeface="Georama"/>
                <a:cs typeface="Georama"/>
                <a:sym typeface="Georama"/>
              </a:rPr>
              <a:t>allowed grids </a:t>
            </a:r>
            <a:br>
              <a:rPr lang="en" sz="1800">
                <a:solidFill>
                  <a:schemeClr val="dk1"/>
                </a:solidFill>
                <a:latin typeface="Georama"/>
                <a:ea typeface="Georama"/>
                <a:cs typeface="Georama"/>
                <a:sym typeface="Georama"/>
              </a:rPr>
            </a:br>
            <a:r>
              <a:rPr lang="en" sz="1800">
                <a:solidFill>
                  <a:schemeClr val="dk1"/>
                </a:solidFill>
                <a:latin typeface="Georama"/>
                <a:ea typeface="Georama"/>
                <a:cs typeface="Georama"/>
                <a:sym typeface="Georama"/>
              </a:rPr>
              <a:t>like the one on the left? </a:t>
            </a:r>
            <a:r>
              <a:rPr lang="en" sz="1800">
                <a:solidFill>
                  <a:schemeClr val="dk1"/>
                </a:solidFill>
                <a:latin typeface="Georama"/>
                <a:ea typeface="Georama"/>
                <a:cs typeface="Georama"/>
                <a:sym typeface="Georama"/>
              </a:rPr>
              <a:t>Do logic </a:t>
            </a:r>
            <a:br>
              <a:rPr lang="en" sz="1800">
                <a:solidFill>
                  <a:schemeClr val="dk1"/>
                </a:solidFill>
                <a:latin typeface="Georama"/>
                <a:ea typeface="Georama"/>
                <a:cs typeface="Georama"/>
                <a:sym typeface="Georama"/>
              </a:rPr>
            </a:br>
            <a:r>
              <a:rPr lang="en" sz="1800">
                <a:solidFill>
                  <a:schemeClr val="dk1"/>
                </a:solidFill>
                <a:latin typeface="Georama"/>
                <a:ea typeface="Georama"/>
                <a:cs typeface="Georama"/>
                <a:sym typeface="Georama"/>
              </a:rPr>
              <a:t>grids still have nice properties?</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uFill>
                  <a:noFill/>
                </a:uFill>
                <a:latin typeface="Georama"/>
                <a:ea typeface="Georama"/>
                <a:cs typeface="Georama"/>
                <a:sym typeface="Georama"/>
                <a:hlinkClick r:id="rId3">
                  <a:extLst>
                    <a:ext uri="{A12FA001-AC4F-418D-AE19-62706E023703}">
                      <ahyp:hlinkClr val="tx"/>
                    </a:ext>
                  </a:extLst>
                </a:hlinkClick>
              </a:rPr>
              <a:t>Puzzle from Truth &amp; Lies Generator</a:t>
            </a:r>
            <a:r>
              <a:rPr lang="en" sz="1800">
                <a:solidFill>
                  <a:schemeClr val="dk1"/>
                </a:solidFill>
                <a:latin typeface="Georama"/>
                <a:ea typeface="Georama"/>
                <a:cs typeface="Georama"/>
                <a:sym typeface="Georama"/>
              </a:rPr>
              <a:t>.</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Georama"/>
                <a:ea typeface="Georama"/>
                <a:cs typeface="Georama"/>
                <a:sym typeface="Georama"/>
              </a:rPr>
              <a:t>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p:txBody>
      </p:sp>
      <p:sp>
        <p:nvSpPr>
          <p:cNvPr id="217" name="Google Shape;217;p34"/>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3</a:t>
            </a:r>
            <a:endParaRPr b="1">
              <a:latin typeface="Georama"/>
              <a:ea typeface="Georama"/>
              <a:cs typeface="Georama"/>
              <a:sym typeface="Georama"/>
            </a:endParaRPr>
          </a:p>
        </p:txBody>
      </p:sp>
      <p:pic>
        <p:nvPicPr>
          <p:cNvPr id="218" name="Google Shape;218;p34"/>
          <p:cNvPicPr preferRelativeResize="0"/>
          <p:nvPr/>
        </p:nvPicPr>
        <p:blipFill>
          <a:blip r:embed="rId4">
            <a:alphaModFix/>
          </a:blip>
          <a:stretch>
            <a:fillRect/>
          </a:stretch>
        </p:blipFill>
        <p:spPr>
          <a:xfrm>
            <a:off x="1069500" y="1384554"/>
            <a:ext cx="3502488" cy="3081387"/>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5"/>
          <p:cNvSpPr txBox="1"/>
          <p:nvPr>
            <p:ph type="ctrTitle"/>
          </p:nvPr>
        </p:nvSpPr>
        <p:spPr>
          <a:xfrm>
            <a:off x="311700" y="1781698"/>
            <a:ext cx="8520600" cy="1580100"/>
          </a:xfrm>
          <a:prstGeom prst="rect">
            <a:avLst/>
          </a:prstGeom>
        </p:spPr>
        <p:txBody>
          <a:bodyPr anchorCtr="0" anchor="ctr" bIns="91425" lIns="91425" spcFirstLastPara="1" rIns="91425" wrap="square" tIns="91425">
            <a:normAutofit/>
          </a:bodyPr>
          <a:lstStyle/>
          <a:p>
            <a:pPr indent="-558800" lvl="0" marL="457200" rtl="0" algn="ctr">
              <a:spcBef>
                <a:spcPts val="0"/>
              </a:spcBef>
              <a:spcAft>
                <a:spcPts val="0"/>
              </a:spcAft>
              <a:buSzPts val="5200"/>
              <a:buFont typeface="Lexend"/>
              <a:buAutoNum type="arabicPeriod" startAt="4"/>
            </a:pPr>
            <a:r>
              <a:rPr lang="en">
                <a:latin typeface="Lexend"/>
                <a:ea typeface="Lexend"/>
                <a:cs typeface="Lexend"/>
                <a:sym typeface="Lexend"/>
              </a:rPr>
              <a:t>Non-bijective LGs</a:t>
            </a:r>
            <a:endParaRPr>
              <a:latin typeface="Lexend"/>
              <a:ea typeface="Lexend"/>
              <a:cs typeface="Lexend"/>
              <a:sym typeface="Lexend"/>
            </a:endParaRPr>
          </a:p>
        </p:txBody>
      </p:sp>
      <p:sp>
        <p:nvSpPr>
          <p:cNvPr id="224" name="Google Shape;224;p35"/>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4</a:t>
            </a:r>
            <a:endParaRPr b="1">
              <a:latin typeface="Georama"/>
              <a:ea typeface="Georama"/>
              <a:cs typeface="Georama"/>
              <a:sym typeface="Georama"/>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6"/>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Less useless logic grids</a:t>
            </a:r>
            <a:endParaRPr>
              <a:latin typeface="Lexend Light"/>
              <a:ea typeface="Lexend Light"/>
              <a:cs typeface="Lexend Light"/>
              <a:sym typeface="Lexend Light"/>
            </a:endParaRPr>
          </a:p>
        </p:txBody>
      </p:sp>
      <p:sp>
        <p:nvSpPr>
          <p:cNvPr id="230" name="Google Shape;230;p36"/>
          <p:cNvSpPr txBox="1"/>
          <p:nvPr/>
        </p:nvSpPr>
        <p:spPr>
          <a:xfrm>
            <a:off x="764988" y="1384550"/>
            <a:ext cx="3807000" cy="2692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Recall logic grids need</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All categories </a:t>
            </a:r>
            <a:r>
              <a:rPr i="1" lang="en" sz="1800">
                <a:solidFill>
                  <a:schemeClr val="dk1"/>
                </a:solidFill>
                <a:latin typeface="Georama"/>
                <a:ea typeface="Georama"/>
                <a:cs typeface="Georama"/>
                <a:sym typeface="Georama"/>
              </a:rPr>
              <a:t>known</a:t>
            </a:r>
            <a:r>
              <a:rPr lang="en" sz="1800">
                <a:solidFill>
                  <a:schemeClr val="dk1"/>
                </a:solidFill>
                <a:latin typeface="Georama"/>
                <a:ea typeface="Georama"/>
                <a:cs typeface="Georama"/>
                <a:sym typeface="Georama"/>
              </a:rPr>
              <a:t> &amp; </a:t>
            </a:r>
            <a:r>
              <a:rPr i="1" lang="en" sz="1800">
                <a:solidFill>
                  <a:schemeClr val="dk1"/>
                </a:solidFill>
                <a:latin typeface="Georama"/>
                <a:ea typeface="Georama"/>
                <a:cs typeface="Georama"/>
                <a:sym typeface="Georama"/>
              </a:rPr>
              <a:t>unique</a:t>
            </a:r>
            <a:r>
              <a:rPr lang="en" sz="1800">
                <a:solidFill>
                  <a:schemeClr val="dk1"/>
                </a:solidFill>
                <a:latin typeface="Georama"/>
                <a:ea typeface="Georama"/>
                <a:cs typeface="Georama"/>
                <a:sym typeface="Georama"/>
              </a:rPr>
              <a:t>.</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All elements </a:t>
            </a:r>
            <a:r>
              <a:rPr i="1" lang="en" sz="1800">
                <a:solidFill>
                  <a:schemeClr val="dk1"/>
                </a:solidFill>
                <a:latin typeface="Georama"/>
                <a:ea typeface="Georama"/>
                <a:cs typeface="Georama"/>
                <a:sym typeface="Georama"/>
              </a:rPr>
              <a:t>known </a:t>
            </a:r>
            <a:r>
              <a:rPr lang="en" sz="1800">
                <a:solidFill>
                  <a:schemeClr val="dk1"/>
                </a:solidFill>
                <a:latin typeface="Georama"/>
                <a:ea typeface="Georama"/>
                <a:cs typeface="Georama"/>
                <a:sym typeface="Georama"/>
              </a:rPr>
              <a:t>&amp; </a:t>
            </a:r>
            <a:r>
              <a:rPr i="1" lang="en" sz="1800">
                <a:solidFill>
                  <a:schemeClr val="dk1"/>
                </a:solidFill>
                <a:latin typeface="Georama"/>
                <a:ea typeface="Georama"/>
                <a:cs typeface="Georama"/>
                <a:sym typeface="Georama"/>
              </a:rPr>
              <a:t>unique</a:t>
            </a:r>
            <a:r>
              <a:rPr lang="en" sz="1800">
                <a:solidFill>
                  <a:schemeClr val="dk1"/>
                </a:solidFill>
                <a:latin typeface="Georama"/>
                <a:ea typeface="Georama"/>
                <a:cs typeface="Georama"/>
                <a:sym typeface="Georama"/>
              </a:rPr>
              <a:t>.</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All clues </a:t>
            </a:r>
            <a:r>
              <a:rPr i="1" lang="en" sz="1800">
                <a:solidFill>
                  <a:schemeClr val="dk1"/>
                </a:solidFill>
                <a:latin typeface="Georama"/>
                <a:ea typeface="Georama"/>
                <a:cs typeface="Georama"/>
                <a:sym typeface="Georama"/>
              </a:rPr>
              <a:t>correct</a:t>
            </a:r>
            <a:r>
              <a:rPr lang="en" sz="1800">
                <a:solidFill>
                  <a:schemeClr val="dk1"/>
                </a:solidFill>
                <a:latin typeface="Georama"/>
                <a:ea typeface="Georama"/>
                <a:cs typeface="Georama"/>
                <a:sym typeface="Georama"/>
              </a:rPr>
              <a:t>.</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i="1" lang="en" sz="1800">
                <a:solidFill>
                  <a:schemeClr val="dk1"/>
                </a:solidFill>
                <a:latin typeface="Georama"/>
                <a:ea typeface="Georama"/>
                <a:cs typeface="Georama"/>
                <a:sym typeface="Georama"/>
              </a:rPr>
              <a:t>Non-contradicting</a:t>
            </a:r>
            <a:r>
              <a:rPr lang="en" sz="1800">
                <a:solidFill>
                  <a:schemeClr val="dk1"/>
                </a:solidFill>
                <a:latin typeface="Georama"/>
                <a:ea typeface="Georama"/>
                <a:cs typeface="Georama"/>
                <a:sym typeface="Georama"/>
              </a:rPr>
              <a:t> clues.</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Clues result in a </a:t>
            </a:r>
            <a:r>
              <a:rPr i="1" lang="en" sz="1800">
                <a:solidFill>
                  <a:schemeClr val="dk1"/>
                </a:solidFill>
                <a:latin typeface="Georama"/>
                <a:ea typeface="Georama"/>
                <a:cs typeface="Georama"/>
                <a:sym typeface="Georama"/>
              </a:rPr>
              <a:t>solution</a:t>
            </a:r>
            <a:r>
              <a:rPr lang="en" sz="1800">
                <a:solidFill>
                  <a:schemeClr val="dk1"/>
                </a:solidFill>
                <a:latin typeface="Georama"/>
                <a:ea typeface="Georama"/>
                <a:cs typeface="Georama"/>
                <a:sym typeface="Georama"/>
              </a:rPr>
              <a:t>.</a:t>
            </a:r>
            <a:br>
              <a:rPr lang="en" sz="1800">
                <a:solidFill>
                  <a:schemeClr val="dk1"/>
                </a:solidFill>
                <a:latin typeface="Georama"/>
                <a:ea typeface="Georama"/>
                <a:cs typeface="Georama"/>
                <a:sym typeface="Georama"/>
              </a:rPr>
            </a:br>
            <a:r>
              <a:rPr lang="en" sz="1800">
                <a:solidFill>
                  <a:schemeClr val="dk1"/>
                </a:solidFill>
                <a:latin typeface="Georama"/>
                <a:ea typeface="Georama"/>
                <a:cs typeface="Georama"/>
                <a:sym typeface="Georama"/>
              </a:rPr>
              <a:t>(Ideally unique solution too.)</a:t>
            </a:r>
            <a:endParaRPr sz="1800">
              <a:solidFill>
                <a:schemeClr val="dk1"/>
              </a:solidFill>
              <a:latin typeface="Georama"/>
              <a:ea typeface="Georama"/>
              <a:cs typeface="Georama"/>
              <a:sym typeface="Georama"/>
            </a:endParaRPr>
          </a:p>
        </p:txBody>
      </p:sp>
      <p:sp>
        <p:nvSpPr>
          <p:cNvPr id="231" name="Google Shape;231;p36"/>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4</a:t>
            </a:r>
            <a:endParaRPr b="1">
              <a:latin typeface="Georama"/>
              <a:ea typeface="Georama"/>
              <a:cs typeface="Georama"/>
              <a:sym typeface="Georama"/>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7"/>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Less useless logic grids</a:t>
            </a:r>
            <a:endParaRPr>
              <a:latin typeface="Lexend Light"/>
              <a:ea typeface="Lexend Light"/>
              <a:cs typeface="Lexend Light"/>
              <a:sym typeface="Lexend Light"/>
            </a:endParaRPr>
          </a:p>
        </p:txBody>
      </p:sp>
      <p:sp>
        <p:nvSpPr>
          <p:cNvPr id="237" name="Google Shape;237;p37"/>
          <p:cNvSpPr txBox="1"/>
          <p:nvPr/>
        </p:nvSpPr>
        <p:spPr>
          <a:xfrm>
            <a:off x="4571988" y="1384550"/>
            <a:ext cx="3807000" cy="2055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We try to relax 1 and 2:</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All categories </a:t>
            </a:r>
            <a:r>
              <a:rPr i="1" lang="en" sz="1800">
                <a:solidFill>
                  <a:schemeClr val="dk1"/>
                </a:solidFill>
                <a:latin typeface="Georama"/>
                <a:ea typeface="Georama"/>
                <a:cs typeface="Georama"/>
                <a:sym typeface="Georama"/>
              </a:rPr>
              <a:t>known</a:t>
            </a:r>
            <a:r>
              <a:rPr lang="en" sz="1800">
                <a:solidFill>
                  <a:schemeClr val="dk1"/>
                </a:solidFill>
                <a:latin typeface="Georama"/>
                <a:ea typeface="Georama"/>
                <a:cs typeface="Georama"/>
                <a:sym typeface="Georama"/>
              </a:rPr>
              <a:t>.</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All elements </a:t>
            </a:r>
            <a:r>
              <a:rPr i="1" lang="en" sz="1800">
                <a:solidFill>
                  <a:schemeClr val="dk1"/>
                </a:solidFill>
                <a:latin typeface="Georama"/>
                <a:ea typeface="Georama"/>
                <a:cs typeface="Georama"/>
                <a:sym typeface="Georama"/>
              </a:rPr>
              <a:t>known.</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Any ideas of examples?</a:t>
            </a:r>
            <a:endParaRPr sz="1800">
              <a:solidFill>
                <a:schemeClr val="dk1"/>
              </a:solidFill>
              <a:latin typeface="Georama"/>
              <a:ea typeface="Georama"/>
              <a:cs typeface="Georama"/>
              <a:sym typeface="Georama"/>
            </a:endParaRPr>
          </a:p>
        </p:txBody>
      </p:sp>
      <p:sp>
        <p:nvSpPr>
          <p:cNvPr id="238" name="Google Shape;238;p37"/>
          <p:cNvSpPr txBox="1"/>
          <p:nvPr/>
        </p:nvSpPr>
        <p:spPr>
          <a:xfrm>
            <a:off x="764988" y="1384550"/>
            <a:ext cx="3807000" cy="2692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Recall logic grids need</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All categories </a:t>
            </a:r>
            <a:r>
              <a:rPr i="1" lang="en" sz="1800">
                <a:solidFill>
                  <a:schemeClr val="dk1"/>
                </a:solidFill>
                <a:latin typeface="Georama"/>
                <a:ea typeface="Georama"/>
                <a:cs typeface="Georama"/>
                <a:sym typeface="Georama"/>
              </a:rPr>
              <a:t>known</a:t>
            </a:r>
            <a:r>
              <a:rPr lang="en" sz="1800">
                <a:solidFill>
                  <a:schemeClr val="dk1"/>
                </a:solidFill>
                <a:latin typeface="Georama"/>
                <a:ea typeface="Georama"/>
                <a:cs typeface="Georama"/>
                <a:sym typeface="Georama"/>
              </a:rPr>
              <a:t> &amp; </a:t>
            </a:r>
            <a:r>
              <a:rPr i="1" lang="en" sz="1800">
                <a:solidFill>
                  <a:schemeClr val="dk1"/>
                </a:solidFill>
                <a:latin typeface="Georama"/>
                <a:ea typeface="Georama"/>
                <a:cs typeface="Georama"/>
                <a:sym typeface="Georama"/>
              </a:rPr>
              <a:t>unique</a:t>
            </a:r>
            <a:r>
              <a:rPr lang="en" sz="1800">
                <a:solidFill>
                  <a:schemeClr val="dk1"/>
                </a:solidFill>
                <a:latin typeface="Georama"/>
                <a:ea typeface="Georama"/>
                <a:cs typeface="Georama"/>
                <a:sym typeface="Georama"/>
              </a:rPr>
              <a:t>.</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All elements </a:t>
            </a:r>
            <a:r>
              <a:rPr i="1" lang="en" sz="1800">
                <a:solidFill>
                  <a:schemeClr val="dk1"/>
                </a:solidFill>
                <a:latin typeface="Georama"/>
                <a:ea typeface="Georama"/>
                <a:cs typeface="Georama"/>
                <a:sym typeface="Georama"/>
              </a:rPr>
              <a:t>known </a:t>
            </a:r>
            <a:r>
              <a:rPr lang="en" sz="1800">
                <a:solidFill>
                  <a:schemeClr val="dk1"/>
                </a:solidFill>
                <a:latin typeface="Georama"/>
                <a:ea typeface="Georama"/>
                <a:cs typeface="Georama"/>
                <a:sym typeface="Georama"/>
              </a:rPr>
              <a:t>&amp; </a:t>
            </a:r>
            <a:r>
              <a:rPr i="1" lang="en" sz="1800">
                <a:solidFill>
                  <a:schemeClr val="dk1"/>
                </a:solidFill>
                <a:latin typeface="Georama"/>
                <a:ea typeface="Georama"/>
                <a:cs typeface="Georama"/>
                <a:sym typeface="Georama"/>
              </a:rPr>
              <a:t>unique</a:t>
            </a:r>
            <a:r>
              <a:rPr lang="en" sz="1800">
                <a:solidFill>
                  <a:schemeClr val="dk1"/>
                </a:solidFill>
                <a:latin typeface="Georama"/>
                <a:ea typeface="Georama"/>
                <a:cs typeface="Georama"/>
                <a:sym typeface="Georama"/>
              </a:rPr>
              <a:t>.</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All clues </a:t>
            </a:r>
            <a:r>
              <a:rPr i="1" lang="en" sz="1800">
                <a:solidFill>
                  <a:schemeClr val="dk1"/>
                </a:solidFill>
                <a:latin typeface="Georama"/>
                <a:ea typeface="Georama"/>
                <a:cs typeface="Georama"/>
                <a:sym typeface="Georama"/>
              </a:rPr>
              <a:t>correct</a:t>
            </a:r>
            <a:r>
              <a:rPr lang="en" sz="1800">
                <a:solidFill>
                  <a:schemeClr val="dk1"/>
                </a:solidFill>
                <a:latin typeface="Georama"/>
                <a:ea typeface="Georama"/>
                <a:cs typeface="Georama"/>
                <a:sym typeface="Georama"/>
              </a:rPr>
              <a:t>.</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i="1" lang="en" sz="1800">
                <a:solidFill>
                  <a:schemeClr val="dk1"/>
                </a:solidFill>
                <a:latin typeface="Georama"/>
                <a:ea typeface="Georama"/>
                <a:cs typeface="Georama"/>
                <a:sym typeface="Georama"/>
              </a:rPr>
              <a:t>Non-contradicting</a:t>
            </a:r>
            <a:r>
              <a:rPr lang="en" sz="1800">
                <a:solidFill>
                  <a:schemeClr val="dk1"/>
                </a:solidFill>
                <a:latin typeface="Georama"/>
                <a:ea typeface="Georama"/>
                <a:cs typeface="Georama"/>
                <a:sym typeface="Georama"/>
              </a:rPr>
              <a:t> clues.</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Clues result in a </a:t>
            </a:r>
            <a:r>
              <a:rPr i="1" lang="en" sz="1800">
                <a:solidFill>
                  <a:schemeClr val="dk1"/>
                </a:solidFill>
                <a:latin typeface="Georama"/>
                <a:ea typeface="Georama"/>
                <a:cs typeface="Georama"/>
                <a:sym typeface="Georama"/>
              </a:rPr>
              <a:t>solution</a:t>
            </a:r>
            <a:r>
              <a:rPr lang="en" sz="1800">
                <a:solidFill>
                  <a:schemeClr val="dk1"/>
                </a:solidFill>
                <a:latin typeface="Georama"/>
                <a:ea typeface="Georama"/>
                <a:cs typeface="Georama"/>
                <a:sym typeface="Georama"/>
              </a:rPr>
              <a:t>.</a:t>
            </a:r>
            <a:br>
              <a:rPr lang="en" sz="1800">
                <a:solidFill>
                  <a:schemeClr val="dk1"/>
                </a:solidFill>
                <a:latin typeface="Georama"/>
                <a:ea typeface="Georama"/>
                <a:cs typeface="Georama"/>
                <a:sym typeface="Georama"/>
              </a:rPr>
            </a:br>
            <a:r>
              <a:rPr lang="en" sz="1800">
                <a:solidFill>
                  <a:schemeClr val="dk1"/>
                </a:solidFill>
                <a:latin typeface="Georama"/>
                <a:ea typeface="Georama"/>
                <a:cs typeface="Georama"/>
                <a:sym typeface="Georama"/>
              </a:rPr>
              <a:t>(Ideally unique solution too.)</a:t>
            </a:r>
            <a:endParaRPr sz="1800">
              <a:solidFill>
                <a:schemeClr val="dk1"/>
              </a:solidFill>
              <a:latin typeface="Georama"/>
              <a:ea typeface="Georama"/>
              <a:cs typeface="Georama"/>
              <a:sym typeface="Georama"/>
            </a:endParaRPr>
          </a:p>
        </p:txBody>
      </p:sp>
      <p:sp>
        <p:nvSpPr>
          <p:cNvPr id="239" name="Google Shape;239;p37"/>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4</a:t>
            </a:r>
            <a:endParaRPr b="1">
              <a:latin typeface="Georama"/>
              <a:ea typeface="Georama"/>
              <a:cs typeface="Georama"/>
              <a:sym typeface="Georama"/>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8"/>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Garden plots</a:t>
            </a:r>
            <a:endParaRPr>
              <a:latin typeface="Lexend Light"/>
              <a:ea typeface="Lexend Light"/>
              <a:cs typeface="Lexend Light"/>
              <a:sym typeface="Lexend Light"/>
            </a:endParaRPr>
          </a:p>
        </p:txBody>
      </p:sp>
      <p:sp>
        <p:nvSpPr>
          <p:cNvPr id="245" name="Google Shape;245;p38"/>
          <p:cNvSpPr txBox="1"/>
          <p:nvPr/>
        </p:nvSpPr>
        <p:spPr>
          <a:xfrm>
            <a:off x="4571988" y="1384550"/>
            <a:ext cx="3807000" cy="301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The bijective criterion is actually (somewhat) </a:t>
            </a:r>
            <a:r>
              <a:rPr lang="en" sz="1800">
                <a:solidFill>
                  <a:schemeClr val="dk1"/>
                </a:solidFill>
                <a:latin typeface="Georama"/>
                <a:ea typeface="Georama"/>
                <a:cs typeface="Georama"/>
                <a:sym typeface="Georama"/>
              </a:rPr>
              <a:t>unnecessary!</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Puzzle #4 (left) is an example that shows categories need not be the same size either.</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Such grids remain provably correct and solvable in polynomial time.</a:t>
            </a:r>
            <a:endParaRPr sz="1800">
              <a:solidFill>
                <a:schemeClr val="dk1"/>
              </a:solidFill>
              <a:latin typeface="Georama"/>
              <a:ea typeface="Georama"/>
              <a:cs typeface="Georama"/>
              <a:sym typeface="Georama"/>
            </a:endParaRPr>
          </a:p>
        </p:txBody>
      </p:sp>
      <p:sp>
        <p:nvSpPr>
          <p:cNvPr id="246" name="Google Shape;246;p38"/>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4</a:t>
            </a:r>
            <a:endParaRPr b="1">
              <a:latin typeface="Georama"/>
              <a:ea typeface="Georama"/>
              <a:cs typeface="Georama"/>
              <a:sym typeface="Georama"/>
            </a:endParaRPr>
          </a:p>
        </p:txBody>
      </p:sp>
      <p:pic>
        <p:nvPicPr>
          <p:cNvPr id="247" name="Google Shape;247;p38"/>
          <p:cNvPicPr preferRelativeResize="0"/>
          <p:nvPr/>
        </p:nvPicPr>
        <p:blipFill>
          <a:blip r:embed="rId3">
            <a:alphaModFix/>
          </a:blip>
          <a:stretch>
            <a:fillRect/>
          </a:stretch>
        </p:blipFill>
        <p:spPr>
          <a:xfrm>
            <a:off x="917100" y="1171254"/>
            <a:ext cx="3502488" cy="331004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9"/>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Garden plots</a:t>
            </a:r>
            <a:endParaRPr>
              <a:latin typeface="Lexend Light"/>
              <a:ea typeface="Lexend Light"/>
              <a:cs typeface="Lexend Light"/>
              <a:sym typeface="Lexend Light"/>
            </a:endParaRPr>
          </a:p>
        </p:txBody>
      </p:sp>
      <p:sp>
        <p:nvSpPr>
          <p:cNvPr id="253" name="Google Shape;253;p39"/>
          <p:cNvSpPr txBox="1"/>
          <p:nvPr/>
        </p:nvSpPr>
        <p:spPr>
          <a:xfrm>
            <a:off x="4571988" y="1384550"/>
            <a:ext cx="3807000" cy="301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The double ticks in some columns may break some common tricks…</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But the logic grid remains an incredibly effective way to </a:t>
            </a:r>
            <a:br>
              <a:rPr lang="en" sz="1800">
                <a:solidFill>
                  <a:schemeClr val="dk1"/>
                </a:solidFill>
                <a:latin typeface="Georama"/>
                <a:ea typeface="Georama"/>
                <a:cs typeface="Georama"/>
                <a:sym typeface="Georama"/>
              </a:rPr>
            </a:br>
            <a:r>
              <a:rPr lang="en" sz="1800">
                <a:solidFill>
                  <a:schemeClr val="dk1"/>
                </a:solidFill>
                <a:latin typeface="Georama"/>
                <a:ea typeface="Georama"/>
                <a:cs typeface="Georama"/>
                <a:sym typeface="Georama"/>
              </a:rPr>
              <a:t>encode information.</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Puzzle from </a:t>
            </a:r>
            <a:r>
              <a:rPr i="1" lang="en" sz="1800">
                <a:solidFill>
                  <a:schemeClr val="dk1"/>
                </a:solidFill>
                <a:latin typeface="Georama"/>
                <a:ea typeface="Georama"/>
                <a:cs typeface="Georama"/>
                <a:sym typeface="Georama"/>
              </a:rPr>
              <a:t>Montague Island Mysteries, </a:t>
            </a:r>
            <a:r>
              <a:rPr lang="en" sz="1800">
                <a:solidFill>
                  <a:schemeClr val="dk1"/>
                </a:solidFill>
                <a:latin typeface="Georama"/>
                <a:ea typeface="Georama"/>
                <a:cs typeface="Georama"/>
                <a:sym typeface="Georama"/>
              </a:rPr>
              <a:t>puzzle 4.4.</a:t>
            </a:r>
            <a:endParaRPr sz="1800">
              <a:solidFill>
                <a:schemeClr val="dk1"/>
              </a:solidFill>
              <a:latin typeface="Georama"/>
              <a:ea typeface="Georama"/>
              <a:cs typeface="Georama"/>
              <a:sym typeface="Georama"/>
            </a:endParaRPr>
          </a:p>
        </p:txBody>
      </p:sp>
      <p:sp>
        <p:nvSpPr>
          <p:cNvPr id="254" name="Google Shape;254;p39"/>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4</a:t>
            </a:r>
            <a:endParaRPr b="1">
              <a:latin typeface="Georama"/>
              <a:ea typeface="Georama"/>
              <a:cs typeface="Georama"/>
              <a:sym typeface="Georama"/>
            </a:endParaRPr>
          </a:p>
        </p:txBody>
      </p:sp>
      <p:pic>
        <p:nvPicPr>
          <p:cNvPr id="255" name="Google Shape;255;p39"/>
          <p:cNvPicPr preferRelativeResize="0"/>
          <p:nvPr/>
        </p:nvPicPr>
        <p:blipFill rotWithShape="1">
          <a:blip r:embed="rId3">
            <a:alphaModFix/>
          </a:blip>
          <a:srcRect b="9699" l="8887" r="5238" t="28280"/>
          <a:stretch/>
        </p:blipFill>
        <p:spPr>
          <a:xfrm>
            <a:off x="964100" y="1171250"/>
            <a:ext cx="3502501" cy="3190077"/>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9" name="Shape 259"/>
        <p:cNvGrpSpPr/>
        <p:nvPr/>
      </p:nvGrpSpPr>
      <p:grpSpPr>
        <a:xfrm>
          <a:off x="0" y="0"/>
          <a:ext cx="0" cy="0"/>
          <a:chOff x="0" y="0"/>
          <a:chExt cx="0" cy="0"/>
        </a:xfrm>
      </p:grpSpPr>
      <p:sp>
        <p:nvSpPr>
          <p:cNvPr id="260" name="Google Shape;260;p40"/>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Clr>
                <a:schemeClr val="dk1"/>
              </a:buClr>
              <a:buSzPts val="990"/>
              <a:buFont typeface="Arial"/>
              <a:buNone/>
            </a:pPr>
            <a:r>
              <a:rPr lang="en">
                <a:latin typeface="Lexend Light"/>
                <a:ea typeface="Lexend Light"/>
                <a:cs typeface="Lexend Light"/>
                <a:sym typeface="Lexend Light"/>
              </a:rPr>
              <a:t>Garden solutions</a:t>
            </a:r>
            <a:endParaRPr>
              <a:latin typeface="Lexend Light"/>
              <a:ea typeface="Lexend Light"/>
              <a:cs typeface="Lexend Light"/>
              <a:sym typeface="Lexend Light"/>
            </a:endParaRPr>
          </a:p>
        </p:txBody>
      </p:sp>
      <p:sp>
        <p:nvSpPr>
          <p:cNvPr id="261" name="Google Shape;261;p40"/>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4</a:t>
            </a:r>
            <a:endParaRPr b="1">
              <a:latin typeface="Georama"/>
              <a:ea typeface="Georama"/>
              <a:cs typeface="Georama"/>
              <a:sym typeface="Georama"/>
            </a:endParaRPr>
          </a:p>
        </p:txBody>
      </p:sp>
      <p:sp>
        <p:nvSpPr>
          <p:cNvPr id="262" name="Google Shape;262;p40"/>
          <p:cNvSpPr txBox="1"/>
          <p:nvPr/>
        </p:nvSpPr>
        <p:spPr>
          <a:xfrm>
            <a:off x="921750" y="1384950"/>
            <a:ext cx="7300500" cy="237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Georama"/>
                <a:ea typeface="Georama"/>
                <a:cs typeface="Georama"/>
                <a:sym typeface="Georama"/>
              </a:rPr>
              <a:t>“From clues 2, 3, and 4, plots E, G, and H all border plots used by Charles, Frank, and Taylor. Since no plot borders all three of the plots E, G, and H, and no pair of adjacent plots—except for pairs that include E, G, or H—border all three of the plots E, G, and H, the guests who planted E, G, and H must be, in some order, Charles, Frank, and Taylor.”</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Solution </a:t>
            </a:r>
            <a:r>
              <a:rPr lang="en" sz="1800">
                <a:solidFill>
                  <a:schemeClr val="dk1"/>
                </a:solidFill>
                <a:latin typeface="Georama"/>
                <a:ea typeface="Georama"/>
                <a:cs typeface="Georama"/>
                <a:sym typeface="Georama"/>
              </a:rPr>
              <a:t>from </a:t>
            </a:r>
            <a:r>
              <a:rPr i="1" lang="en" sz="1800">
                <a:solidFill>
                  <a:schemeClr val="dk1"/>
                </a:solidFill>
                <a:latin typeface="Georama"/>
                <a:ea typeface="Georama"/>
                <a:cs typeface="Georama"/>
                <a:sym typeface="Georama"/>
              </a:rPr>
              <a:t>Montague Island Mysteries, </a:t>
            </a:r>
            <a:r>
              <a:rPr lang="en" sz="1800">
                <a:solidFill>
                  <a:schemeClr val="dk1"/>
                </a:solidFill>
                <a:latin typeface="Georama"/>
                <a:ea typeface="Georama"/>
                <a:cs typeface="Georama"/>
                <a:sym typeface="Georama"/>
              </a:rPr>
              <a:t>puzzle 4.4.</a:t>
            </a:r>
            <a:endParaRPr sz="1800">
              <a:solidFill>
                <a:schemeClr val="dk1"/>
              </a:solidFill>
              <a:latin typeface="Georama"/>
              <a:ea typeface="Georama"/>
              <a:cs typeface="Georama"/>
              <a:sym typeface="Georama"/>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6" name="Shape 266"/>
        <p:cNvGrpSpPr/>
        <p:nvPr/>
      </p:nvGrpSpPr>
      <p:grpSpPr>
        <a:xfrm>
          <a:off x="0" y="0"/>
          <a:ext cx="0" cy="0"/>
          <a:chOff x="0" y="0"/>
          <a:chExt cx="0" cy="0"/>
        </a:xfrm>
      </p:grpSpPr>
      <p:sp>
        <p:nvSpPr>
          <p:cNvPr id="267" name="Google Shape;267;p41"/>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Clr>
                <a:schemeClr val="dk1"/>
              </a:buClr>
              <a:buSzPts val="990"/>
              <a:buFont typeface="Arial"/>
              <a:buNone/>
            </a:pPr>
            <a:r>
              <a:rPr lang="en">
                <a:latin typeface="Lexend Light"/>
                <a:ea typeface="Lexend Light"/>
                <a:cs typeface="Lexend Light"/>
                <a:sym typeface="Lexend Light"/>
              </a:rPr>
              <a:t>Garden solutions</a:t>
            </a:r>
            <a:endParaRPr>
              <a:latin typeface="Lexend Light"/>
              <a:ea typeface="Lexend Light"/>
              <a:cs typeface="Lexend Light"/>
              <a:sym typeface="Lexend Light"/>
            </a:endParaRPr>
          </a:p>
        </p:txBody>
      </p:sp>
      <p:sp>
        <p:nvSpPr>
          <p:cNvPr id="268" name="Google Shape;268;p41"/>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4</a:t>
            </a:r>
            <a:endParaRPr b="1">
              <a:latin typeface="Georama"/>
              <a:ea typeface="Georama"/>
              <a:cs typeface="Georama"/>
              <a:sym typeface="Georama"/>
            </a:endParaRPr>
          </a:p>
        </p:txBody>
      </p:sp>
      <p:sp>
        <p:nvSpPr>
          <p:cNvPr id="269" name="Google Shape;269;p41"/>
          <p:cNvSpPr txBox="1"/>
          <p:nvPr/>
        </p:nvSpPr>
        <p:spPr>
          <a:xfrm>
            <a:off x="921750" y="1384950"/>
            <a:ext cx="7300500" cy="2692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a:t>
            </a:r>
            <a:r>
              <a:rPr lang="en" sz="1800">
                <a:solidFill>
                  <a:schemeClr val="dk1"/>
                </a:solidFill>
                <a:latin typeface="Georama"/>
                <a:ea typeface="Georama"/>
                <a:cs typeface="Georama"/>
                <a:sym typeface="Georama"/>
              </a:rPr>
              <a:t>Since E borders both of Taylor’s plots, E cannot be Taylor’s plot. Each one of Jessica’s and Taylor’s plots border both E and H; those plots can only be F and G. Since Jessica’s plot is not G, hers must be F and Taylor’s must be G. Taylor’s other plot must be adjacent to both E and G, and so it must be D. Since H borders both of Jessica’s plots and her other plot must be adjacent to F, Jessica’s other plot must be I.</a:t>
            </a:r>
            <a:r>
              <a:rPr lang="en" sz="1800">
                <a:solidFill>
                  <a:schemeClr val="dk1"/>
                </a:solidFill>
                <a:latin typeface="Georama"/>
                <a:ea typeface="Georama"/>
                <a:cs typeface="Georama"/>
                <a:sym typeface="Georama"/>
              </a:rPr>
              <a:t>”</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Solution from </a:t>
            </a:r>
            <a:r>
              <a:rPr i="1" lang="en" sz="1800">
                <a:solidFill>
                  <a:schemeClr val="dk1"/>
                </a:solidFill>
                <a:latin typeface="Georama"/>
                <a:ea typeface="Georama"/>
                <a:cs typeface="Georama"/>
                <a:sym typeface="Georama"/>
              </a:rPr>
              <a:t>Montague Island Mysteries, </a:t>
            </a:r>
            <a:r>
              <a:rPr lang="en" sz="1800">
                <a:solidFill>
                  <a:schemeClr val="dk1"/>
                </a:solidFill>
                <a:latin typeface="Georama"/>
                <a:ea typeface="Georama"/>
                <a:cs typeface="Georama"/>
                <a:sym typeface="Georama"/>
              </a:rPr>
              <a:t>puzzle 4.4.</a:t>
            </a:r>
            <a:endParaRPr sz="1800">
              <a:solidFill>
                <a:schemeClr val="dk1"/>
              </a:solidFill>
              <a:latin typeface="Georama"/>
              <a:ea typeface="Georama"/>
              <a:cs typeface="Georama"/>
              <a:sym typeface="Georama"/>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3" name="Shape 273"/>
        <p:cNvGrpSpPr/>
        <p:nvPr/>
      </p:nvGrpSpPr>
      <p:grpSpPr>
        <a:xfrm>
          <a:off x="0" y="0"/>
          <a:ext cx="0" cy="0"/>
          <a:chOff x="0" y="0"/>
          <a:chExt cx="0" cy="0"/>
        </a:xfrm>
      </p:grpSpPr>
      <p:sp>
        <p:nvSpPr>
          <p:cNvPr id="274" name="Google Shape;274;p42"/>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Clr>
                <a:schemeClr val="dk1"/>
              </a:buClr>
              <a:buSzPts val="990"/>
              <a:buFont typeface="Arial"/>
              <a:buNone/>
            </a:pPr>
            <a:r>
              <a:rPr lang="en">
                <a:latin typeface="Lexend Light"/>
                <a:ea typeface="Lexend Light"/>
                <a:cs typeface="Lexend Light"/>
                <a:sym typeface="Lexend Light"/>
              </a:rPr>
              <a:t>Garden solutions</a:t>
            </a:r>
            <a:endParaRPr>
              <a:latin typeface="Lexend Light"/>
              <a:ea typeface="Lexend Light"/>
              <a:cs typeface="Lexend Light"/>
              <a:sym typeface="Lexend Light"/>
            </a:endParaRPr>
          </a:p>
        </p:txBody>
      </p:sp>
      <p:sp>
        <p:nvSpPr>
          <p:cNvPr id="275" name="Google Shape;275;p42"/>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4</a:t>
            </a:r>
            <a:endParaRPr b="1">
              <a:latin typeface="Georama"/>
              <a:ea typeface="Georama"/>
              <a:cs typeface="Georama"/>
              <a:sym typeface="Georama"/>
            </a:endParaRPr>
          </a:p>
        </p:txBody>
      </p:sp>
      <p:sp>
        <p:nvSpPr>
          <p:cNvPr id="276" name="Google Shape;276;p42"/>
          <p:cNvSpPr txBox="1"/>
          <p:nvPr/>
        </p:nvSpPr>
        <p:spPr>
          <a:xfrm>
            <a:off x="921750" y="1384950"/>
            <a:ext cx="7300500" cy="2692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a:t>
            </a:r>
            <a:r>
              <a:rPr lang="en" sz="1800">
                <a:solidFill>
                  <a:schemeClr val="dk1"/>
                </a:solidFill>
                <a:latin typeface="Georama"/>
                <a:ea typeface="Georama"/>
                <a:cs typeface="Georama"/>
                <a:sym typeface="Georama"/>
              </a:rPr>
              <a:t>B and C must be used by the same guest, and from clue 2 that guest must be Karen. Both of David’s plots are adjacent to Taylor’s plot G, and so David’s plots must be J and K, since if they were K and L, J could not be adjacent to its user’s other plot. L must be the plot of Beth’s that G borders, and N is her other plot. Of Charles and Frank, one of them uses A and E and the other uses H and M.</a:t>
            </a:r>
            <a:r>
              <a:rPr lang="en" sz="1800">
                <a:solidFill>
                  <a:schemeClr val="dk1"/>
                </a:solidFill>
                <a:latin typeface="Georama"/>
                <a:ea typeface="Georama"/>
                <a:cs typeface="Georama"/>
                <a:sym typeface="Georama"/>
              </a:rPr>
              <a:t>”</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Solution from </a:t>
            </a:r>
            <a:r>
              <a:rPr i="1" lang="en" sz="1800">
                <a:solidFill>
                  <a:schemeClr val="dk1"/>
                </a:solidFill>
                <a:latin typeface="Georama"/>
                <a:ea typeface="Georama"/>
                <a:cs typeface="Georama"/>
                <a:sym typeface="Georama"/>
              </a:rPr>
              <a:t>Montague Island Mysteries, </a:t>
            </a:r>
            <a:r>
              <a:rPr lang="en" sz="1800">
                <a:solidFill>
                  <a:schemeClr val="dk1"/>
                </a:solidFill>
                <a:latin typeface="Georama"/>
                <a:ea typeface="Georama"/>
                <a:cs typeface="Georama"/>
                <a:sym typeface="Georama"/>
              </a:rPr>
              <a:t>puzzle 4.4.</a:t>
            </a:r>
            <a:endParaRPr sz="1800">
              <a:solidFill>
                <a:schemeClr val="dk1"/>
              </a:solidFill>
              <a:latin typeface="Georama"/>
              <a:ea typeface="Georama"/>
              <a:cs typeface="Georama"/>
              <a:sym typeface="Georama"/>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0" name="Shape 280"/>
        <p:cNvGrpSpPr/>
        <p:nvPr/>
      </p:nvGrpSpPr>
      <p:grpSpPr>
        <a:xfrm>
          <a:off x="0" y="0"/>
          <a:ext cx="0" cy="0"/>
          <a:chOff x="0" y="0"/>
          <a:chExt cx="0" cy="0"/>
        </a:xfrm>
      </p:grpSpPr>
      <p:sp>
        <p:nvSpPr>
          <p:cNvPr id="281" name="Google Shape;281;p43"/>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Clr>
                <a:schemeClr val="dk1"/>
              </a:buClr>
              <a:buSzPts val="990"/>
              <a:buFont typeface="Arial"/>
              <a:buNone/>
            </a:pPr>
            <a:r>
              <a:rPr lang="en">
                <a:latin typeface="Lexend Light"/>
                <a:ea typeface="Lexend Light"/>
                <a:cs typeface="Lexend Light"/>
                <a:sym typeface="Lexend Light"/>
              </a:rPr>
              <a:t>Garden solutions</a:t>
            </a:r>
            <a:endParaRPr>
              <a:latin typeface="Lexend Light"/>
              <a:ea typeface="Lexend Light"/>
              <a:cs typeface="Lexend Light"/>
              <a:sym typeface="Lexend Light"/>
            </a:endParaRPr>
          </a:p>
        </p:txBody>
      </p:sp>
      <p:sp>
        <p:nvSpPr>
          <p:cNvPr id="282" name="Google Shape;282;p43"/>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4</a:t>
            </a:r>
            <a:endParaRPr b="1">
              <a:latin typeface="Georama"/>
              <a:ea typeface="Georama"/>
              <a:cs typeface="Georama"/>
              <a:sym typeface="Georama"/>
            </a:endParaRPr>
          </a:p>
        </p:txBody>
      </p:sp>
      <p:sp>
        <p:nvSpPr>
          <p:cNvPr id="283" name="Google Shape;283;p43"/>
          <p:cNvSpPr txBox="1"/>
          <p:nvPr/>
        </p:nvSpPr>
        <p:spPr>
          <a:xfrm>
            <a:off x="921750" y="1384950"/>
            <a:ext cx="7300500" cy="2692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a:t>
            </a:r>
            <a:r>
              <a:rPr lang="en" sz="1800">
                <a:solidFill>
                  <a:schemeClr val="dk1"/>
                </a:solidFill>
                <a:latin typeface="Georama"/>
                <a:ea typeface="Georama"/>
                <a:cs typeface="Georama"/>
                <a:sym typeface="Georama"/>
              </a:rPr>
              <a:t>Clues 6, 7, 8, and 9 identify four places in the garden where a pair of plots both border a pair of other plots and all four plots are used by different guests. From the garden diagram and the known ownership of the plots, these locations can only be, in some order: B and H both bordering E and F; E and H both bordering F and G; E and L both bordering G and H; and G and L both bordering H and K.</a:t>
            </a:r>
            <a:r>
              <a:rPr lang="en" sz="1800">
                <a:solidFill>
                  <a:schemeClr val="dk1"/>
                </a:solidFill>
                <a:latin typeface="Georama"/>
                <a:ea typeface="Georama"/>
                <a:cs typeface="Georama"/>
                <a:sym typeface="Georama"/>
              </a:rPr>
              <a:t>”</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Solution from </a:t>
            </a:r>
            <a:r>
              <a:rPr i="1" lang="en" sz="1800">
                <a:solidFill>
                  <a:schemeClr val="dk1"/>
                </a:solidFill>
                <a:latin typeface="Georama"/>
                <a:ea typeface="Georama"/>
                <a:cs typeface="Georama"/>
                <a:sym typeface="Georama"/>
              </a:rPr>
              <a:t>Montague Island Mysteries, </a:t>
            </a:r>
            <a:r>
              <a:rPr lang="en" sz="1800">
                <a:solidFill>
                  <a:schemeClr val="dk1"/>
                </a:solidFill>
                <a:latin typeface="Georama"/>
                <a:ea typeface="Georama"/>
                <a:cs typeface="Georama"/>
                <a:sym typeface="Georama"/>
              </a:rPr>
              <a:t>puzzle 4.4.</a:t>
            </a:r>
            <a:endParaRPr sz="1800">
              <a:solidFill>
                <a:schemeClr val="dk1"/>
              </a:solidFill>
              <a:latin typeface="Georama"/>
              <a:ea typeface="Georama"/>
              <a:cs typeface="Georama"/>
              <a:sym typeface="Georama"/>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7" name="Shape 287"/>
        <p:cNvGrpSpPr/>
        <p:nvPr/>
      </p:nvGrpSpPr>
      <p:grpSpPr>
        <a:xfrm>
          <a:off x="0" y="0"/>
          <a:ext cx="0" cy="0"/>
          <a:chOff x="0" y="0"/>
          <a:chExt cx="0" cy="0"/>
        </a:xfrm>
      </p:grpSpPr>
      <p:sp>
        <p:nvSpPr>
          <p:cNvPr id="288" name="Google Shape;288;p44"/>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Clr>
                <a:schemeClr val="dk1"/>
              </a:buClr>
              <a:buSzPts val="990"/>
              <a:buFont typeface="Arial"/>
              <a:buNone/>
            </a:pPr>
            <a:r>
              <a:rPr lang="en">
                <a:latin typeface="Lexend Light"/>
                <a:ea typeface="Lexend Light"/>
                <a:cs typeface="Lexend Light"/>
                <a:sym typeface="Lexend Light"/>
              </a:rPr>
              <a:t>Garden solutions</a:t>
            </a:r>
            <a:endParaRPr>
              <a:latin typeface="Lexend Light"/>
              <a:ea typeface="Lexend Light"/>
              <a:cs typeface="Lexend Light"/>
              <a:sym typeface="Lexend Light"/>
            </a:endParaRPr>
          </a:p>
        </p:txBody>
      </p:sp>
      <p:sp>
        <p:nvSpPr>
          <p:cNvPr id="289" name="Google Shape;289;p44"/>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4</a:t>
            </a:r>
            <a:endParaRPr b="1">
              <a:latin typeface="Georama"/>
              <a:ea typeface="Georama"/>
              <a:cs typeface="Georama"/>
              <a:sym typeface="Georama"/>
            </a:endParaRPr>
          </a:p>
        </p:txBody>
      </p:sp>
      <p:sp>
        <p:nvSpPr>
          <p:cNvPr id="290" name="Google Shape;290;p44"/>
          <p:cNvSpPr txBox="1"/>
          <p:nvPr/>
        </p:nvSpPr>
        <p:spPr>
          <a:xfrm>
            <a:off x="921750" y="1384950"/>
            <a:ext cx="7300500" cy="301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a:t>
            </a:r>
            <a:r>
              <a:rPr lang="en" sz="1800">
                <a:solidFill>
                  <a:schemeClr val="dk1"/>
                </a:solidFill>
                <a:latin typeface="Georama"/>
                <a:ea typeface="Georama"/>
                <a:cs typeface="Georama"/>
                <a:sym typeface="Georama"/>
              </a:rPr>
              <a:t>Only plot H comes up in all four sets of four plots, and so asparagus, which is mentioned in all four clues, is in plot H. The two vegetables mentioned only once in the four clues—lettuce and peas—must be in plots B and K, in some order. The two vegetables mentioned twice in the clues—cucumbers and tomatoes—must be in F and L some order. The two vegetables mentioned three times in the clues—squash and turnips—must be in E and G, in some order.”</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Solution from </a:t>
            </a:r>
            <a:r>
              <a:rPr i="1" lang="en" sz="1800">
                <a:solidFill>
                  <a:schemeClr val="dk1"/>
                </a:solidFill>
                <a:latin typeface="Georama"/>
                <a:ea typeface="Georama"/>
                <a:cs typeface="Georama"/>
                <a:sym typeface="Georama"/>
              </a:rPr>
              <a:t>Montague Island Mysteries, </a:t>
            </a:r>
            <a:r>
              <a:rPr lang="en" sz="1800">
                <a:solidFill>
                  <a:schemeClr val="dk1"/>
                </a:solidFill>
                <a:latin typeface="Georama"/>
                <a:ea typeface="Georama"/>
                <a:cs typeface="Georama"/>
                <a:sym typeface="Georama"/>
              </a:rPr>
              <a:t>puzzle 4.4.</a:t>
            </a:r>
            <a:endParaRPr sz="1800">
              <a:solidFill>
                <a:schemeClr val="dk1"/>
              </a:solidFill>
              <a:latin typeface="Georama"/>
              <a:ea typeface="Georama"/>
              <a:cs typeface="Georama"/>
              <a:sym typeface="Georama"/>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4" name="Shape 294"/>
        <p:cNvGrpSpPr/>
        <p:nvPr/>
      </p:nvGrpSpPr>
      <p:grpSpPr>
        <a:xfrm>
          <a:off x="0" y="0"/>
          <a:ext cx="0" cy="0"/>
          <a:chOff x="0" y="0"/>
          <a:chExt cx="0" cy="0"/>
        </a:xfrm>
      </p:grpSpPr>
      <p:sp>
        <p:nvSpPr>
          <p:cNvPr id="295" name="Google Shape;295;p45"/>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Clr>
                <a:schemeClr val="dk1"/>
              </a:buClr>
              <a:buSzPts val="990"/>
              <a:buFont typeface="Arial"/>
              <a:buNone/>
            </a:pPr>
            <a:r>
              <a:rPr lang="en">
                <a:latin typeface="Lexend Light"/>
                <a:ea typeface="Lexend Light"/>
                <a:cs typeface="Lexend Light"/>
                <a:sym typeface="Lexend Light"/>
              </a:rPr>
              <a:t>Garden solutions</a:t>
            </a:r>
            <a:endParaRPr>
              <a:latin typeface="Lexend Light"/>
              <a:ea typeface="Lexend Light"/>
              <a:cs typeface="Lexend Light"/>
              <a:sym typeface="Lexend Light"/>
            </a:endParaRPr>
          </a:p>
        </p:txBody>
      </p:sp>
      <p:sp>
        <p:nvSpPr>
          <p:cNvPr id="296" name="Google Shape;296;p45"/>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4</a:t>
            </a:r>
            <a:endParaRPr b="1">
              <a:latin typeface="Georama"/>
              <a:ea typeface="Georama"/>
              <a:cs typeface="Georama"/>
              <a:sym typeface="Georama"/>
            </a:endParaRPr>
          </a:p>
        </p:txBody>
      </p:sp>
      <p:sp>
        <p:nvSpPr>
          <p:cNvPr id="297" name="Google Shape;297;p45"/>
          <p:cNvSpPr txBox="1"/>
          <p:nvPr/>
        </p:nvSpPr>
        <p:spPr>
          <a:xfrm>
            <a:off x="921750" y="1384950"/>
            <a:ext cx="7300500" cy="332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“We know the four vegetables in the corner plots (clue 5), so by elimination, plots D, I, and M hold cabbage, peppers, and potatoes, in some order. From clue 10, peppers and potatoes border one another and must be in I and M, and so plot D contains cabbage. Plots I and M both border H, so H can’t be Frank’s (clue 10), which means Frank’s plots are A and E, and Charles’s are H and M. Green beans, one of the four corner plot vegetables (clue 5), borders peppers (clue 10), so must be in N.”</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Solution from </a:t>
            </a:r>
            <a:r>
              <a:rPr i="1" lang="en" sz="1800">
                <a:solidFill>
                  <a:schemeClr val="dk1"/>
                </a:solidFill>
                <a:latin typeface="Georama"/>
                <a:ea typeface="Georama"/>
                <a:cs typeface="Georama"/>
                <a:sym typeface="Georama"/>
              </a:rPr>
              <a:t>Montague Island Mysteries, </a:t>
            </a:r>
            <a:r>
              <a:rPr lang="en" sz="1800">
                <a:solidFill>
                  <a:schemeClr val="dk1"/>
                </a:solidFill>
                <a:latin typeface="Georama"/>
                <a:ea typeface="Georama"/>
                <a:cs typeface="Georama"/>
                <a:sym typeface="Georama"/>
              </a:rPr>
              <a:t>puzzle 4.4.</a:t>
            </a:r>
            <a:endParaRPr sz="1800">
              <a:solidFill>
                <a:schemeClr val="dk1"/>
              </a:solidFill>
              <a:latin typeface="Georama"/>
              <a:ea typeface="Georama"/>
              <a:cs typeface="Georama"/>
              <a:sym typeface="Georama"/>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1" name="Shape 301"/>
        <p:cNvGrpSpPr/>
        <p:nvPr/>
      </p:nvGrpSpPr>
      <p:grpSpPr>
        <a:xfrm>
          <a:off x="0" y="0"/>
          <a:ext cx="0" cy="0"/>
          <a:chOff x="0" y="0"/>
          <a:chExt cx="0" cy="0"/>
        </a:xfrm>
      </p:grpSpPr>
      <p:sp>
        <p:nvSpPr>
          <p:cNvPr id="302" name="Google Shape;302;p46"/>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Garden solutions</a:t>
            </a:r>
            <a:endParaRPr>
              <a:latin typeface="Lexend Light"/>
              <a:ea typeface="Lexend Light"/>
              <a:cs typeface="Lexend Light"/>
              <a:sym typeface="Lexend Light"/>
            </a:endParaRPr>
          </a:p>
        </p:txBody>
      </p:sp>
      <p:sp>
        <p:nvSpPr>
          <p:cNvPr id="303" name="Google Shape;303;p46"/>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4</a:t>
            </a:r>
            <a:endParaRPr b="1">
              <a:latin typeface="Georama"/>
              <a:ea typeface="Georama"/>
              <a:cs typeface="Georama"/>
              <a:sym typeface="Georama"/>
            </a:endParaRPr>
          </a:p>
        </p:txBody>
      </p:sp>
      <p:sp>
        <p:nvSpPr>
          <p:cNvPr id="304" name="Google Shape;304;p46"/>
          <p:cNvSpPr txBox="1"/>
          <p:nvPr/>
        </p:nvSpPr>
        <p:spPr>
          <a:xfrm>
            <a:off x="921750" y="1384950"/>
            <a:ext cx="7300500" cy="332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“n clue 11, the plot of Jessica’s that borders the corner plot radishes cannot be I, since N is green beans, and must be F, which means that I is potatoes, C is radishes, and M is peppers. Since David’s plots (J and K) do not contain broccoli or lettuce (clue 12), J contains carrots and K contains peas; by elimination, broccoli is in A and lettuce is in B. And since David’s plots do not border squash or tomatoes (clue 12), G contains turnips, L contains cucumbers, E contains squash, and F contains tomatoes.”</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Solution from </a:t>
            </a:r>
            <a:r>
              <a:rPr i="1" lang="en" sz="1800">
                <a:solidFill>
                  <a:schemeClr val="dk1"/>
                </a:solidFill>
                <a:latin typeface="Georama"/>
                <a:ea typeface="Georama"/>
                <a:cs typeface="Georama"/>
                <a:sym typeface="Georama"/>
              </a:rPr>
              <a:t>Montague Island Mysteries, </a:t>
            </a:r>
            <a:r>
              <a:rPr lang="en" sz="1800">
                <a:solidFill>
                  <a:schemeClr val="dk1"/>
                </a:solidFill>
                <a:latin typeface="Georama"/>
                <a:ea typeface="Georama"/>
                <a:cs typeface="Georama"/>
                <a:sym typeface="Georama"/>
              </a:rPr>
              <a:t>puzzle 4.4.</a:t>
            </a:r>
            <a:endParaRPr sz="1800">
              <a:solidFill>
                <a:schemeClr val="dk1"/>
              </a:solidFill>
              <a:latin typeface="Georama"/>
              <a:ea typeface="Georama"/>
              <a:cs typeface="Georama"/>
              <a:sym typeface="Georama"/>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8" name="Shape 308"/>
        <p:cNvGrpSpPr/>
        <p:nvPr/>
      </p:nvGrpSpPr>
      <p:grpSpPr>
        <a:xfrm>
          <a:off x="0" y="0"/>
          <a:ext cx="0" cy="0"/>
          <a:chOff x="0" y="0"/>
          <a:chExt cx="0" cy="0"/>
        </a:xfrm>
      </p:grpSpPr>
      <p:sp>
        <p:nvSpPr>
          <p:cNvPr id="309" name="Google Shape;309;p47"/>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Garden solutions</a:t>
            </a:r>
            <a:endParaRPr>
              <a:latin typeface="Lexend Light"/>
              <a:ea typeface="Lexend Light"/>
              <a:cs typeface="Lexend Light"/>
              <a:sym typeface="Lexend Light"/>
            </a:endParaRPr>
          </a:p>
        </p:txBody>
      </p:sp>
      <p:sp>
        <p:nvSpPr>
          <p:cNvPr id="310" name="Google Shape;310;p47"/>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4</a:t>
            </a:r>
            <a:endParaRPr b="1">
              <a:latin typeface="Georama"/>
              <a:ea typeface="Georama"/>
              <a:cs typeface="Georama"/>
              <a:sym typeface="Georama"/>
            </a:endParaRPr>
          </a:p>
        </p:txBody>
      </p:sp>
      <p:sp>
        <p:nvSpPr>
          <p:cNvPr id="311" name="Google Shape;311;p47"/>
          <p:cNvSpPr txBox="1"/>
          <p:nvPr/>
        </p:nvSpPr>
        <p:spPr>
          <a:xfrm>
            <a:off x="921750" y="1384950"/>
            <a:ext cx="7300500" cy="301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“Beth: plots L (cucumbers) and N (green beans)</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Georama"/>
                <a:ea typeface="Georama"/>
                <a:cs typeface="Georama"/>
                <a:sym typeface="Georama"/>
              </a:rPr>
              <a:t>Charles: plots H (asparagus) and M (peppers)</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Georama"/>
                <a:ea typeface="Georama"/>
                <a:cs typeface="Georama"/>
                <a:sym typeface="Georama"/>
              </a:rPr>
              <a:t>David: plots J (carrots) and K (peas)</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Georama"/>
                <a:ea typeface="Georama"/>
                <a:cs typeface="Georama"/>
                <a:sym typeface="Georama"/>
              </a:rPr>
              <a:t>Frank: plots A (broccoli) and E (squash)</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Georama"/>
                <a:ea typeface="Georama"/>
                <a:cs typeface="Georama"/>
                <a:sym typeface="Georama"/>
              </a:rPr>
              <a:t>Jessica: plots F (tomatoes) and I (potatoes)</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Georama"/>
                <a:ea typeface="Georama"/>
                <a:cs typeface="Georama"/>
                <a:sym typeface="Georama"/>
              </a:rPr>
              <a:t>Karen: plots B (lettuce) and C (radishes)</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Taylor: plots D (cabbage) and G (turnips)”</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Solution from </a:t>
            </a:r>
            <a:r>
              <a:rPr i="1" lang="en" sz="1800">
                <a:solidFill>
                  <a:schemeClr val="dk1"/>
                </a:solidFill>
                <a:latin typeface="Georama"/>
                <a:ea typeface="Georama"/>
                <a:cs typeface="Georama"/>
                <a:sym typeface="Georama"/>
              </a:rPr>
              <a:t>Montague Island Mysteries, </a:t>
            </a:r>
            <a:r>
              <a:rPr lang="en" sz="1800">
                <a:solidFill>
                  <a:schemeClr val="dk1"/>
                </a:solidFill>
                <a:latin typeface="Georama"/>
                <a:ea typeface="Georama"/>
                <a:cs typeface="Georama"/>
                <a:sym typeface="Georama"/>
              </a:rPr>
              <a:t>puzzle 4.4.</a:t>
            </a:r>
            <a:endParaRPr sz="1800">
              <a:solidFill>
                <a:schemeClr val="dk1"/>
              </a:solidFill>
              <a:latin typeface="Georama"/>
              <a:ea typeface="Georama"/>
              <a:cs typeface="Georama"/>
              <a:sym typeface="Georama"/>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8"/>
          <p:cNvSpPr txBox="1"/>
          <p:nvPr>
            <p:ph type="ctrTitle"/>
          </p:nvPr>
        </p:nvSpPr>
        <p:spPr>
          <a:xfrm>
            <a:off x="311700" y="1781698"/>
            <a:ext cx="8520600" cy="1580100"/>
          </a:xfrm>
          <a:prstGeom prst="rect">
            <a:avLst/>
          </a:prstGeom>
        </p:spPr>
        <p:txBody>
          <a:bodyPr anchorCtr="0" anchor="ctr" bIns="91425" lIns="91425" spcFirstLastPara="1" rIns="91425" wrap="square" tIns="91425">
            <a:normAutofit/>
          </a:bodyPr>
          <a:lstStyle/>
          <a:p>
            <a:pPr indent="-558800" lvl="0" marL="457200" rtl="0" algn="ctr">
              <a:spcBef>
                <a:spcPts val="0"/>
              </a:spcBef>
              <a:spcAft>
                <a:spcPts val="0"/>
              </a:spcAft>
              <a:buSzPts val="5200"/>
              <a:buFont typeface="Lexend"/>
              <a:buAutoNum type="arabicPeriod" startAt="5"/>
            </a:pPr>
            <a:r>
              <a:rPr lang="en">
                <a:latin typeface="Lexend"/>
                <a:ea typeface="Lexend"/>
                <a:cs typeface="Lexend"/>
                <a:sym typeface="Lexend"/>
              </a:rPr>
              <a:t>Lying</a:t>
            </a:r>
            <a:r>
              <a:rPr lang="en">
                <a:latin typeface="Lexend"/>
                <a:ea typeface="Lexend"/>
                <a:cs typeface="Lexend"/>
                <a:sym typeface="Lexend"/>
              </a:rPr>
              <a:t> LGs</a:t>
            </a:r>
            <a:endParaRPr>
              <a:latin typeface="Lexend"/>
              <a:ea typeface="Lexend"/>
              <a:cs typeface="Lexend"/>
              <a:sym typeface="Lexend"/>
            </a:endParaRPr>
          </a:p>
        </p:txBody>
      </p:sp>
      <p:sp>
        <p:nvSpPr>
          <p:cNvPr id="317" name="Google Shape;317;p48"/>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5</a:t>
            </a:r>
            <a:endParaRPr b="1">
              <a:latin typeface="Georama"/>
              <a:ea typeface="Georama"/>
              <a:cs typeface="Georama"/>
              <a:sym typeface="Georama"/>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9"/>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Less useless logic grids</a:t>
            </a:r>
            <a:endParaRPr>
              <a:latin typeface="Lexend Light"/>
              <a:ea typeface="Lexend Light"/>
              <a:cs typeface="Lexend Light"/>
              <a:sym typeface="Lexend Light"/>
            </a:endParaRPr>
          </a:p>
        </p:txBody>
      </p:sp>
      <p:sp>
        <p:nvSpPr>
          <p:cNvPr id="323" name="Google Shape;323;p49"/>
          <p:cNvSpPr txBox="1"/>
          <p:nvPr/>
        </p:nvSpPr>
        <p:spPr>
          <a:xfrm>
            <a:off x="764988" y="1384550"/>
            <a:ext cx="3807000" cy="301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We now </a:t>
            </a:r>
            <a:r>
              <a:rPr lang="en" sz="1800">
                <a:solidFill>
                  <a:schemeClr val="dk1"/>
                </a:solidFill>
                <a:latin typeface="Georama"/>
                <a:ea typeface="Georama"/>
                <a:cs typeface="Georama"/>
                <a:sym typeface="Georama"/>
              </a:rPr>
              <a:t>only need:</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All categories </a:t>
            </a:r>
            <a:r>
              <a:rPr i="1" lang="en" sz="1800">
                <a:solidFill>
                  <a:schemeClr val="dk1"/>
                </a:solidFill>
                <a:latin typeface="Georama"/>
                <a:ea typeface="Georama"/>
                <a:cs typeface="Georama"/>
                <a:sym typeface="Georama"/>
              </a:rPr>
              <a:t>known</a:t>
            </a:r>
            <a:r>
              <a:rPr lang="en" sz="1800">
                <a:solidFill>
                  <a:schemeClr val="dk1"/>
                </a:solidFill>
                <a:latin typeface="Georama"/>
                <a:ea typeface="Georama"/>
                <a:cs typeface="Georama"/>
                <a:sym typeface="Georama"/>
              </a:rPr>
              <a:t>.</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All elements </a:t>
            </a:r>
            <a:r>
              <a:rPr i="1" lang="en" sz="1800">
                <a:solidFill>
                  <a:schemeClr val="dk1"/>
                </a:solidFill>
                <a:latin typeface="Georama"/>
                <a:ea typeface="Georama"/>
                <a:cs typeface="Georama"/>
                <a:sym typeface="Georama"/>
              </a:rPr>
              <a:t>known.</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All clues </a:t>
            </a:r>
            <a:r>
              <a:rPr i="1" lang="en" sz="1800">
                <a:solidFill>
                  <a:schemeClr val="dk1"/>
                </a:solidFill>
                <a:latin typeface="Georama"/>
                <a:ea typeface="Georama"/>
                <a:cs typeface="Georama"/>
                <a:sym typeface="Georama"/>
              </a:rPr>
              <a:t>correct</a:t>
            </a:r>
            <a:r>
              <a:rPr lang="en" sz="1800">
                <a:solidFill>
                  <a:schemeClr val="dk1"/>
                </a:solidFill>
                <a:latin typeface="Georama"/>
                <a:ea typeface="Georama"/>
                <a:cs typeface="Georama"/>
                <a:sym typeface="Georama"/>
              </a:rPr>
              <a:t>.</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i="1" lang="en" sz="1800">
                <a:solidFill>
                  <a:schemeClr val="dk1"/>
                </a:solidFill>
                <a:latin typeface="Georama"/>
                <a:ea typeface="Georama"/>
                <a:cs typeface="Georama"/>
                <a:sym typeface="Georama"/>
              </a:rPr>
              <a:t>Non-contradicting</a:t>
            </a:r>
            <a:r>
              <a:rPr lang="en" sz="1800">
                <a:solidFill>
                  <a:schemeClr val="dk1"/>
                </a:solidFill>
                <a:latin typeface="Georama"/>
                <a:ea typeface="Georama"/>
                <a:cs typeface="Georama"/>
                <a:sym typeface="Georama"/>
              </a:rPr>
              <a:t> clues.</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Clues result in a </a:t>
            </a:r>
            <a:r>
              <a:rPr i="1" lang="en" sz="1800">
                <a:solidFill>
                  <a:schemeClr val="dk1"/>
                </a:solidFill>
                <a:latin typeface="Georama"/>
                <a:ea typeface="Georama"/>
                <a:cs typeface="Georama"/>
                <a:sym typeface="Georama"/>
              </a:rPr>
              <a:t>solution</a:t>
            </a:r>
            <a:r>
              <a:rPr lang="en" sz="1800">
                <a:solidFill>
                  <a:schemeClr val="dk1"/>
                </a:solidFill>
                <a:latin typeface="Georama"/>
                <a:ea typeface="Georama"/>
                <a:cs typeface="Georama"/>
                <a:sym typeface="Georama"/>
              </a:rPr>
              <a:t>.</a:t>
            </a:r>
            <a:br>
              <a:rPr lang="en" sz="1800">
                <a:solidFill>
                  <a:schemeClr val="dk1"/>
                </a:solidFill>
                <a:latin typeface="Georama"/>
                <a:ea typeface="Georama"/>
                <a:cs typeface="Georama"/>
                <a:sym typeface="Georama"/>
              </a:rPr>
            </a:br>
            <a:r>
              <a:rPr lang="en" sz="1800">
                <a:solidFill>
                  <a:schemeClr val="dk1"/>
                </a:solidFill>
                <a:latin typeface="Georama"/>
                <a:ea typeface="Georama"/>
                <a:cs typeface="Georama"/>
                <a:sym typeface="Georama"/>
              </a:rPr>
              <a:t>(Ideally unique solution too.)</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p:txBody>
      </p:sp>
      <p:sp>
        <p:nvSpPr>
          <p:cNvPr id="324" name="Google Shape;324;p49"/>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5</a:t>
            </a:r>
            <a:endParaRPr b="1">
              <a:latin typeface="Georama"/>
              <a:ea typeface="Georama"/>
              <a:cs typeface="Georama"/>
              <a:sym typeface="Georama"/>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50"/>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Much less useless LGs</a:t>
            </a:r>
            <a:endParaRPr>
              <a:latin typeface="Lexend Light"/>
              <a:ea typeface="Lexend Light"/>
              <a:cs typeface="Lexend Light"/>
              <a:sym typeface="Lexend Light"/>
            </a:endParaRPr>
          </a:p>
        </p:txBody>
      </p:sp>
      <p:sp>
        <p:nvSpPr>
          <p:cNvPr id="330" name="Google Shape;330;p50"/>
          <p:cNvSpPr txBox="1"/>
          <p:nvPr/>
        </p:nvSpPr>
        <p:spPr>
          <a:xfrm>
            <a:off x="4571988" y="1384550"/>
            <a:ext cx="3807000" cy="301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We try to relax 3, 4, 5:</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startAt="3"/>
            </a:pPr>
            <a:r>
              <a:rPr lang="en" sz="1800">
                <a:solidFill>
                  <a:schemeClr val="dk1"/>
                </a:solidFill>
                <a:latin typeface="Georama"/>
                <a:ea typeface="Georama"/>
                <a:cs typeface="Georama"/>
                <a:sym typeface="Georama"/>
              </a:rPr>
              <a:t>Clue may be </a:t>
            </a:r>
            <a:r>
              <a:rPr i="1" lang="en" sz="1800">
                <a:solidFill>
                  <a:schemeClr val="dk1"/>
                </a:solidFill>
                <a:latin typeface="Georama"/>
                <a:ea typeface="Georama"/>
                <a:cs typeface="Georama"/>
                <a:sym typeface="Georama"/>
              </a:rPr>
              <a:t>incorrect</a:t>
            </a:r>
            <a:r>
              <a:rPr lang="en" sz="1800">
                <a:solidFill>
                  <a:schemeClr val="dk1"/>
                </a:solidFill>
                <a:latin typeface="Georama"/>
                <a:ea typeface="Georama"/>
                <a:cs typeface="Georama"/>
                <a:sym typeface="Georama"/>
              </a:rPr>
              <a:t>, but it is known </a:t>
            </a:r>
            <a:r>
              <a:rPr i="1" lang="en" sz="1800">
                <a:solidFill>
                  <a:schemeClr val="dk1"/>
                </a:solidFill>
                <a:latin typeface="Georama"/>
                <a:ea typeface="Georama"/>
                <a:cs typeface="Georama"/>
                <a:sym typeface="Georama"/>
              </a:rPr>
              <a:t>how many are incorrect</a:t>
            </a:r>
            <a:r>
              <a:rPr lang="en" sz="1800">
                <a:solidFill>
                  <a:schemeClr val="dk1"/>
                </a:solidFill>
                <a:latin typeface="Georama"/>
                <a:ea typeface="Georama"/>
                <a:cs typeface="Georama"/>
                <a:sym typeface="Georama"/>
              </a:rPr>
              <a:t>.</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startAt="3"/>
            </a:pPr>
            <a:r>
              <a:rPr lang="en" sz="1800">
                <a:solidFill>
                  <a:schemeClr val="dk1"/>
                </a:solidFill>
                <a:latin typeface="Georama"/>
                <a:ea typeface="Georama"/>
                <a:cs typeface="Georama"/>
                <a:sym typeface="Georama"/>
              </a:rPr>
              <a:t>Clues may </a:t>
            </a:r>
            <a:r>
              <a:rPr i="1" lang="en" sz="1800">
                <a:solidFill>
                  <a:schemeClr val="dk1"/>
                </a:solidFill>
                <a:latin typeface="Georama"/>
                <a:ea typeface="Georama"/>
                <a:cs typeface="Georama"/>
                <a:sym typeface="Georama"/>
              </a:rPr>
              <a:t>contradict</a:t>
            </a:r>
            <a:r>
              <a:rPr lang="en" sz="1800">
                <a:solidFill>
                  <a:schemeClr val="dk1"/>
                </a:solidFill>
                <a:latin typeface="Georama"/>
                <a:ea typeface="Georama"/>
                <a:cs typeface="Georama"/>
                <a:sym typeface="Georama"/>
              </a:rPr>
              <a:t>.</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startAt="3"/>
            </a:pPr>
            <a:r>
              <a:rPr lang="en" sz="1800">
                <a:solidFill>
                  <a:schemeClr val="dk1"/>
                </a:solidFill>
                <a:latin typeface="Georama"/>
                <a:ea typeface="Georama"/>
                <a:cs typeface="Georama"/>
                <a:sym typeface="Georama"/>
              </a:rPr>
              <a:t>Clues may result in </a:t>
            </a:r>
            <a:r>
              <a:rPr i="1" lang="en" sz="1800">
                <a:solidFill>
                  <a:schemeClr val="dk1"/>
                </a:solidFill>
                <a:latin typeface="Georama"/>
                <a:ea typeface="Georama"/>
                <a:cs typeface="Georama"/>
                <a:sym typeface="Georama"/>
              </a:rPr>
              <a:t>no solution</a:t>
            </a:r>
            <a:r>
              <a:rPr lang="en" sz="1800">
                <a:solidFill>
                  <a:schemeClr val="dk1"/>
                </a:solidFill>
                <a:latin typeface="Georama"/>
                <a:ea typeface="Georama"/>
                <a:cs typeface="Georama"/>
                <a:sym typeface="Georama"/>
              </a:rPr>
              <a:t>, but there exists a </a:t>
            </a:r>
            <a:r>
              <a:rPr i="1" lang="en" sz="1800">
                <a:solidFill>
                  <a:schemeClr val="dk1"/>
                </a:solidFill>
                <a:latin typeface="Georama"/>
                <a:ea typeface="Georama"/>
                <a:cs typeface="Georama"/>
                <a:sym typeface="Georama"/>
              </a:rPr>
              <a:t>subset</a:t>
            </a:r>
            <a:r>
              <a:rPr lang="en" sz="1800">
                <a:solidFill>
                  <a:schemeClr val="dk1"/>
                </a:solidFill>
                <a:latin typeface="Georama"/>
                <a:ea typeface="Georama"/>
                <a:cs typeface="Georama"/>
                <a:sym typeface="Georama"/>
              </a:rPr>
              <a:t> of clues that result in a solution, satisfying &gt;= # correct clues.</a:t>
            </a:r>
            <a:endParaRPr sz="1800">
              <a:solidFill>
                <a:schemeClr val="dk1"/>
              </a:solidFill>
              <a:latin typeface="Georama"/>
              <a:ea typeface="Georama"/>
              <a:cs typeface="Georama"/>
              <a:sym typeface="Georama"/>
            </a:endParaRPr>
          </a:p>
        </p:txBody>
      </p:sp>
      <p:sp>
        <p:nvSpPr>
          <p:cNvPr id="331" name="Google Shape;331;p50"/>
          <p:cNvSpPr txBox="1"/>
          <p:nvPr/>
        </p:nvSpPr>
        <p:spPr>
          <a:xfrm>
            <a:off x="764988" y="1384550"/>
            <a:ext cx="3807000" cy="301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We now only need:</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All categories </a:t>
            </a:r>
            <a:r>
              <a:rPr i="1" lang="en" sz="1800">
                <a:solidFill>
                  <a:schemeClr val="dk1"/>
                </a:solidFill>
                <a:latin typeface="Georama"/>
                <a:ea typeface="Georama"/>
                <a:cs typeface="Georama"/>
                <a:sym typeface="Georama"/>
              </a:rPr>
              <a:t>known</a:t>
            </a:r>
            <a:r>
              <a:rPr lang="en" sz="1800">
                <a:solidFill>
                  <a:schemeClr val="dk1"/>
                </a:solidFill>
                <a:latin typeface="Georama"/>
                <a:ea typeface="Georama"/>
                <a:cs typeface="Georama"/>
                <a:sym typeface="Georama"/>
              </a:rPr>
              <a:t>.</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All elements </a:t>
            </a:r>
            <a:r>
              <a:rPr i="1" lang="en" sz="1800">
                <a:solidFill>
                  <a:schemeClr val="dk1"/>
                </a:solidFill>
                <a:latin typeface="Georama"/>
                <a:ea typeface="Georama"/>
                <a:cs typeface="Georama"/>
                <a:sym typeface="Georama"/>
              </a:rPr>
              <a:t>known</a:t>
            </a:r>
            <a:r>
              <a:rPr lang="en" sz="1800">
                <a:solidFill>
                  <a:schemeClr val="dk1"/>
                </a:solidFill>
                <a:latin typeface="Georama"/>
                <a:ea typeface="Georama"/>
                <a:cs typeface="Georama"/>
                <a:sym typeface="Georama"/>
              </a:rPr>
              <a:t>.</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All clues </a:t>
            </a:r>
            <a:r>
              <a:rPr i="1" lang="en" sz="1800">
                <a:solidFill>
                  <a:schemeClr val="dk1"/>
                </a:solidFill>
                <a:latin typeface="Georama"/>
                <a:ea typeface="Georama"/>
                <a:cs typeface="Georama"/>
                <a:sym typeface="Georama"/>
              </a:rPr>
              <a:t>correct</a:t>
            </a:r>
            <a:r>
              <a:rPr lang="en" sz="1800">
                <a:solidFill>
                  <a:schemeClr val="dk1"/>
                </a:solidFill>
                <a:latin typeface="Georama"/>
                <a:ea typeface="Georama"/>
                <a:cs typeface="Georama"/>
                <a:sym typeface="Georama"/>
              </a:rPr>
              <a:t>.</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i="1" lang="en" sz="1800">
                <a:solidFill>
                  <a:schemeClr val="dk1"/>
                </a:solidFill>
                <a:latin typeface="Georama"/>
                <a:ea typeface="Georama"/>
                <a:cs typeface="Georama"/>
                <a:sym typeface="Georama"/>
              </a:rPr>
              <a:t>Non-contradicting</a:t>
            </a:r>
            <a:r>
              <a:rPr lang="en" sz="1800">
                <a:solidFill>
                  <a:schemeClr val="dk1"/>
                </a:solidFill>
                <a:latin typeface="Georama"/>
                <a:ea typeface="Georama"/>
                <a:cs typeface="Georama"/>
                <a:sym typeface="Georama"/>
              </a:rPr>
              <a:t> clues.</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Clues result in a </a:t>
            </a:r>
            <a:r>
              <a:rPr i="1" lang="en" sz="1800">
                <a:solidFill>
                  <a:schemeClr val="dk1"/>
                </a:solidFill>
                <a:latin typeface="Georama"/>
                <a:ea typeface="Georama"/>
                <a:cs typeface="Georama"/>
                <a:sym typeface="Georama"/>
              </a:rPr>
              <a:t>solution</a:t>
            </a:r>
            <a:r>
              <a:rPr lang="en" sz="1800">
                <a:solidFill>
                  <a:schemeClr val="dk1"/>
                </a:solidFill>
                <a:latin typeface="Georama"/>
                <a:ea typeface="Georama"/>
                <a:cs typeface="Georama"/>
                <a:sym typeface="Georama"/>
              </a:rPr>
              <a:t>.</a:t>
            </a:r>
            <a:br>
              <a:rPr lang="en" sz="1800">
                <a:solidFill>
                  <a:schemeClr val="dk1"/>
                </a:solidFill>
                <a:latin typeface="Georama"/>
                <a:ea typeface="Georama"/>
                <a:cs typeface="Georama"/>
                <a:sym typeface="Georama"/>
              </a:rPr>
            </a:br>
            <a:r>
              <a:rPr lang="en" sz="1800">
                <a:solidFill>
                  <a:schemeClr val="dk1"/>
                </a:solidFill>
                <a:latin typeface="Georama"/>
                <a:ea typeface="Georama"/>
                <a:cs typeface="Georama"/>
                <a:sym typeface="Georama"/>
              </a:rPr>
              <a:t>(Ideally unique solution too.)</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p:txBody>
      </p:sp>
      <p:sp>
        <p:nvSpPr>
          <p:cNvPr id="332" name="Google Shape;332;p50"/>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5</a:t>
            </a:r>
            <a:endParaRPr b="1">
              <a:latin typeface="Georama"/>
              <a:ea typeface="Georama"/>
              <a:cs typeface="Georama"/>
              <a:sym typeface="Georama"/>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51"/>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Murder mystery</a:t>
            </a:r>
            <a:endParaRPr>
              <a:latin typeface="Lexend Light"/>
              <a:ea typeface="Lexend Light"/>
              <a:cs typeface="Lexend Light"/>
              <a:sym typeface="Lexend Light"/>
            </a:endParaRPr>
          </a:p>
        </p:txBody>
      </p:sp>
      <p:sp>
        <p:nvSpPr>
          <p:cNvPr id="338" name="Google Shape;338;p51"/>
          <p:cNvSpPr txBox="1"/>
          <p:nvPr/>
        </p:nvSpPr>
        <p:spPr>
          <a:xfrm>
            <a:off x="765000" y="1384550"/>
            <a:ext cx="3807000" cy="2692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A murder has occured! Alistair the butler is innocent, but one of the staff and one of guests are guilty!</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Guilty statements can’t be trusted.</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All other statements are true!</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Who is the guilty staff member?</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Who is the guilty guest?</a:t>
            </a:r>
            <a:endParaRPr sz="1800">
              <a:solidFill>
                <a:schemeClr val="dk1"/>
              </a:solidFill>
              <a:latin typeface="Georama"/>
              <a:ea typeface="Georama"/>
              <a:cs typeface="Georama"/>
              <a:sym typeface="Georama"/>
            </a:endParaRPr>
          </a:p>
        </p:txBody>
      </p:sp>
      <p:sp>
        <p:nvSpPr>
          <p:cNvPr id="339" name="Google Shape;339;p51"/>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5</a:t>
            </a:r>
            <a:endParaRPr b="1">
              <a:latin typeface="Georama"/>
              <a:ea typeface="Georama"/>
              <a:cs typeface="Georama"/>
              <a:sym typeface="Georama"/>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52"/>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Murder mystery</a:t>
            </a:r>
            <a:endParaRPr>
              <a:latin typeface="Lexend Light"/>
              <a:ea typeface="Lexend Light"/>
              <a:cs typeface="Lexend Light"/>
              <a:sym typeface="Lexend Light"/>
            </a:endParaRPr>
          </a:p>
        </p:txBody>
      </p:sp>
      <p:sp>
        <p:nvSpPr>
          <p:cNvPr id="345" name="Google Shape;345;p52"/>
          <p:cNvSpPr txBox="1"/>
          <p:nvPr/>
        </p:nvSpPr>
        <p:spPr>
          <a:xfrm>
            <a:off x="765000" y="1384550"/>
            <a:ext cx="3858900" cy="301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Georama"/>
                <a:ea typeface="Georama"/>
                <a:cs typeface="Georama"/>
                <a:sym typeface="Georama"/>
              </a:rPr>
              <a:t>A murder has occured! Alistair the butler is innocent, but one of the staff and one of guests are guilty!</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Georama"/>
                <a:ea typeface="Georama"/>
                <a:cs typeface="Georama"/>
                <a:sym typeface="Georama"/>
              </a:rPr>
              <a:t>Guilty statements can’t be trusted.</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All other statements are true!</a:t>
            </a:r>
            <a:r>
              <a:rPr lang="en" sz="1800">
                <a:solidFill>
                  <a:schemeClr val="dk1"/>
                </a:solidFill>
                <a:latin typeface="Georama"/>
                <a:ea typeface="Georama"/>
                <a:cs typeface="Georama"/>
                <a:sym typeface="Georama"/>
              </a:rPr>
              <a:t> Who is the guilty staff member and guest?</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Puzzle from </a:t>
            </a:r>
            <a:r>
              <a:rPr i="1" lang="en" sz="1800">
                <a:solidFill>
                  <a:schemeClr val="dk1"/>
                </a:solidFill>
                <a:latin typeface="Georama"/>
                <a:ea typeface="Georama"/>
                <a:cs typeface="Georama"/>
                <a:sym typeface="Georama"/>
              </a:rPr>
              <a:t>Montague Island Mysteries</a:t>
            </a:r>
            <a:r>
              <a:rPr lang="en" sz="1800">
                <a:solidFill>
                  <a:schemeClr val="dk1"/>
                </a:solidFill>
                <a:latin typeface="Georama"/>
                <a:ea typeface="Georama"/>
                <a:cs typeface="Georama"/>
                <a:sym typeface="Georama"/>
              </a:rPr>
              <a:t>, puzzle 12.4.	</a:t>
            </a:r>
            <a:endParaRPr sz="1800">
              <a:solidFill>
                <a:schemeClr val="dk1"/>
              </a:solidFill>
              <a:latin typeface="Georama"/>
              <a:ea typeface="Georama"/>
              <a:cs typeface="Georama"/>
              <a:sym typeface="Georama"/>
            </a:endParaRPr>
          </a:p>
        </p:txBody>
      </p:sp>
      <p:sp>
        <p:nvSpPr>
          <p:cNvPr id="346" name="Google Shape;346;p52"/>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5</a:t>
            </a:r>
            <a:endParaRPr b="1">
              <a:latin typeface="Georama"/>
              <a:ea typeface="Georama"/>
              <a:cs typeface="Georama"/>
              <a:sym typeface="Georama"/>
            </a:endParaRPr>
          </a:p>
        </p:txBody>
      </p:sp>
      <p:pic>
        <p:nvPicPr>
          <p:cNvPr id="347" name="Google Shape;347;p52"/>
          <p:cNvPicPr preferRelativeResize="0"/>
          <p:nvPr/>
        </p:nvPicPr>
        <p:blipFill>
          <a:blip r:embed="rId3">
            <a:alphaModFix/>
          </a:blip>
          <a:stretch>
            <a:fillRect/>
          </a:stretch>
        </p:blipFill>
        <p:spPr>
          <a:xfrm>
            <a:off x="4807024" y="1384550"/>
            <a:ext cx="3249025" cy="321167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3"/>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Grid</a:t>
            </a:r>
            <a:r>
              <a:rPr lang="en">
                <a:latin typeface="Lexend Light"/>
                <a:ea typeface="Lexend Light"/>
                <a:cs typeface="Lexend Light"/>
                <a:sym typeface="Lexend Light"/>
              </a:rPr>
              <a:t> mystery</a:t>
            </a:r>
            <a:endParaRPr>
              <a:latin typeface="Lexend Light"/>
              <a:ea typeface="Lexend Light"/>
              <a:cs typeface="Lexend Light"/>
              <a:sym typeface="Lexend Light"/>
            </a:endParaRPr>
          </a:p>
        </p:txBody>
      </p:sp>
      <p:sp>
        <p:nvSpPr>
          <p:cNvPr id="353" name="Google Shape;353;p53"/>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5</a:t>
            </a:r>
            <a:endParaRPr b="1">
              <a:latin typeface="Georama"/>
              <a:ea typeface="Georama"/>
              <a:cs typeface="Georama"/>
              <a:sym typeface="Georama"/>
            </a:endParaRPr>
          </a:p>
        </p:txBody>
      </p:sp>
      <p:pic>
        <p:nvPicPr>
          <p:cNvPr id="354" name="Google Shape;354;p53"/>
          <p:cNvPicPr preferRelativeResize="0"/>
          <p:nvPr/>
        </p:nvPicPr>
        <p:blipFill>
          <a:blip r:embed="rId3">
            <a:alphaModFix/>
          </a:blip>
          <a:stretch>
            <a:fillRect/>
          </a:stretch>
        </p:blipFill>
        <p:spPr>
          <a:xfrm>
            <a:off x="4571988" y="1171254"/>
            <a:ext cx="3759267" cy="3667445"/>
          </a:xfrm>
          <a:prstGeom prst="rect">
            <a:avLst/>
          </a:prstGeom>
          <a:noFill/>
          <a:ln>
            <a:noFill/>
          </a:ln>
        </p:spPr>
      </p:pic>
      <p:sp>
        <p:nvSpPr>
          <p:cNvPr id="355" name="Google Shape;355;p53"/>
          <p:cNvSpPr txBox="1"/>
          <p:nvPr/>
        </p:nvSpPr>
        <p:spPr>
          <a:xfrm>
            <a:off x="765000" y="1384550"/>
            <a:ext cx="3807000" cy="2692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If a statement is corroborated by two or </a:t>
            </a:r>
            <a:r>
              <a:rPr lang="en" sz="1800">
                <a:solidFill>
                  <a:schemeClr val="dk1"/>
                </a:solidFill>
                <a:latin typeface="Georama"/>
                <a:ea typeface="Georama"/>
                <a:cs typeface="Georama"/>
                <a:sym typeface="Georama"/>
              </a:rPr>
              <a:t>more guests (or staff), it must be true.</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Repeatedly applying this fact on guests, then staff, and then guests and staff again with newly gained information gives the solution.</a:t>
            </a:r>
            <a:endParaRPr sz="1800">
              <a:solidFill>
                <a:schemeClr val="dk1"/>
              </a:solidFill>
              <a:latin typeface="Georama"/>
              <a:ea typeface="Georama"/>
              <a:cs typeface="Georama"/>
              <a:sym typeface="Georama"/>
            </a:endParaRPr>
          </a:p>
        </p:txBody>
      </p:sp>
      <p:sp>
        <p:nvSpPr>
          <p:cNvPr id="356" name="Google Shape;356;p53"/>
          <p:cNvSpPr/>
          <p:nvPr/>
        </p:nvSpPr>
        <p:spPr>
          <a:xfrm>
            <a:off x="5715000" y="2276475"/>
            <a:ext cx="2533500" cy="2448000"/>
          </a:xfrm>
          <a:prstGeom prst="rect">
            <a:avLst/>
          </a:prstGeom>
          <a:solidFill>
            <a:schemeClr val="lt1"/>
          </a:solidFill>
          <a:ln>
            <a:noFill/>
          </a:ln>
          <a:effectLst>
            <a:outerShdw blurRad="57150" rotWithShape="0" algn="bl" dir="5400000" dist="9525">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Lexend"/>
                <a:ea typeface="Lexend"/>
                <a:cs typeface="Lexend"/>
                <a:sym typeface="Lexend"/>
              </a:rPr>
              <a:t>?</a:t>
            </a:r>
            <a:endParaRPr sz="3000">
              <a:latin typeface="Lexend"/>
              <a:ea typeface="Lexend"/>
              <a:cs typeface="Lexend"/>
              <a:sym typeface="Lexen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0" name="Shape 360"/>
        <p:cNvGrpSpPr/>
        <p:nvPr/>
      </p:nvGrpSpPr>
      <p:grpSpPr>
        <a:xfrm>
          <a:off x="0" y="0"/>
          <a:ext cx="0" cy="0"/>
          <a:chOff x="0" y="0"/>
          <a:chExt cx="0" cy="0"/>
        </a:xfrm>
      </p:grpSpPr>
      <p:sp>
        <p:nvSpPr>
          <p:cNvPr id="361" name="Google Shape;361;p54"/>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Mystery</a:t>
            </a:r>
            <a:r>
              <a:rPr lang="en">
                <a:latin typeface="Lexend Light"/>
                <a:ea typeface="Lexend Light"/>
                <a:cs typeface="Lexend Light"/>
                <a:sym typeface="Lexend Light"/>
              </a:rPr>
              <a:t> solutions</a:t>
            </a:r>
            <a:endParaRPr>
              <a:latin typeface="Lexend Light"/>
              <a:ea typeface="Lexend Light"/>
              <a:cs typeface="Lexend Light"/>
              <a:sym typeface="Lexend Light"/>
            </a:endParaRPr>
          </a:p>
        </p:txBody>
      </p:sp>
      <p:sp>
        <p:nvSpPr>
          <p:cNvPr id="362" name="Google Shape;362;p54"/>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5</a:t>
            </a:r>
            <a:endParaRPr b="1">
              <a:latin typeface="Georama"/>
              <a:ea typeface="Georama"/>
              <a:cs typeface="Georama"/>
              <a:sym typeface="Georama"/>
            </a:endParaRPr>
          </a:p>
        </p:txBody>
      </p:sp>
      <p:sp>
        <p:nvSpPr>
          <p:cNvPr id="363" name="Google Shape;363;p54"/>
          <p:cNvSpPr txBox="1"/>
          <p:nvPr/>
        </p:nvSpPr>
        <p:spPr>
          <a:xfrm>
            <a:off x="921750" y="1384950"/>
            <a:ext cx="7300500" cy="2055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“Molly and Frank are guilty. </a:t>
            </a:r>
            <a:r>
              <a:rPr lang="en" sz="1800">
                <a:solidFill>
                  <a:schemeClr val="dk1"/>
                </a:solidFill>
                <a:latin typeface="Georama"/>
                <a:ea typeface="Georama"/>
                <a:cs typeface="Georama"/>
                <a:sym typeface="Georama"/>
              </a:rPr>
              <a:t>One solving method is to place an S in a box in the grid to indicate that a staff member has made a statement ruling out that pair, and to place a G in a box to indicate that a guest has made a statement ruling out that pair.”</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Solution</a:t>
            </a:r>
            <a:r>
              <a:rPr lang="en" sz="1800">
                <a:solidFill>
                  <a:schemeClr val="dk1"/>
                </a:solidFill>
                <a:latin typeface="Georama"/>
                <a:ea typeface="Georama"/>
                <a:cs typeface="Georama"/>
                <a:sym typeface="Georama"/>
              </a:rPr>
              <a:t> from </a:t>
            </a:r>
            <a:r>
              <a:rPr i="1" lang="en" sz="1800">
                <a:solidFill>
                  <a:schemeClr val="dk1"/>
                </a:solidFill>
                <a:latin typeface="Georama"/>
                <a:ea typeface="Georama"/>
                <a:cs typeface="Georama"/>
                <a:sym typeface="Georama"/>
              </a:rPr>
              <a:t>Montague Island Mysteries</a:t>
            </a:r>
            <a:r>
              <a:rPr lang="en" sz="1800">
                <a:solidFill>
                  <a:schemeClr val="dk1"/>
                </a:solidFill>
                <a:latin typeface="Georama"/>
                <a:ea typeface="Georama"/>
                <a:cs typeface="Georama"/>
                <a:sym typeface="Georama"/>
              </a:rPr>
              <a:t>, puzzle 12.4.	</a:t>
            </a:r>
            <a:endParaRPr sz="1800">
              <a:solidFill>
                <a:schemeClr val="dk1"/>
              </a:solidFill>
              <a:latin typeface="Georama"/>
              <a:ea typeface="Georama"/>
              <a:cs typeface="Georama"/>
              <a:sym typeface="Georama"/>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7" name="Shape 367"/>
        <p:cNvGrpSpPr/>
        <p:nvPr/>
      </p:nvGrpSpPr>
      <p:grpSpPr>
        <a:xfrm>
          <a:off x="0" y="0"/>
          <a:ext cx="0" cy="0"/>
          <a:chOff x="0" y="0"/>
          <a:chExt cx="0" cy="0"/>
        </a:xfrm>
      </p:grpSpPr>
      <p:sp>
        <p:nvSpPr>
          <p:cNvPr id="368" name="Google Shape;368;p55"/>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Mystery solutions</a:t>
            </a:r>
            <a:endParaRPr>
              <a:latin typeface="Lexend Light"/>
              <a:ea typeface="Lexend Light"/>
              <a:cs typeface="Lexend Light"/>
              <a:sym typeface="Lexend Light"/>
            </a:endParaRPr>
          </a:p>
        </p:txBody>
      </p:sp>
      <p:sp>
        <p:nvSpPr>
          <p:cNvPr id="369" name="Google Shape;369;p55"/>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5</a:t>
            </a:r>
            <a:endParaRPr b="1">
              <a:latin typeface="Georama"/>
              <a:ea typeface="Georama"/>
              <a:cs typeface="Georama"/>
              <a:sym typeface="Georama"/>
            </a:endParaRPr>
          </a:p>
        </p:txBody>
      </p:sp>
      <p:sp>
        <p:nvSpPr>
          <p:cNvPr id="370" name="Google Shape;370;p55"/>
          <p:cNvSpPr txBox="1"/>
          <p:nvPr/>
        </p:nvSpPr>
        <p:spPr>
          <a:xfrm>
            <a:off x="921750" y="1384950"/>
            <a:ext cx="7300500" cy="2055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“Every pairing but one can be eliminated by statements from two staff members or by statements from two guests. The exception is Molly and Frank, each of whose statements eliminates the Molly–Frank pairing but is never corroborated by anyone else. They must be the guilty pair.”</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Solution from </a:t>
            </a:r>
            <a:r>
              <a:rPr i="1" lang="en" sz="1800">
                <a:solidFill>
                  <a:schemeClr val="dk1"/>
                </a:solidFill>
                <a:latin typeface="Georama"/>
                <a:ea typeface="Georama"/>
                <a:cs typeface="Georama"/>
                <a:sym typeface="Georama"/>
              </a:rPr>
              <a:t>Montague Island Mysteries</a:t>
            </a:r>
            <a:r>
              <a:rPr lang="en" sz="1800">
                <a:solidFill>
                  <a:schemeClr val="dk1"/>
                </a:solidFill>
                <a:latin typeface="Georama"/>
                <a:ea typeface="Georama"/>
                <a:cs typeface="Georama"/>
                <a:sym typeface="Georama"/>
              </a:rPr>
              <a:t>, puzzle 12.4.	</a:t>
            </a:r>
            <a:endParaRPr sz="1800">
              <a:solidFill>
                <a:schemeClr val="dk1"/>
              </a:solidFill>
              <a:latin typeface="Georama"/>
              <a:ea typeface="Georama"/>
              <a:cs typeface="Georama"/>
              <a:sym typeface="Georama"/>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4" name="Shape 374"/>
        <p:cNvGrpSpPr/>
        <p:nvPr/>
      </p:nvGrpSpPr>
      <p:grpSpPr>
        <a:xfrm>
          <a:off x="0" y="0"/>
          <a:ext cx="0" cy="0"/>
          <a:chOff x="0" y="0"/>
          <a:chExt cx="0" cy="0"/>
        </a:xfrm>
      </p:grpSpPr>
      <p:sp>
        <p:nvSpPr>
          <p:cNvPr id="375" name="Google Shape;375;p56"/>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Mystery solutions</a:t>
            </a:r>
            <a:endParaRPr>
              <a:latin typeface="Lexend Light"/>
              <a:ea typeface="Lexend Light"/>
              <a:cs typeface="Lexend Light"/>
              <a:sym typeface="Lexend Light"/>
            </a:endParaRPr>
          </a:p>
        </p:txBody>
      </p:sp>
      <p:sp>
        <p:nvSpPr>
          <p:cNvPr id="376" name="Google Shape;376;p56"/>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5</a:t>
            </a:r>
            <a:endParaRPr b="1">
              <a:latin typeface="Georama"/>
              <a:ea typeface="Georama"/>
              <a:cs typeface="Georama"/>
              <a:sym typeface="Georama"/>
            </a:endParaRPr>
          </a:p>
        </p:txBody>
      </p:sp>
      <p:sp>
        <p:nvSpPr>
          <p:cNvPr id="377" name="Google Shape;377;p56"/>
          <p:cNvSpPr txBox="1"/>
          <p:nvPr/>
        </p:nvSpPr>
        <p:spPr>
          <a:xfrm>
            <a:off x="921750" y="1384950"/>
            <a:ext cx="7300500" cy="2692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“Alternatively, c</a:t>
            </a:r>
            <a:r>
              <a:rPr lang="en" sz="1800">
                <a:solidFill>
                  <a:schemeClr val="dk1"/>
                </a:solidFill>
                <a:latin typeface="Georama"/>
                <a:ea typeface="Georama"/>
                <a:cs typeface="Georama"/>
                <a:sym typeface="Georama"/>
              </a:rPr>
              <a:t>onsider all possible pairs of accomplices consisting of a staff member and a guest. Since Alistair can be trusted, his statement eliminates the possible pairs Evelyn–Jessica and Sandy–Jessica as being accomplices. The other statements by staff and guests eliminate various possibilities, but without certainty since any individual could be lying.</a:t>
            </a:r>
            <a:r>
              <a:rPr lang="en" sz="1800">
                <a:solidFill>
                  <a:schemeClr val="dk1"/>
                </a:solidFill>
                <a:latin typeface="Georama"/>
                <a:ea typeface="Georama"/>
                <a:cs typeface="Georama"/>
                <a:sym typeface="Georama"/>
              </a:rPr>
              <a:t>”</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Solution from </a:t>
            </a:r>
            <a:r>
              <a:rPr i="1" lang="en" sz="1800">
                <a:solidFill>
                  <a:schemeClr val="dk1"/>
                </a:solidFill>
                <a:latin typeface="Georama"/>
                <a:ea typeface="Georama"/>
                <a:cs typeface="Georama"/>
                <a:sym typeface="Georama"/>
              </a:rPr>
              <a:t>Montague Island Mysteries</a:t>
            </a:r>
            <a:r>
              <a:rPr lang="en" sz="1800">
                <a:solidFill>
                  <a:schemeClr val="dk1"/>
                </a:solidFill>
                <a:latin typeface="Georama"/>
                <a:ea typeface="Georama"/>
                <a:cs typeface="Georama"/>
                <a:sym typeface="Georama"/>
              </a:rPr>
              <a:t>, puzzle 12.4.	</a:t>
            </a:r>
            <a:endParaRPr sz="1800">
              <a:solidFill>
                <a:schemeClr val="dk1"/>
              </a:solidFill>
              <a:latin typeface="Georama"/>
              <a:ea typeface="Georama"/>
              <a:cs typeface="Georama"/>
              <a:sym typeface="Georama"/>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1" name="Shape 381"/>
        <p:cNvGrpSpPr/>
        <p:nvPr/>
      </p:nvGrpSpPr>
      <p:grpSpPr>
        <a:xfrm>
          <a:off x="0" y="0"/>
          <a:ext cx="0" cy="0"/>
          <a:chOff x="0" y="0"/>
          <a:chExt cx="0" cy="0"/>
        </a:xfrm>
      </p:grpSpPr>
      <p:sp>
        <p:nvSpPr>
          <p:cNvPr id="382" name="Google Shape;382;p57"/>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Mystery solutions</a:t>
            </a:r>
            <a:endParaRPr>
              <a:latin typeface="Lexend Light"/>
              <a:ea typeface="Lexend Light"/>
              <a:cs typeface="Lexend Light"/>
              <a:sym typeface="Lexend Light"/>
            </a:endParaRPr>
          </a:p>
        </p:txBody>
      </p:sp>
      <p:sp>
        <p:nvSpPr>
          <p:cNvPr id="383" name="Google Shape;383;p57"/>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5</a:t>
            </a:r>
            <a:endParaRPr b="1">
              <a:latin typeface="Georama"/>
              <a:ea typeface="Georama"/>
              <a:cs typeface="Georama"/>
              <a:sym typeface="Georama"/>
            </a:endParaRPr>
          </a:p>
        </p:txBody>
      </p:sp>
      <p:sp>
        <p:nvSpPr>
          <p:cNvPr id="384" name="Google Shape;384;p57"/>
          <p:cNvSpPr txBox="1"/>
          <p:nvPr/>
        </p:nvSpPr>
        <p:spPr>
          <a:xfrm>
            <a:off x="921750" y="1384950"/>
            <a:ext cx="7300500" cy="2692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“But since only one staff member and one guest are guilty, corroboration of a fact by two staff members or by two guests is sufficient to confirm a fact. So, for example, when Evelyn says, “If Beth is guilty, then so is either Grant or Lyle,” the pairings Beth–Evelyn, Beth–Molly, and Beth–Sandy can be partially eliminated, subject to corroboration by another staff member.”</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Solution from </a:t>
            </a:r>
            <a:r>
              <a:rPr i="1" lang="en" sz="1800">
                <a:solidFill>
                  <a:schemeClr val="dk1"/>
                </a:solidFill>
                <a:latin typeface="Georama"/>
                <a:ea typeface="Georama"/>
                <a:cs typeface="Georama"/>
                <a:sym typeface="Georama"/>
              </a:rPr>
              <a:t>Montague Island Mysteries</a:t>
            </a:r>
            <a:r>
              <a:rPr lang="en" sz="1800">
                <a:solidFill>
                  <a:schemeClr val="dk1"/>
                </a:solidFill>
                <a:latin typeface="Georama"/>
                <a:ea typeface="Georama"/>
                <a:cs typeface="Georama"/>
                <a:sym typeface="Georama"/>
              </a:rPr>
              <a:t>, puzzle 12.4.	</a:t>
            </a:r>
            <a:endParaRPr sz="1800">
              <a:solidFill>
                <a:schemeClr val="dk1"/>
              </a:solidFill>
              <a:latin typeface="Georama"/>
              <a:ea typeface="Georama"/>
              <a:cs typeface="Georama"/>
              <a:sym typeface="Georama"/>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58"/>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Murder no mystery</a:t>
            </a:r>
            <a:endParaRPr>
              <a:latin typeface="Lexend Light"/>
              <a:ea typeface="Lexend Light"/>
              <a:cs typeface="Lexend Light"/>
              <a:sym typeface="Lexend Light"/>
            </a:endParaRPr>
          </a:p>
        </p:txBody>
      </p:sp>
      <p:sp>
        <p:nvSpPr>
          <p:cNvPr id="390" name="Google Shape;390;p58"/>
          <p:cNvSpPr txBox="1"/>
          <p:nvPr/>
        </p:nvSpPr>
        <p:spPr>
          <a:xfrm>
            <a:off x="623875" y="1342225"/>
            <a:ext cx="7614000" cy="237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We can generalize the technique; If there are </a:t>
            </a:r>
            <a:r>
              <a:rPr i="1" lang="en" sz="1800">
                <a:solidFill>
                  <a:schemeClr val="dk1"/>
                </a:solidFill>
                <a:latin typeface="Georama"/>
                <a:ea typeface="Georama"/>
                <a:cs typeface="Georama"/>
                <a:sym typeface="Georama"/>
              </a:rPr>
              <a:t>k</a:t>
            </a:r>
            <a:r>
              <a:rPr lang="en" sz="1800">
                <a:solidFill>
                  <a:schemeClr val="dk1"/>
                </a:solidFill>
                <a:latin typeface="Georama"/>
                <a:ea typeface="Georama"/>
                <a:cs typeface="Georama"/>
                <a:sym typeface="Georama"/>
              </a:rPr>
              <a:t> liars in a category, find all claims corroborated by </a:t>
            </a:r>
            <a:r>
              <a:rPr i="1" lang="en" sz="1800">
                <a:solidFill>
                  <a:schemeClr val="dk1"/>
                </a:solidFill>
                <a:latin typeface="Georama"/>
                <a:ea typeface="Georama"/>
                <a:cs typeface="Georama"/>
                <a:sym typeface="Georama"/>
              </a:rPr>
              <a:t>k+1</a:t>
            </a:r>
            <a:r>
              <a:rPr lang="en" sz="1800">
                <a:solidFill>
                  <a:schemeClr val="dk1"/>
                </a:solidFill>
                <a:latin typeface="Georama"/>
                <a:ea typeface="Georama"/>
                <a:cs typeface="Georama"/>
                <a:sym typeface="Georama"/>
              </a:rPr>
              <a:t> claims in the category.</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Repeat this for each category. Afterwards, do it again taking the new information into account until a solution is </a:t>
            </a:r>
            <a:r>
              <a:rPr lang="en" sz="1800">
                <a:solidFill>
                  <a:schemeClr val="dk1"/>
                </a:solidFill>
                <a:latin typeface="Georama"/>
                <a:ea typeface="Georama"/>
                <a:cs typeface="Georama"/>
                <a:sym typeface="Georama"/>
              </a:rPr>
              <a:t>found.</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Question: What if the number of liars is unknown?</a:t>
            </a:r>
            <a:endParaRPr sz="1800">
              <a:solidFill>
                <a:schemeClr val="dk1"/>
              </a:solidFill>
              <a:latin typeface="Georama"/>
              <a:ea typeface="Georama"/>
              <a:cs typeface="Georama"/>
              <a:sym typeface="Georama"/>
            </a:endParaRPr>
          </a:p>
        </p:txBody>
      </p:sp>
      <p:sp>
        <p:nvSpPr>
          <p:cNvPr id="391" name="Google Shape;391;p58"/>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5</a:t>
            </a:r>
            <a:endParaRPr b="1">
              <a:latin typeface="Georama"/>
              <a:ea typeface="Georama"/>
              <a:cs typeface="Georama"/>
              <a:sym typeface="Georama"/>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59"/>
          <p:cNvSpPr txBox="1"/>
          <p:nvPr>
            <p:ph type="ctrTitle"/>
          </p:nvPr>
        </p:nvSpPr>
        <p:spPr>
          <a:xfrm>
            <a:off x="311700" y="1781698"/>
            <a:ext cx="8520600" cy="1580100"/>
          </a:xfrm>
          <a:prstGeom prst="rect">
            <a:avLst/>
          </a:prstGeom>
        </p:spPr>
        <p:txBody>
          <a:bodyPr anchorCtr="0" anchor="ctr" bIns="91425" lIns="91425" spcFirstLastPara="1" rIns="91425" wrap="square" tIns="91425">
            <a:normAutofit/>
          </a:bodyPr>
          <a:lstStyle/>
          <a:p>
            <a:pPr indent="-558800" lvl="0" marL="457200" rtl="0" algn="ctr">
              <a:spcBef>
                <a:spcPts val="0"/>
              </a:spcBef>
              <a:spcAft>
                <a:spcPts val="0"/>
              </a:spcAft>
              <a:buSzPts val="5200"/>
              <a:buFont typeface="Lexend"/>
              <a:buAutoNum type="arabicPeriod" startAt="6"/>
            </a:pPr>
            <a:r>
              <a:rPr lang="en">
                <a:latin typeface="Lexend"/>
                <a:ea typeface="Lexend"/>
                <a:cs typeface="Lexend"/>
                <a:sym typeface="Lexend"/>
              </a:rPr>
              <a:t>Bounded lying LGs</a:t>
            </a:r>
            <a:endParaRPr>
              <a:latin typeface="Lexend"/>
              <a:ea typeface="Lexend"/>
              <a:cs typeface="Lexend"/>
              <a:sym typeface="Lexend"/>
            </a:endParaRPr>
          </a:p>
        </p:txBody>
      </p:sp>
      <p:sp>
        <p:nvSpPr>
          <p:cNvPr id="397" name="Google Shape;397;p59"/>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6</a:t>
            </a:r>
            <a:endParaRPr b="1">
              <a:latin typeface="Georama"/>
              <a:ea typeface="Georama"/>
              <a:cs typeface="Georama"/>
              <a:sym typeface="Georama"/>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60"/>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Far less</a:t>
            </a:r>
            <a:r>
              <a:rPr lang="en">
                <a:latin typeface="Lexend Light"/>
                <a:ea typeface="Lexend Light"/>
                <a:cs typeface="Lexend Light"/>
                <a:sym typeface="Lexend Light"/>
              </a:rPr>
              <a:t> useless LGs</a:t>
            </a:r>
            <a:endParaRPr>
              <a:latin typeface="Lexend Light"/>
              <a:ea typeface="Lexend Light"/>
              <a:cs typeface="Lexend Light"/>
              <a:sym typeface="Lexend Light"/>
            </a:endParaRPr>
          </a:p>
        </p:txBody>
      </p:sp>
      <p:sp>
        <p:nvSpPr>
          <p:cNvPr id="403" name="Google Shape;403;p60"/>
          <p:cNvSpPr txBox="1"/>
          <p:nvPr/>
        </p:nvSpPr>
        <p:spPr>
          <a:xfrm>
            <a:off x="4571988" y="1384550"/>
            <a:ext cx="3807000" cy="1736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Let’s try to relax 3 further:</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startAt="3"/>
            </a:pPr>
            <a:r>
              <a:rPr lang="en" sz="1800">
                <a:solidFill>
                  <a:schemeClr val="dk1"/>
                </a:solidFill>
                <a:latin typeface="Georama"/>
                <a:ea typeface="Georama"/>
                <a:cs typeface="Georama"/>
                <a:sym typeface="Georama"/>
              </a:rPr>
              <a:t>Clue may be </a:t>
            </a:r>
            <a:r>
              <a:rPr i="1" lang="en" sz="1800">
                <a:solidFill>
                  <a:schemeClr val="dk1"/>
                </a:solidFill>
                <a:latin typeface="Georama"/>
                <a:ea typeface="Georama"/>
                <a:cs typeface="Georama"/>
                <a:sym typeface="Georama"/>
              </a:rPr>
              <a:t>incorrect</a:t>
            </a:r>
            <a:r>
              <a:rPr lang="en" sz="1800">
                <a:solidFill>
                  <a:schemeClr val="dk1"/>
                </a:solidFill>
                <a:latin typeface="Georama"/>
                <a:ea typeface="Georama"/>
                <a:cs typeface="Georama"/>
                <a:sym typeface="Georama"/>
              </a:rPr>
              <a:t>, but there is a non-maximal bound on how many are incorrect.</a:t>
            </a:r>
            <a:endParaRPr sz="1800">
              <a:solidFill>
                <a:schemeClr val="dk1"/>
              </a:solidFill>
              <a:latin typeface="Georama"/>
              <a:ea typeface="Georama"/>
              <a:cs typeface="Georama"/>
              <a:sym typeface="Georama"/>
            </a:endParaRPr>
          </a:p>
        </p:txBody>
      </p:sp>
      <p:sp>
        <p:nvSpPr>
          <p:cNvPr id="404" name="Google Shape;404;p60"/>
          <p:cNvSpPr txBox="1"/>
          <p:nvPr/>
        </p:nvSpPr>
        <p:spPr>
          <a:xfrm>
            <a:off x="764988" y="1384550"/>
            <a:ext cx="3807000" cy="3966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We now only need:</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All categories </a:t>
            </a:r>
            <a:r>
              <a:rPr i="1" lang="en" sz="1800">
                <a:solidFill>
                  <a:schemeClr val="dk1"/>
                </a:solidFill>
                <a:latin typeface="Georama"/>
                <a:ea typeface="Georama"/>
                <a:cs typeface="Georama"/>
                <a:sym typeface="Georama"/>
              </a:rPr>
              <a:t>known</a:t>
            </a:r>
            <a:r>
              <a:rPr lang="en" sz="1800">
                <a:solidFill>
                  <a:schemeClr val="dk1"/>
                </a:solidFill>
                <a:latin typeface="Georama"/>
                <a:ea typeface="Georama"/>
                <a:cs typeface="Georama"/>
                <a:sym typeface="Georama"/>
              </a:rPr>
              <a:t>.</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All elements </a:t>
            </a:r>
            <a:r>
              <a:rPr i="1" lang="en" sz="1800">
                <a:solidFill>
                  <a:schemeClr val="dk1"/>
                </a:solidFill>
                <a:latin typeface="Georama"/>
                <a:ea typeface="Georama"/>
                <a:cs typeface="Georama"/>
                <a:sym typeface="Georama"/>
              </a:rPr>
              <a:t>known</a:t>
            </a:r>
            <a:r>
              <a:rPr lang="en" sz="1800">
                <a:solidFill>
                  <a:schemeClr val="dk1"/>
                </a:solidFill>
                <a:latin typeface="Georama"/>
                <a:ea typeface="Georama"/>
                <a:cs typeface="Georama"/>
                <a:sym typeface="Georama"/>
              </a:rPr>
              <a:t>.</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Clue may be </a:t>
            </a:r>
            <a:r>
              <a:rPr i="1" lang="en" sz="1800">
                <a:solidFill>
                  <a:schemeClr val="dk1"/>
                </a:solidFill>
                <a:latin typeface="Georama"/>
                <a:ea typeface="Georama"/>
                <a:cs typeface="Georama"/>
                <a:sym typeface="Georama"/>
              </a:rPr>
              <a:t>incorrect</a:t>
            </a:r>
            <a:r>
              <a:rPr lang="en" sz="1800">
                <a:solidFill>
                  <a:schemeClr val="dk1"/>
                </a:solidFill>
                <a:latin typeface="Georama"/>
                <a:ea typeface="Georama"/>
                <a:cs typeface="Georama"/>
                <a:sym typeface="Georama"/>
              </a:rPr>
              <a:t>, but it is known </a:t>
            </a:r>
            <a:r>
              <a:rPr i="1" lang="en" sz="1800">
                <a:solidFill>
                  <a:schemeClr val="dk1"/>
                </a:solidFill>
                <a:latin typeface="Georama"/>
                <a:ea typeface="Georama"/>
                <a:cs typeface="Georama"/>
                <a:sym typeface="Georama"/>
              </a:rPr>
              <a:t>how many are incorrect</a:t>
            </a:r>
            <a:r>
              <a:rPr lang="en" sz="1800">
                <a:solidFill>
                  <a:schemeClr val="dk1"/>
                </a:solidFill>
                <a:latin typeface="Georama"/>
                <a:ea typeface="Georama"/>
                <a:cs typeface="Georama"/>
                <a:sym typeface="Georama"/>
              </a:rPr>
              <a:t>.</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Clues may </a:t>
            </a:r>
            <a:r>
              <a:rPr i="1" lang="en" sz="1800">
                <a:solidFill>
                  <a:schemeClr val="dk1"/>
                </a:solidFill>
                <a:latin typeface="Georama"/>
                <a:ea typeface="Georama"/>
                <a:cs typeface="Georama"/>
                <a:sym typeface="Georama"/>
              </a:rPr>
              <a:t>contradict</a:t>
            </a:r>
            <a:r>
              <a:rPr lang="en" sz="1800">
                <a:solidFill>
                  <a:schemeClr val="dk1"/>
                </a:solidFill>
                <a:latin typeface="Georama"/>
                <a:ea typeface="Georama"/>
                <a:cs typeface="Georama"/>
                <a:sym typeface="Georama"/>
              </a:rPr>
              <a:t>.</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Clues may result in </a:t>
            </a:r>
            <a:r>
              <a:rPr i="1" lang="en" sz="1800">
                <a:solidFill>
                  <a:schemeClr val="dk1"/>
                </a:solidFill>
                <a:latin typeface="Georama"/>
                <a:ea typeface="Georama"/>
                <a:cs typeface="Georama"/>
                <a:sym typeface="Georama"/>
              </a:rPr>
              <a:t>no solution</a:t>
            </a:r>
            <a:r>
              <a:rPr lang="en" sz="1800">
                <a:solidFill>
                  <a:schemeClr val="dk1"/>
                </a:solidFill>
                <a:latin typeface="Georama"/>
                <a:ea typeface="Georama"/>
                <a:cs typeface="Georama"/>
                <a:sym typeface="Georama"/>
              </a:rPr>
              <a:t>, but there exists a </a:t>
            </a:r>
            <a:r>
              <a:rPr i="1" lang="en" sz="1800">
                <a:solidFill>
                  <a:schemeClr val="dk1"/>
                </a:solidFill>
                <a:latin typeface="Georama"/>
                <a:ea typeface="Georama"/>
                <a:cs typeface="Georama"/>
                <a:sym typeface="Georama"/>
              </a:rPr>
              <a:t>subset</a:t>
            </a:r>
            <a:r>
              <a:rPr lang="en" sz="1800">
                <a:solidFill>
                  <a:schemeClr val="dk1"/>
                </a:solidFill>
                <a:latin typeface="Georama"/>
                <a:ea typeface="Georama"/>
                <a:cs typeface="Georama"/>
                <a:sym typeface="Georama"/>
              </a:rPr>
              <a:t> of clues that result in a solution, satisfying &gt;= # correct clues.</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p:txBody>
      </p:sp>
      <p:sp>
        <p:nvSpPr>
          <p:cNvPr id="405" name="Google Shape;405;p60"/>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6</a:t>
            </a:r>
            <a:endParaRPr b="1">
              <a:latin typeface="Georama"/>
              <a:ea typeface="Georama"/>
              <a:cs typeface="Georama"/>
              <a:sym typeface="Georama"/>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61"/>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Pilfer puzzle</a:t>
            </a:r>
            <a:endParaRPr>
              <a:latin typeface="Lexend Light"/>
              <a:ea typeface="Lexend Light"/>
              <a:cs typeface="Lexend Light"/>
              <a:sym typeface="Lexend Light"/>
            </a:endParaRPr>
          </a:p>
        </p:txBody>
      </p:sp>
      <p:sp>
        <p:nvSpPr>
          <p:cNvPr id="411" name="Google Shape;411;p61"/>
          <p:cNvSpPr txBox="1"/>
          <p:nvPr/>
        </p:nvSpPr>
        <p:spPr>
          <a:xfrm>
            <a:off x="765000" y="1384550"/>
            <a:ext cx="3807000" cy="332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A robbery has occurred in the same mansion! Fewer than 4 guests were the thieves. Their statements may be true or false. All other statements are true!</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Police investigation has also shown that neither Danny nor Brianna makes a true statement unless he or she is innocent.</a:t>
            </a:r>
            <a:endParaRPr sz="1800">
              <a:solidFill>
                <a:schemeClr val="dk1"/>
              </a:solidFill>
              <a:latin typeface="Georama"/>
              <a:ea typeface="Georama"/>
              <a:cs typeface="Georama"/>
              <a:sym typeface="Georama"/>
            </a:endParaRPr>
          </a:p>
        </p:txBody>
      </p:sp>
      <p:sp>
        <p:nvSpPr>
          <p:cNvPr id="412" name="Google Shape;412;p61"/>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6</a:t>
            </a:r>
            <a:endParaRPr b="1">
              <a:latin typeface="Georama"/>
              <a:ea typeface="Georama"/>
              <a:cs typeface="Georama"/>
              <a:sym typeface="Georama"/>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62"/>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Pilfer puzzle</a:t>
            </a:r>
            <a:endParaRPr>
              <a:latin typeface="Lexend Light"/>
              <a:ea typeface="Lexend Light"/>
              <a:cs typeface="Lexend Light"/>
              <a:sym typeface="Lexend Light"/>
            </a:endParaRPr>
          </a:p>
        </p:txBody>
      </p:sp>
      <p:sp>
        <p:nvSpPr>
          <p:cNvPr id="418" name="Google Shape;418;p62"/>
          <p:cNvSpPr txBox="1"/>
          <p:nvPr/>
        </p:nvSpPr>
        <p:spPr>
          <a:xfrm>
            <a:off x="765000" y="1384550"/>
            <a:ext cx="3807000" cy="332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A robbery has </a:t>
            </a:r>
            <a:r>
              <a:rPr lang="en" sz="1800">
                <a:solidFill>
                  <a:schemeClr val="dk1"/>
                </a:solidFill>
                <a:latin typeface="Georama"/>
                <a:ea typeface="Georama"/>
                <a:cs typeface="Georama"/>
                <a:sym typeface="Georama"/>
              </a:rPr>
              <a:t>occurred</a:t>
            </a:r>
            <a:r>
              <a:rPr lang="en" sz="1800">
                <a:solidFill>
                  <a:schemeClr val="dk1"/>
                </a:solidFill>
                <a:latin typeface="Georama"/>
                <a:ea typeface="Georama"/>
                <a:cs typeface="Georama"/>
                <a:sym typeface="Georama"/>
              </a:rPr>
              <a:t> in the same mansion! Fewer than 4 guests were the thieves. Their statements may be true or false. All other statements are true!</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Police investigation has also shown that neither Danny nor Brianna makes a true statement unless he or she is innocent.</a:t>
            </a:r>
            <a:endParaRPr sz="1800">
              <a:solidFill>
                <a:schemeClr val="dk1"/>
              </a:solidFill>
              <a:latin typeface="Georama"/>
              <a:ea typeface="Georama"/>
              <a:cs typeface="Georama"/>
              <a:sym typeface="Georama"/>
            </a:endParaRPr>
          </a:p>
        </p:txBody>
      </p:sp>
      <p:sp>
        <p:nvSpPr>
          <p:cNvPr id="419" name="Google Shape;419;p62"/>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6</a:t>
            </a:r>
            <a:endParaRPr b="1">
              <a:latin typeface="Georama"/>
              <a:ea typeface="Georama"/>
              <a:cs typeface="Georama"/>
              <a:sym typeface="Georama"/>
            </a:endParaRPr>
          </a:p>
        </p:txBody>
      </p:sp>
      <p:sp>
        <p:nvSpPr>
          <p:cNvPr id="420" name="Google Shape;420;p62"/>
          <p:cNvSpPr txBox="1"/>
          <p:nvPr/>
        </p:nvSpPr>
        <p:spPr>
          <a:xfrm>
            <a:off x="4572000" y="1384550"/>
            <a:ext cx="3807000" cy="301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Hints:</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There is a fast way to find out the # of thieves.</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Start with Danny and Brianna’s clues first.</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At least one of the thieves is not lying</a:t>
            </a:r>
            <a:r>
              <a:rPr lang="en" sz="1800">
                <a:solidFill>
                  <a:schemeClr val="dk1"/>
                </a:solidFill>
                <a:latin typeface="Georama"/>
                <a:ea typeface="Georama"/>
                <a:cs typeface="Georama"/>
                <a:sym typeface="Georama"/>
              </a:rPr>
              <a:t>; this thief must be identified through elimination.</a:t>
            </a:r>
            <a:endParaRPr sz="1800">
              <a:solidFill>
                <a:schemeClr val="dk1"/>
              </a:solidFill>
              <a:latin typeface="Georama"/>
              <a:ea typeface="Georama"/>
              <a:cs typeface="Georama"/>
              <a:sym typeface="Georama"/>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63"/>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Pilfer puzzle</a:t>
            </a:r>
            <a:endParaRPr>
              <a:latin typeface="Lexend Light"/>
              <a:ea typeface="Lexend Light"/>
              <a:cs typeface="Lexend Light"/>
              <a:sym typeface="Lexend Light"/>
            </a:endParaRPr>
          </a:p>
        </p:txBody>
      </p:sp>
      <p:sp>
        <p:nvSpPr>
          <p:cNvPr id="426" name="Google Shape;426;p63"/>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6</a:t>
            </a:r>
            <a:endParaRPr b="1">
              <a:latin typeface="Georama"/>
              <a:ea typeface="Georama"/>
              <a:cs typeface="Georama"/>
              <a:sym typeface="Georama"/>
            </a:endParaRPr>
          </a:p>
        </p:txBody>
      </p:sp>
      <p:sp>
        <p:nvSpPr>
          <p:cNvPr id="427" name="Google Shape;427;p63"/>
          <p:cNvSpPr txBox="1"/>
          <p:nvPr/>
        </p:nvSpPr>
        <p:spPr>
          <a:xfrm>
            <a:off x="921750" y="1171250"/>
            <a:ext cx="7300500" cy="301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There are </a:t>
            </a:r>
            <a:r>
              <a:rPr b="1" lang="en" sz="1800">
                <a:solidFill>
                  <a:schemeClr val="dk1"/>
                </a:solidFill>
                <a:latin typeface="Georama"/>
                <a:ea typeface="Georama"/>
                <a:cs typeface="Georama"/>
                <a:sym typeface="Georama"/>
              </a:rPr>
              <a:t>3 thieves</a:t>
            </a:r>
            <a:r>
              <a:rPr lang="en" sz="1800">
                <a:solidFill>
                  <a:schemeClr val="dk1"/>
                </a:solidFill>
                <a:latin typeface="Georama"/>
                <a:ea typeface="Georama"/>
                <a:cs typeface="Georama"/>
                <a:sym typeface="Georama"/>
              </a:rPr>
              <a:t>, else there are more </a:t>
            </a:r>
            <a:r>
              <a:rPr lang="en" sz="1800">
                <a:solidFill>
                  <a:schemeClr val="dk1"/>
                </a:solidFill>
                <a:latin typeface="Georama"/>
                <a:ea typeface="Georama"/>
                <a:cs typeface="Georama"/>
                <a:sym typeface="Georama"/>
              </a:rPr>
              <a:t>false</a:t>
            </a:r>
            <a:r>
              <a:rPr lang="en" sz="1800">
                <a:solidFill>
                  <a:schemeClr val="dk1"/>
                </a:solidFill>
                <a:latin typeface="Georama"/>
                <a:ea typeface="Georama"/>
                <a:cs typeface="Georama"/>
                <a:sym typeface="Georama"/>
              </a:rPr>
              <a:t> statements than thieves.</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Aria: Either Brianna or Cheryl is guilty, but not both.</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Brianna: Cheryl is innocent, and there were </a:t>
            </a:r>
            <a:r>
              <a:rPr b="1" lang="en" sz="1800">
                <a:solidFill>
                  <a:schemeClr val="dk1"/>
                </a:solidFill>
                <a:latin typeface="Georama"/>
                <a:ea typeface="Georama"/>
                <a:cs typeface="Georama"/>
                <a:sym typeface="Georama"/>
              </a:rPr>
              <a:t>three thieves</a:t>
            </a:r>
            <a:r>
              <a:rPr lang="en" sz="1800">
                <a:solidFill>
                  <a:schemeClr val="dk1"/>
                </a:solidFill>
                <a:latin typeface="Georama"/>
                <a:ea typeface="Georama"/>
                <a:cs typeface="Georama"/>
                <a:sym typeface="Georama"/>
              </a:rPr>
              <a:t>.</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Cheryl: Steven is innocent, and there were </a:t>
            </a:r>
            <a:r>
              <a:rPr b="1" lang="en" sz="1800">
                <a:solidFill>
                  <a:schemeClr val="dk1"/>
                </a:solidFill>
                <a:latin typeface="Georama"/>
                <a:ea typeface="Georama"/>
                <a:cs typeface="Georama"/>
                <a:sym typeface="Georama"/>
              </a:rPr>
              <a:t>three thieves</a:t>
            </a:r>
            <a:r>
              <a:rPr lang="en" sz="1800">
                <a:solidFill>
                  <a:schemeClr val="dk1"/>
                </a:solidFill>
                <a:latin typeface="Georama"/>
                <a:ea typeface="Georama"/>
                <a:cs typeface="Georama"/>
                <a:sym typeface="Georama"/>
              </a:rPr>
              <a:t>.</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Danny: Either Kelly or Steven is guilty, but not both.</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Kelly: I am innocent, and there were </a:t>
            </a:r>
            <a:r>
              <a:rPr b="1" lang="en" sz="1800">
                <a:solidFill>
                  <a:schemeClr val="dk1"/>
                </a:solidFill>
                <a:latin typeface="Georama"/>
                <a:ea typeface="Georama"/>
                <a:cs typeface="Georama"/>
                <a:sym typeface="Georama"/>
              </a:rPr>
              <a:t>two thieves</a:t>
            </a:r>
            <a:r>
              <a:rPr lang="en" sz="1800">
                <a:solidFill>
                  <a:schemeClr val="dk1"/>
                </a:solidFill>
                <a:latin typeface="Georama"/>
                <a:ea typeface="Georama"/>
                <a:cs typeface="Georama"/>
                <a:sym typeface="Georama"/>
              </a:rPr>
              <a:t>.</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Steven: I am innocent, and there were </a:t>
            </a:r>
            <a:r>
              <a:rPr b="1" lang="en" sz="1800">
                <a:solidFill>
                  <a:schemeClr val="dk1"/>
                </a:solidFill>
                <a:latin typeface="Georama"/>
                <a:ea typeface="Georama"/>
                <a:cs typeface="Georama"/>
                <a:sym typeface="Georama"/>
              </a:rPr>
              <a:t>three thieves</a:t>
            </a:r>
            <a:r>
              <a:rPr lang="en" sz="1800">
                <a:solidFill>
                  <a:schemeClr val="dk1"/>
                </a:solidFill>
                <a:latin typeface="Georama"/>
                <a:ea typeface="Georama"/>
                <a:cs typeface="Georama"/>
                <a:sym typeface="Georama"/>
              </a:rPr>
              <a:t>.</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Taylor: </a:t>
            </a:r>
            <a:r>
              <a:rPr b="1" lang="en" sz="1800">
                <a:solidFill>
                  <a:schemeClr val="dk1"/>
                </a:solidFill>
                <a:latin typeface="Georama"/>
                <a:ea typeface="Georama"/>
                <a:cs typeface="Georama"/>
                <a:sym typeface="Georama"/>
              </a:rPr>
              <a:t>Either Aria or Danny is lying</a:t>
            </a:r>
            <a:r>
              <a:rPr lang="en" sz="1800">
                <a:solidFill>
                  <a:schemeClr val="dk1"/>
                </a:solidFill>
                <a:latin typeface="Georama"/>
                <a:ea typeface="Georama"/>
                <a:cs typeface="Georama"/>
                <a:sym typeface="Georama"/>
              </a:rPr>
              <a:t>, but not both.</a:t>
            </a:r>
            <a:endParaRPr sz="1800">
              <a:solidFill>
                <a:schemeClr val="dk1"/>
              </a:solidFill>
              <a:latin typeface="Georama"/>
              <a:ea typeface="Georama"/>
              <a:cs typeface="Georama"/>
              <a:sym typeface="Georama"/>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1" name="Shape 431"/>
        <p:cNvGrpSpPr/>
        <p:nvPr/>
      </p:nvGrpSpPr>
      <p:grpSpPr>
        <a:xfrm>
          <a:off x="0" y="0"/>
          <a:ext cx="0" cy="0"/>
          <a:chOff x="0" y="0"/>
          <a:chExt cx="0" cy="0"/>
        </a:xfrm>
      </p:grpSpPr>
      <p:sp>
        <p:nvSpPr>
          <p:cNvPr id="432" name="Google Shape;432;p64"/>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Pilfer solutions</a:t>
            </a:r>
            <a:endParaRPr>
              <a:latin typeface="Lexend Light"/>
              <a:ea typeface="Lexend Light"/>
              <a:cs typeface="Lexend Light"/>
              <a:sym typeface="Lexend Light"/>
            </a:endParaRPr>
          </a:p>
        </p:txBody>
      </p:sp>
      <p:sp>
        <p:nvSpPr>
          <p:cNvPr id="433" name="Google Shape;433;p64"/>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6</a:t>
            </a:r>
            <a:endParaRPr b="1">
              <a:latin typeface="Georama"/>
              <a:ea typeface="Georama"/>
              <a:cs typeface="Georama"/>
              <a:sym typeface="Georama"/>
            </a:endParaRPr>
          </a:p>
        </p:txBody>
      </p:sp>
      <p:sp>
        <p:nvSpPr>
          <p:cNvPr id="434" name="Google Shape;434;p64"/>
          <p:cNvSpPr txBox="1"/>
          <p:nvPr/>
        </p:nvSpPr>
        <p:spPr>
          <a:xfrm>
            <a:off x="921750" y="1384950"/>
            <a:ext cx="7300500" cy="237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a:t>
            </a:r>
            <a:r>
              <a:rPr lang="en" sz="1800">
                <a:solidFill>
                  <a:schemeClr val="dk1"/>
                </a:solidFill>
                <a:latin typeface="Georama"/>
                <a:ea typeface="Georama"/>
                <a:cs typeface="Georama"/>
                <a:sym typeface="Georama"/>
              </a:rPr>
              <a:t>Aria, Kelly, and Taylor are the thieves. Taylor’s statement is true, but Aria’s and Kelly’s are false. Per clue 1, there were fewer than four thieves. If there were one or two thieves, there would be more false statements than thieves, which is impossible, so there were three thieves, and Kelly’s statement is false and she is guilty.</a:t>
            </a:r>
            <a:r>
              <a:rPr lang="en" sz="1800">
                <a:solidFill>
                  <a:schemeClr val="dk1"/>
                </a:solidFill>
                <a:latin typeface="Georama"/>
                <a:ea typeface="Georama"/>
                <a:cs typeface="Georama"/>
                <a:sym typeface="Georama"/>
              </a:rPr>
              <a:t>”</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Solution </a:t>
            </a:r>
            <a:r>
              <a:rPr lang="en" sz="1800">
                <a:solidFill>
                  <a:schemeClr val="dk1"/>
                </a:solidFill>
                <a:latin typeface="Georama"/>
                <a:ea typeface="Georama"/>
                <a:cs typeface="Georama"/>
                <a:sym typeface="Georama"/>
              </a:rPr>
              <a:t>from </a:t>
            </a:r>
            <a:r>
              <a:rPr i="1" lang="en" sz="1800">
                <a:solidFill>
                  <a:schemeClr val="dk1"/>
                </a:solidFill>
                <a:latin typeface="Georama"/>
                <a:ea typeface="Georama"/>
                <a:cs typeface="Georama"/>
                <a:sym typeface="Georama"/>
              </a:rPr>
              <a:t>Beyond Montague Island</a:t>
            </a:r>
            <a:r>
              <a:rPr lang="en" sz="1800">
                <a:solidFill>
                  <a:schemeClr val="dk1"/>
                </a:solidFill>
                <a:latin typeface="Georama"/>
                <a:ea typeface="Georama"/>
                <a:cs typeface="Georama"/>
                <a:sym typeface="Georama"/>
              </a:rPr>
              <a:t>, puzzle 9.1.</a:t>
            </a:r>
            <a:endParaRPr sz="1800">
              <a:solidFill>
                <a:schemeClr val="dk1"/>
              </a:solidFill>
              <a:latin typeface="Georama"/>
              <a:ea typeface="Georama"/>
              <a:cs typeface="Georama"/>
              <a:sym typeface="Georama"/>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8" name="Shape 438"/>
        <p:cNvGrpSpPr/>
        <p:nvPr/>
      </p:nvGrpSpPr>
      <p:grpSpPr>
        <a:xfrm>
          <a:off x="0" y="0"/>
          <a:ext cx="0" cy="0"/>
          <a:chOff x="0" y="0"/>
          <a:chExt cx="0" cy="0"/>
        </a:xfrm>
      </p:grpSpPr>
      <p:sp>
        <p:nvSpPr>
          <p:cNvPr id="439" name="Google Shape;439;p65"/>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Pilfer solutions</a:t>
            </a:r>
            <a:endParaRPr>
              <a:latin typeface="Lexend Light"/>
              <a:ea typeface="Lexend Light"/>
              <a:cs typeface="Lexend Light"/>
              <a:sym typeface="Lexend Light"/>
            </a:endParaRPr>
          </a:p>
        </p:txBody>
      </p:sp>
      <p:sp>
        <p:nvSpPr>
          <p:cNvPr id="440" name="Google Shape;440;p65"/>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6</a:t>
            </a:r>
            <a:endParaRPr b="1">
              <a:latin typeface="Georama"/>
              <a:ea typeface="Georama"/>
              <a:cs typeface="Georama"/>
              <a:sym typeface="Georama"/>
            </a:endParaRPr>
          </a:p>
        </p:txBody>
      </p:sp>
      <p:sp>
        <p:nvSpPr>
          <p:cNvPr id="441" name="Google Shape;441;p65"/>
          <p:cNvSpPr txBox="1"/>
          <p:nvPr/>
        </p:nvSpPr>
        <p:spPr>
          <a:xfrm>
            <a:off x="921750" y="1384950"/>
            <a:ext cx="7300500" cy="332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a:t>
            </a:r>
            <a:r>
              <a:rPr lang="en" sz="1800">
                <a:solidFill>
                  <a:schemeClr val="dk1"/>
                </a:solidFill>
                <a:latin typeface="Georama"/>
                <a:ea typeface="Georama"/>
                <a:cs typeface="Georama"/>
                <a:sym typeface="Georama"/>
              </a:rPr>
              <a:t>If Danny’s statement is false, then Kelly and Steven are both lying. (It is possible for a guilty party to tell the truth, but Steven claims to be innocent, so if he’s guilty, then he’s lying.) In that case, Danny, Kelly, and Steven would all be guilty, but then impossible for everyone else to be innocent and telling the truth (in fact, in this hypothetical, they would all have to be lying), so Danny’s statement is true (and he is innocent, per clue 2), and Steven is innocent and telling the truth, which means Cheryl is telling the truth.</a:t>
            </a:r>
            <a:r>
              <a:rPr lang="en" sz="1800">
                <a:solidFill>
                  <a:schemeClr val="dk1"/>
                </a:solidFill>
                <a:latin typeface="Georama"/>
                <a:ea typeface="Georama"/>
                <a:cs typeface="Georama"/>
                <a:sym typeface="Georama"/>
              </a:rPr>
              <a:t>”</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Solution from </a:t>
            </a:r>
            <a:r>
              <a:rPr i="1" lang="en" sz="1800">
                <a:solidFill>
                  <a:schemeClr val="dk1"/>
                </a:solidFill>
                <a:latin typeface="Georama"/>
                <a:ea typeface="Georama"/>
                <a:cs typeface="Georama"/>
                <a:sym typeface="Georama"/>
              </a:rPr>
              <a:t>Beyond Montague Island</a:t>
            </a:r>
            <a:r>
              <a:rPr lang="en" sz="1800">
                <a:solidFill>
                  <a:schemeClr val="dk1"/>
                </a:solidFill>
                <a:latin typeface="Georama"/>
                <a:ea typeface="Georama"/>
                <a:cs typeface="Georama"/>
                <a:sym typeface="Georama"/>
              </a:rPr>
              <a:t>, puzzle 9.1.</a:t>
            </a:r>
            <a:endParaRPr sz="1800">
              <a:solidFill>
                <a:schemeClr val="dk1"/>
              </a:solidFill>
              <a:latin typeface="Georama"/>
              <a:ea typeface="Georama"/>
              <a:cs typeface="Georama"/>
              <a:sym typeface="Georama"/>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45" name="Shape 445"/>
        <p:cNvGrpSpPr/>
        <p:nvPr/>
      </p:nvGrpSpPr>
      <p:grpSpPr>
        <a:xfrm>
          <a:off x="0" y="0"/>
          <a:ext cx="0" cy="0"/>
          <a:chOff x="0" y="0"/>
          <a:chExt cx="0" cy="0"/>
        </a:xfrm>
      </p:grpSpPr>
      <p:sp>
        <p:nvSpPr>
          <p:cNvPr id="446" name="Google Shape;446;p66"/>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Pilfer solutions</a:t>
            </a:r>
            <a:endParaRPr>
              <a:latin typeface="Lexend Light"/>
              <a:ea typeface="Lexend Light"/>
              <a:cs typeface="Lexend Light"/>
              <a:sym typeface="Lexend Light"/>
            </a:endParaRPr>
          </a:p>
        </p:txBody>
      </p:sp>
      <p:sp>
        <p:nvSpPr>
          <p:cNvPr id="447" name="Google Shape;447;p66"/>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6</a:t>
            </a:r>
            <a:endParaRPr b="1">
              <a:latin typeface="Georama"/>
              <a:ea typeface="Georama"/>
              <a:cs typeface="Georama"/>
              <a:sym typeface="Georama"/>
            </a:endParaRPr>
          </a:p>
        </p:txBody>
      </p:sp>
      <p:sp>
        <p:nvSpPr>
          <p:cNvPr id="448" name="Google Shape;448;p66"/>
          <p:cNvSpPr txBox="1"/>
          <p:nvPr/>
        </p:nvSpPr>
        <p:spPr>
          <a:xfrm>
            <a:off x="921750" y="1384950"/>
            <a:ext cx="7300500" cy="2692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a:t>
            </a:r>
            <a:r>
              <a:rPr lang="en" sz="1800">
                <a:solidFill>
                  <a:schemeClr val="dk1"/>
                </a:solidFill>
                <a:latin typeface="Georama"/>
                <a:ea typeface="Georama"/>
                <a:cs typeface="Georama"/>
                <a:sym typeface="Georama"/>
              </a:rPr>
              <a:t>If Aria’s statement is true, either Brianna or Cheryl is guilty and the other is innocent. If Brianna is the guilty one, then Brianna’s statement is true, but she can’t make a true statement unless she is innocent (clue 2), so this is impossible. If Cheryl is the guilty one, then Brianna’s statement is a lie, which means Brianna would also be guilty, which is a contradiction. Aria’s statement, then, must be false, and she is guilty.”</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Solution from </a:t>
            </a:r>
            <a:r>
              <a:rPr i="1" lang="en" sz="1800">
                <a:solidFill>
                  <a:schemeClr val="dk1"/>
                </a:solidFill>
                <a:latin typeface="Georama"/>
                <a:ea typeface="Georama"/>
                <a:cs typeface="Georama"/>
                <a:sym typeface="Georama"/>
              </a:rPr>
              <a:t>Beyond Montague Island</a:t>
            </a:r>
            <a:r>
              <a:rPr lang="en" sz="1800">
                <a:solidFill>
                  <a:schemeClr val="dk1"/>
                </a:solidFill>
                <a:latin typeface="Georama"/>
                <a:ea typeface="Georama"/>
                <a:cs typeface="Georama"/>
                <a:sym typeface="Georama"/>
              </a:rPr>
              <a:t>, puzzle 9.1.</a:t>
            </a:r>
            <a:endParaRPr sz="1800">
              <a:solidFill>
                <a:schemeClr val="dk1"/>
              </a:solidFill>
              <a:latin typeface="Georama"/>
              <a:ea typeface="Georama"/>
              <a:cs typeface="Georama"/>
              <a:sym typeface="Georama"/>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52" name="Shape 452"/>
        <p:cNvGrpSpPr/>
        <p:nvPr/>
      </p:nvGrpSpPr>
      <p:grpSpPr>
        <a:xfrm>
          <a:off x="0" y="0"/>
          <a:ext cx="0" cy="0"/>
          <a:chOff x="0" y="0"/>
          <a:chExt cx="0" cy="0"/>
        </a:xfrm>
      </p:grpSpPr>
      <p:sp>
        <p:nvSpPr>
          <p:cNvPr id="453" name="Google Shape;453;p67"/>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Pilfer solutions</a:t>
            </a:r>
            <a:endParaRPr>
              <a:latin typeface="Lexend Light"/>
              <a:ea typeface="Lexend Light"/>
              <a:cs typeface="Lexend Light"/>
              <a:sym typeface="Lexend Light"/>
            </a:endParaRPr>
          </a:p>
        </p:txBody>
      </p:sp>
      <p:sp>
        <p:nvSpPr>
          <p:cNvPr id="454" name="Google Shape;454;p67"/>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6</a:t>
            </a:r>
            <a:endParaRPr b="1">
              <a:latin typeface="Georama"/>
              <a:ea typeface="Georama"/>
              <a:cs typeface="Georama"/>
              <a:sym typeface="Georama"/>
            </a:endParaRPr>
          </a:p>
        </p:txBody>
      </p:sp>
      <p:sp>
        <p:nvSpPr>
          <p:cNvPr id="455" name="Google Shape;455;p67"/>
          <p:cNvSpPr txBox="1"/>
          <p:nvPr/>
        </p:nvSpPr>
        <p:spPr>
          <a:xfrm>
            <a:off x="921750" y="1384950"/>
            <a:ext cx="7300500" cy="237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a:t>
            </a:r>
            <a:r>
              <a:rPr lang="en" sz="1800">
                <a:solidFill>
                  <a:schemeClr val="dk1"/>
                </a:solidFill>
                <a:latin typeface="Georama"/>
                <a:ea typeface="Georama"/>
                <a:cs typeface="Georama"/>
                <a:sym typeface="Georama"/>
              </a:rPr>
              <a:t>For Aria’s statement to be false, Brianna and Cheryl must either be both guilty or both innocent. If they are both guilty, then there would be four guilty guests, contradicting clue 1, so they are both innocent. By elimination, Taylor must be guilty of being the remaining thief despite making a true statement.</a:t>
            </a:r>
            <a:r>
              <a:rPr lang="en" sz="1800">
                <a:solidFill>
                  <a:schemeClr val="dk1"/>
                </a:solidFill>
                <a:latin typeface="Georama"/>
                <a:ea typeface="Georama"/>
                <a:cs typeface="Georama"/>
                <a:sym typeface="Georama"/>
              </a:rPr>
              <a:t>”</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Solution from </a:t>
            </a:r>
            <a:r>
              <a:rPr i="1" lang="en" sz="1800">
                <a:solidFill>
                  <a:schemeClr val="dk1"/>
                </a:solidFill>
                <a:latin typeface="Georama"/>
                <a:ea typeface="Georama"/>
                <a:cs typeface="Georama"/>
                <a:sym typeface="Georama"/>
              </a:rPr>
              <a:t>Beyond Montague Island</a:t>
            </a:r>
            <a:r>
              <a:rPr lang="en" sz="1800">
                <a:solidFill>
                  <a:schemeClr val="dk1"/>
                </a:solidFill>
                <a:latin typeface="Georama"/>
                <a:ea typeface="Georama"/>
                <a:cs typeface="Georama"/>
                <a:sym typeface="Georama"/>
              </a:rPr>
              <a:t>, puzzle 9.1.</a:t>
            </a:r>
            <a:endParaRPr sz="1800">
              <a:solidFill>
                <a:schemeClr val="dk1"/>
              </a:solidFill>
              <a:latin typeface="Georama"/>
              <a:ea typeface="Georama"/>
              <a:cs typeface="Georama"/>
              <a:sym typeface="Georama"/>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68"/>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Pilfer technique</a:t>
            </a:r>
            <a:endParaRPr>
              <a:latin typeface="Lexend Light"/>
              <a:ea typeface="Lexend Light"/>
              <a:cs typeface="Lexend Light"/>
              <a:sym typeface="Lexend Light"/>
            </a:endParaRPr>
          </a:p>
        </p:txBody>
      </p:sp>
      <p:sp>
        <p:nvSpPr>
          <p:cNvPr id="461" name="Google Shape;461;p68"/>
          <p:cNvSpPr txBox="1"/>
          <p:nvPr/>
        </p:nvSpPr>
        <p:spPr>
          <a:xfrm>
            <a:off x="765000" y="1384550"/>
            <a:ext cx="3807000" cy="332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Notice </a:t>
            </a:r>
            <a:r>
              <a:rPr lang="en" sz="1800">
                <a:solidFill>
                  <a:schemeClr val="dk1"/>
                </a:solidFill>
                <a:latin typeface="Georama"/>
                <a:ea typeface="Georama"/>
                <a:cs typeface="Georama"/>
                <a:sym typeface="Georama"/>
              </a:rPr>
              <a:t>what</a:t>
            </a:r>
            <a:r>
              <a:rPr lang="en" sz="1800">
                <a:solidFill>
                  <a:schemeClr val="dk1"/>
                </a:solidFill>
                <a:latin typeface="Georama"/>
                <a:ea typeface="Georama"/>
                <a:cs typeface="Georama"/>
                <a:sym typeface="Georama"/>
              </a:rPr>
              <a:t> we just did; our first instinct was to map the problem into an LG class we have seen.</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Then, we focus on elements where we are more informed: Danny and Brianna, if </a:t>
            </a:r>
            <a:r>
              <a:rPr lang="en" sz="1800">
                <a:solidFill>
                  <a:schemeClr val="dk1"/>
                </a:solidFill>
                <a:latin typeface="Georama"/>
                <a:ea typeface="Georama"/>
                <a:cs typeface="Georama"/>
                <a:sym typeface="Georama"/>
              </a:rPr>
              <a:t>guilty</a:t>
            </a:r>
            <a:r>
              <a:rPr lang="en" sz="1800">
                <a:solidFill>
                  <a:schemeClr val="dk1"/>
                </a:solidFill>
                <a:latin typeface="Georama"/>
                <a:ea typeface="Georama"/>
                <a:cs typeface="Georama"/>
                <a:sym typeface="Georama"/>
              </a:rPr>
              <a:t>, must be liars.</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Puzzle from </a:t>
            </a:r>
            <a:r>
              <a:rPr i="1" lang="en" sz="1800">
                <a:solidFill>
                  <a:schemeClr val="dk1"/>
                </a:solidFill>
                <a:latin typeface="Georama"/>
                <a:ea typeface="Georama"/>
                <a:cs typeface="Georama"/>
                <a:sym typeface="Georama"/>
              </a:rPr>
              <a:t>Beyond Montague Island</a:t>
            </a:r>
            <a:r>
              <a:rPr lang="en" sz="1800">
                <a:solidFill>
                  <a:schemeClr val="dk1"/>
                </a:solidFill>
                <a:latin typeface="Georama"/>
                <a:ea typeface="Georama"/>
                <a:cs typeface="Georama"/>
                <a:sym typeface="Georama"/>
              </a:rPr>
              <a:t>, puzzle 9.1.</a:t>
            </a:r>
            <a:endParaRPr sz="1800">
              <a:solidFill>
                <a:schemeClr val="dk1"/>
              </a:solidFill>
              <a:latin typeface="Georama"/>
              <a:ea typeface="Georama"/>
              <a:cs typeface="Georama"/>
              <a:sym typeface="Georama"/>
            </a:endParaRPr>
          </a:p>
        </p:txBody>
      </p:sp>
      <p:sp>
        <p:nvSpPr>
          <p:cNvPr id="462" name="Google Shape;462;p68"/>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6</a:t>
            </a:r>
            <a:endParaRPr b="1">
              <a:latin typeface="Georama"/>
              <a:ea typeface="Georama"/>
              <a:cs typeface="Georama"/>
              <a:sym typeface="Georama"/>
            </a:endParaRPr>
          </a:p>
        </p:txBody>
      </p:sp>
      <p:sp>
        <p:nvSpPr>
          <p:cNvPr id="463" name="Google Shape;463;p68"/>
          <p:cNvSpPr txBox="1"/>
          <p:nvPr/>
        </p:nvSpPr>
        <p:spPr>
          <a:xfrm>
            <a:off x="4572000" y="1384550"/>
            <a:ext cx="3807000" cy="301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Hints:</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There is a fast way to find out the # of thieves.</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Start with Danny and Brianna’s clues first.</a:t>
            </a:r>
            <a:endParaRPr sz="1800">
              <a:solidFill>
                <a:schemeClr val="dk1"/>
              </a:solidFill>
              <a:latin typeface="Georama"/>
              <a:ea typeface="Georama"/>
              <a:cs typeface="Georama"/>
              <a:sym typeface="Georama"/>
            </a:endParaRPr>
          </a:p>
          <a:p>
            <a:pPr indent="-342900" lvl="0" marL="457200" rtl="0" algn="l">
              <a:lnSpc>
                <a:spcPct val="115000"/>
              </a:lnSpc>
              <a:spcBef>
                <a:spcPts val="0"/>
              </a:spcBef>
              <a:spcAft>
                <a:spcPts val="0"/>
              </a:spcAft>
              <a:buClr>
                <a:schemeClr val="dk1"/>
              </a:buClr>
              <a:buSzPts val="1800"/>
              <a:buFont typeface="Georama"/>
              <a:buAutoNum type="arabicPeriod"/>
            </a:pPr>
            <a:r>
              <a:rPr lang="en" sz="1800">
                <a:solidFill>
                  <a:schemeClr val="dk1"/>
                </a:solidFill>
                <a:latin typeface="Georama"/>
                <a:ea typeface="Georama"/>
                <a:cs typeface="Georama"/>
                <a:sym typeface="Georama"/>
              </a:rPr>
              <a:t>At least one of the thieves is not lying; this thief must be identified through elimination.</a:t>
            </a:r>
            <a:endParaRPr sz="1800">
              <a:solidFill>
                <a:schemeClr val="dk1"/>
              </a:solidFill>
              <a:latin typeface="Georama"/>
              <a:ea typeface="Georama"/>
              <a:cs typeface="Georama"/>
              <a:sym typeface="Georama"/>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69"/>
          <p:cNvSpPr txBox="1"/>
          <p:nvPr>
            <p:ph type="ctrTitle"/>
          </p:nvPr>
        </p:nvSpPr>
        <p:spPr>
          <a:xfrm>
            <a:off x="311700" y="1781698"/>
            <a:ext cx="8520600" cy="1580100"/>
          </a:xfrm>
          <a:prstGeom prst="rect">
            <a:avLst/>
          </a:prstGeom>
        </p:spPr>
        <p:txBody>
          <a:bodyPr anchorCtr="0" anchor="ctr" bIns="91425" lIns="91425" spcFirstLastPara="1" rIns="91425" wrap="square" tIns="91425">
            <a:normAutofit/>
          </a:bodyPr>
          <a:lstStyle/>
          <a:p>
            <a:pPr indent="-558800" lvl="0" marL="457200" rtl="0" algn="ctr">
              <a:spcBef>
                <a:spcPts val="0"/>
              </a:spcBef>
              <a:spcAft>
                <a:spcPts val="0"/>
              </a:spcAft>
              <a:buSzPts val="5200"/>
              <a:buFont typeface="Lexend"/>
              <a:buAutoNum type="arabicPeriod" startAt="7"/>
            </a:pPr>
            <a:r>
              <a:rPr lang="en">
                <a:latin typeface="Lexend"/>
                <a:ea typeface="Lexend"/>
                <a:cs typeface="Lexend"/>
                <a:sym typeface="Lexend"/>
              </a:rPr>
              <a:t>Conclusions</a:t>
            </a:r>
            <a:endParaRPr>
              <a:latin typeface="Lexend"/>
              <a:ea typeface="Lexend"/>
              <a:cs typeface="Lexend"/>
              <a:sym typeface="Lexend"/>
            </a:endParaRPr>
          </a:p>
        </p:txBody>
      </p:sp>
      <p:sp>
        <p:nvSpPr>
          <p:cNvPr id="469" name="Google Shape;469;p69"/>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7</a:t>
            </a:r>
            <a:endParaRPr b="1">
              <a:latin typeface="Georama"/>
              <a:ea typeface="Georama"/>
              <a:cs typeface="Georama"/>
              <a:sym typeface="Georama"/>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70"/>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Meta-solving</a:t>
            </a:r>
            <a:endParaRPr>
              <a:latin typeface="Lexend Light"/>
              <a:ea typeface="Lexend Light"/>
              <a:cs typeface="Lexend Light"/>
              <a:sym typeface="Lexend Light"/>
            </a:endParaRPr>
          </a:p>
        </p:txBody>
      </p:sp>
      <p:sp>
        <p:nvSpPr>
          <p:cNvPr id="475" name="Google Shape;475;p70"/>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7</a:t>
            </a:r>
            <a:endParaRPr b="1">
              <a:latin typeface="Georama"/>
              <a:ea typeface="Georama"/>
              <a:cs typeface="Georama"/>
              <a:sym typeface="Georama"/>
            </a:endParaRPr>
          </a:p>
        </p:txBody>
      </p:sp>
      <p:sp>
        <p:nvSpPr>
          <p:cNvPr id="476" name="Google Shape;476;p70"/>
          <p:cNvSpPr txBox="1"/>
          <p:nvPr/>
        </p:nvSpPr>
        <p:spPr>
          <a:xfrm>
            <a:off x="921750" y="1384950"/>
            <a:ext cx="7300500" cy="2692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We started from a constrained problem, and then generalized:</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ctr">
              <a:lnSpc>
                <a:spcPct val="115000"/>
              </a:lnSpc>
              <a:spcBef>
                <a:spcPts val="0"/>
              </a:spcBef>
              <a:spcAft>
                <a:spcPts val="0"/>
              </a:spcAft>
              <a:buClr>
                <a:schemeClr val="dk1"/>
              </a:buClr>
              <a:buSzPts val="1100"/>
              <a:buFont typeface="Arial"/>
              <a:buNone/>
            </a:pPr>
            <a:r>
              <a:rPr lang="en" sz="1800">
                <a:solidFill>
                  <a:schemeClr val="dk1"/>
                </a:solidFill>
                <a:latin typeface="Georama"/>
                <a:ea typeface="Georama"/>
                <a:cs typeface="Georama"/>
                <a:sym typeface="Georama"/>
              </a:rPr>
              <a:t>Bijective LGs → Non-bijective LGs → Lying LGs → Bounded lying LGs</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Similar to induction or bottom-up software development.</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In doing so, we found a relatively powerful puzzle-solving algorithm, or more loosely, a framework for organizing puzzle-esque information.</a:t>
            </a:r>
            <a:endParaRPr sz="1800">
              <a:solidFill>
                <a:schemeClr val="dk1"/>
              </a:solidFill>
              <a:latin typeface="Georama"/>
              <a:ea typeface="Georama"/>
              <a:cs typeface="Georama"/>
              <a:sym typeface="Georama"/>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71"/>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Montague-resources</a:t>
            </a:r>
            <a:endParaRPr>
              <a:latin typeface="Lexend Light"/>
              <a:ea typeface="Lexend Light"/>
              <a:cs typeface="Lexend Light"/>
              <a:sym typeface="Lexend Light"/>
            </a:endParaRPr>
          </a:p>
        </p:txBody>
      </p:sp>
      <p:sp>
        <p:nvSpPr>
          <p:cNvPr id="482" name="Google Shape;482;p71"/>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7</a:t>
            </a:r>
            <a:endParaRPr b="1">
              <a:latin typeface="Georama"/>
              <a:ea typeface="Georama"/>
              <a:cs typeface="Georama"/>
              <a:sym typeface="Georama"/>
            </a:endParaRPr>
          </a:p>
        </p:txBody>
      </p:sp>
      <p:sp>
        <p:nvSpPr>
          <p:cNvPr id="483" name="Google Shape;483;p71"/>
          <p:cNvSpPr txBox="1"/>
          <p:nvPr/>
        </p:nvSpPr>
        <p:spPr>
          <a:xfrm>
            <a:off x="921750" y="1171250"/>
            <a:ext cx="7300500" cy="109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Many of the puzzles in this talk are from the following books. If you enjoyed them (I certainly do!), I highly recommend getting a copy.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I'm not sponsored and sadly, </a:t>
            </a:r>
            <a:r>
              <a:rPr lang="en" sz="1800" u="sng">
                <a:solidFill>
                  <a:schemeClr val="dk1"/>
                </a:solidFill>
                <a:latin typeface="Georama"/>
                <a:ea typeface="Georama"/>
                <a:cs typeface="Georama"/>
                <a:sym typeface="Georama"/>
                <a:hlinkClick r:id="rId3">
                  <a:extLst>
                    <a:ext uri="{A12FA001-AC4F-418D-AE19-62706E023703}">
                      <ahyp:hlinkClr val="tx"/>
                    </a:ext>
                  </a:extLst>
                </a:hlinkClick>
              </a:rPr>
              <a:t>the author is no longer with us.</a:t>
            </a:r>
            <a:endParaRPr sz="1800">
              <a:solidFill>
                <a:schemeClr val="dk1"/>
              </a:solidFill>
              <a:latin typeface="Georama"/>
              <a:ea typeface="Georama"/>
              <a:cs typeface="Georama"/>
              <a:sym typeface="Georama"/>
            </a:endParaRPr>
          </a:p>
        </p:txBody>
      </p:sp>
      <p:pic>
        <p:nvPicPr>
          <p:cNvPr id="484" name="Google Shape;484;p71"/>
          <p:cNvPicPr preferRelativeResize="0"/>
          <p:nvPr/>
        </p:nvPicPr>
        <p:blipFill>
          <a:blip r:embed="rId4">
            <a:alphaModFix/>
          </a:blip>
          <a:stretch>
            <a:fillRect/>
          </a:stretch>
        </p:blipFill>
        <p:spPr>
          <a:xfrm>
            <a:off x="761838" y="2382111"/>
            <a:ext cx="1735331" cy="2244933"/>
          </a:xfrm>
          <a:prstGeom prst="rect">
            <a:avLst/>
          </a:prstGeom>
          <a:noFill/>
          <a:ln>
            <a:noFill/>
          </a:ln>
        </p:spPr>
      </p:pic>
      <p:pic>
        <p:nvPicPr>
          <p:cNvPr id="485" name="Google Shape;485;p71"/>
          <p:cNvPicPr preferRelativeResize="0"/>
          <p:nvPr/>
        </p:nvPicPr>
        <p:blipFill>
          <a:blip r:embed="rId5">
            <a:alphaModFix/>
          </a:blip>
          <a:stretch>
            <a:fillRect/>
          </a:stretch>
        </p:blipFill>
        <p:spPr>
          <a:xfrm>
            <a:off x="4582167" y="2382116"/>
            <a:ext cx="1838804" cy="2244927"/>
          </a:xfrm>
          <a:prstGeom prst="rect">
            <a:avLst/>
          </a:prstGeom>
          <a:noFill/>
          <a:ln>
            <a:noFill/>
          </a:ln>
        </p:spPr>
      </p:pic>
      <p:pic>
        <p:nvPicPr>
          <p:cNvPr id="486" name="Google Shape;486;p71"/>
          <p:cNvPicPr preferRelativeResize="0"/>
          <p:nvPr/>
        </p:nvPicPr>
        <p:blipFill>
          <a:blip r:embed="rId6">
            <a:alphaModFix/>
          </a:blip>
          <a:stretch>
            <a:fillRect/>
          </a:stretch>
        </p:blipFill>
        <p:spPr>
          <a:xfrm>
            <a:off x="2620414" y="2381975"/>
            <a:ext cx="1838802" cy="2245199"/>
          </a:xfrm>
          <a:prstGeom prst="rect">
            <a:avLst/>
          </a:prstGeom>
          <a:noFill/>
          <a:ln>
            <a:noFill/>
          </a:ln>
        </p:spPr>
      </p:pic>
      <p:pic>
        <p:nvPicPr>
          <p:cNvPr id="487" name="Google Shape;487;p71"/>
          <p:cNvPicPr preferRelativeResize="0"/>
          <p:nvPr/>
        </p:nvPicPr>
        <p:blipFill>
          <a:blip r:embed="rId7">
            <a:alphaModFix/>
          </a:blip>
          <a:stretch>
            <a:fillRect/>
          </a:stretch>
        </p:blipFill>
        <p:spPr>
          <a:xfrm>
            <a:off x="6543910" y="2382111"/>
            <a:ext cx="1838252" cy="2244932"/>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72"/>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Bonus: frame-up</a:t>
            </a:r>
            <a:endParaRPr>
              <a:latin typeface="Lexend Light"/>
              <a:ea typeface="Lexend Light"/>
              <a:cs typeface="Lexend Light"/>
              <a:sym typeface="Lexend Light"/>
            </a:endParaRPr>
          </a:p>
        </p:txBody>
      </p:sp>
      <p:sp>
        <p:nvSpPr>
          <p:cNvPr id="493" name="Google Shape;493;p72"/>
          <p:cNvSpPr txBox="1"/>
          <p:nvPr/>
        </p:nvSpPr>
        <p:spPr>
          <a:xfrm>
            <a:off x="765000" y="1384550"/>
            <a:ext cx="3807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Georama"/>
              <a:ea typeface="Georama"/>
              <a:cs typeface="Georama"/>
              <a:sym typeface="Georama"/>
            </a:endParaRPr>
          </a:p>
        </p:txBody>
      </p:sp>
      <p:sp>
        <p:nvSpPr>
          <p:cNvPr id="494" name="Google Shape;494;p72"/>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7</a:t>
            </a:r>
            <a:endParaRPr b="1">
              <a:latin typeface="Georama"/>
              <a:ea typeface="Georama"/>
              <a:cs typeface="Georama"/>
              <a:sym typeface="Georama"/>
            </a:endParaRPr>
          </a:p>
        </p:txBody>
      </p:sp>
      <p:sp>
        <p:nvSpPr>
          <p:cNvPr id="495" name="Google Shape;495;p72"/>
          <p:cNvSpPr txBox="1"/>
          <p:nvPr/>
        </p:nvSpPr>
        <p:spPr>
          <a:xfrm>
            <a:off x="921750" y="1384950"/>
            <a:ext cx="7300500" cy="237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Almost a Sherlock-Holmes story…</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All clues are statements about what people did, and the solution not only identifies the murderer, but also how they did it, who they corroborated with, and when and where the murder took place!</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Hint: Uses all the techniques from this talk.</a:t>
            </a:r>
            <a:endParaRPr sz="1800">
              <a:solidFill>
                <a:schemeClr val="dk1"/>
              </a:solidFill>
              <a:latin typeface="Georama"/>
              <a:ea typeface="Georama"/>
              <a:cs typeface="Georama"/>
              <a:sym typeface="Georama"/>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99" name="Shape 499"/>
        <p:cNvGrpSpPr/>
        <p:nvPr/>
      </p:nvGrpSpPr>
      <p:grpSpPr>
        <a:xfrm>
          <a:off x="0" y="0"/>
          <a:ext cx="0" cy="0"/>
          <a:chOff x="0" y="0"/>
          <a:chExt cx="0" cy="0"/>
        </a:xfrm>
      </p:grpSpPr>
      <p:sp>
        <p:nvSpPr>
          <p:cNvPr id="500" name="Google Shape;500;p73"/>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Bonus solution</a:t>
            </a:r>
            <a:endParaRPr>
              <a:latin typeface="Lexend Light"/>
              <a:ea typeface="Lexend Light"/>
              <a:cs typeface="Lexend Light"/>
              <a:sym typeface="Lexend Light"/>
            </a:endParaRPr>
          </a:p>
        </p:txBody>
      </p:sp>
      <p:sp>
        <p:nvSpPr>
          <p:cNvPr id="501" name="Google Shape;501;p73"/>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7</a:t>
            </a:r>
            <a:endParaRPr b="1">
              <a:latin typeface="Georama"/>
              <a:ea typeface="Georama"/>
              <a:cs typeface="Georama"/>
              <a:sym typeface="Georama"/>
            </a:endParaRPr>
          </a:p>
        </p:txBody>
      </p:sp>
      <p:sp>
        <p:nvSpPr>
          <p:cNvPr id="502" name="Google Shape;502;p73"/>
          <p:cNvSpPr txBox="1"/>
          <p:nvPr/>
        </p:nvSpPr>
        <p:spPr>
          <a:xfrm>
            <a:off x="921750" y="1384950"/>
            <a:ext cx="7300500" cy="301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Georama"/>
                <a:ea typeface="Georama"/>
                <a:cs typeface="Georama"/>
                <a:sym typeface="Georama"/>
              </a:rPr>
              <a:t>“Amanda and Dawn are guilty. Hoping to frame Henry for Sandy’s</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Georama"/>
                <a:ea typeface="Georama"/>
                <a:cs typeface="Georama"/>
                <a:sym typeface="Georama"/>
              </a:rPr>
              <a:t>murder, Dawn put the typewritten notes under the doors of Henry</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Georama"/>
                <a:ea typeface="Georama"/>
                <a:cs typeface="Georama"/>
                <a:sym typeface="Georama"/>
              </a:rPr>
              <a:t>and Lee while they were still at breakfast. Dawn also took the</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Georama"/>
                <a:ea typeface="Georama"/>
                <a:cs typeface="Georama"/>
                <a:sym typeface="Georama"/>
              </a:rPr>
              <a:t>letter opener from Henry’s room and moved it to Amanda’s room</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Georama"/>
                <a:ea typeface="Georama"/>
                <a:cs typeface="Georama"/>
                <a:sym typeface="Georama"/>
              </a:rPr>
              <a:t>after Henry and Lee had left the mansion. Amanda committed</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Georama"/>
                <a:ea typeface="Georama"/>
                <a:cs typeface="Georama"/>
                <a:sym typeface="Georama"/>
              </a:rPr>
              <a:t>the murder after sailing to the windmill and reaching the old hut</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before Sandy did.”</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Solution from </a:t>
            </a:r>
            <a:r>
              <a:rPr i="1" lang="en" sz="1800">
                <a:solidFill>
                  <a:schemeClr val="dk1"/>
                </a:solidFill>
                <a:latin typeface="Georama"/>
                <a:ea typeface="Georama"/>
                <a:cs typeface="Georama"/>
                <a:sym typeface="Georama"/>
              </a:rPr>
              <a:t>Montague Island Memoirs</a:t>
            </a:r>
            <a:r>
              <a:rPr lang="en" sz="1800">
                <a:solidFill>
                  <a:schemeClr val="dk1"/>
                </a:solidFill>
                <a:latin typeface="Georama"/>
                <a:ea typeface="Georama"/>
                <a:cs typeface="Georama"/>
                <a:sym typeface="Georama"/>
              </a:rPr>
              <a:t>, puzzle 8.2.</a:t>
            </a:r>
            <a:endParaRPr sz="1800">
              <a:solidFill>
                <a:schemeClr val="dk1"/>
              </a:solidFill>
              <a:latin typeface="Georama"/>
              <a:ea typeface="Georama"/>
              <a:cs typeface="Georama"/>
              <a:sym typeface="Georama"/>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06" name="Shape 506"/>
        <p:cNvGrpSpPr/>
        <p:nvPr/>
      </p:nvGrpSpPr>
      <p:grpSpPr>
        <a:xfrm>
          <a:off x="0" y="0"/>
          <a:ext cx="0" cy="0"/>
          <a:chOff x="0" y="0"/>
          <a:chExt cx="0" cy="0"/>
        </a:xfrm>
      </p:grpSpPr>
      <p:sp>
        <p:nvSpPr>
          <p:cNvPr id="507" name="Google Shape;507;p74"/>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Bonus solution</a:t>
            </a:r>
            <a:endParaRPr>
              <a:latin typeface="Lexend Light"/>
              <a:ea typeface="Lexend Light"/>
              <a:cs typeface="Lexend Light"/>
              <a:sym typeface="Lexend Light"/>
            </a:endParaRPr>
          </a:p>
        </p:txBody>
      </p:sp>
      <p:sp>
        <p:nvSpPr>
          <p:cNvPr id="508" name="Google Shape;508;p74"/>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7</a:t>
            </a:r>
            <a:endParaRPr b="1">
              <a:latin typeface="Georama"/>
              <a:ea typeface="Georama"/>
              <a:cs typeface="Georama"/>
              <a:sym typeface="Georama"/>
            </a:endParaRPr>
          </a:p>
        </p:txBody>
      </p:sp>
      <p:sp>
        <p:nvSpPr>
          <p:cNvPr id="509" name="Google Shape;509;p74"/>
          <p:cNvSpPr txBox="1"/>
          <p:nvPr/>
        </p:nvSpPr>
        <p:spPr>
          <a:xfrm>
            <a:off x="921750" y="1384950"/>
            <a:ext cx="7300500" cy="237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a:t>
            </a:r>
            <a:r>
              <a:rPr lang="en" sz="1800">
                <a:solidFill>
                  <a:schemeClr val="dk1"/>
                </a:solidFill>
                <a:latin typeface="Georama"/>
                <a:ea typeface="Georama"/>
                <a:cs typeface="Georama"/>
                <a:sym typeface="Georama"/>
              </a:rPr>
              <a:t>Since the statements of Amanda and Madison cannot both be true,</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one of them is guilty. But since neither of them was in the mansion</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during the time Henry and Lee (at most one of whom can be</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lying, per Nina) claim to have had notes passed under their doors,</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someone else who was in the mansion was an accomplice.”</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Georama"/>
                <a:ea typeface="Georama"/>
                <a:cs typeface="Georama"/>
                <a:sym typeface="Georama"/>
              </a:rPr>
              <a:t>Solution from </a:t>
            </a:r>
            <a:r>
              <a:rPr i="1" lang="en" sz="1800">
                <a:solidFill>
                  <a:schemeClr val="dk1"/>
                </a:solidFill>
                <a:latin typeface="Georama"/>
                <a:ea typeface="Georama"/>
                <a:cs typeface="Georama"/>
                <a:sym typeface="Georama"/>
              </a:rPr>
              <a:t>Montague Island Memoirs</a:t>
            </a:r>
            <a:r>
              <a:rPr lang="en" sz="1800">
                <a:solidFill>
                  <a:schemeClr val="dk1"/>
                </a:solidFill>
                <a:latin typeface="Georama"/>
                <a:ea typeface="Georama"/>
                <a:cs typeface="Georama"/>
                <a:sym typeface="Georama"/>
              </a:rPr>
              <a:t>, puzzle 8.2.</a:t>
            </a:r>
            <a:endParaRPr sz="1800">
              <a:solidFill>
                <a:schemeClr val="dk1"/>
              </a:solidFill>
              <a:latin typeface="Georama"/>
              <a:ea typeface="Georama"/>
              <a:cs typeface="Georama"/>
              <a:sym typeface="Georama"/>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13" name="Shape 513"/>
        <p:cNvGrpSpPr/>
        <p:nvPr/>
      </p:nvGrpSpPr>
      <p:grpSpPr>
        <a:xfrm>
          <a:off x="0" y="0"/>
          <a:ext cx="0" cy="0"/>
          <a:chOff x="0" y="0"/>
          <a:chExt cx="0" cy="0"/>
        </a:xfrm>
      </p:grpSpPr>
      <p:sp>
        <p:nvSpPr>
          <p:cNvPr id="514" name="Google Shape;514;p75"/>
          <p:cNvSpPr txBox="1"/>
          <p:nvPr>
            <p:ph type="ctrTitle"/>
          </p:nvPr>
        </p:nvSpPr>
        <p:spPr>
          <a:xfrm>
            <a:off x="311700" y="238854"/>
            <a:ext cx="8520600" cy="932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latin typeface="Lexend Light"/>
                <a:ea typeface="Lexend Light"/>
                <a:cs typeface="Lexend Light"/>
                <a:sym typeface="Lexend Light"/>
              </a:rPr>
              <a:t>Bonus solution</a:t>
            </a:r>
            <a:endParaRPr>
              <a:latin typeface="Lexend Light"/>
              <a:ea typeface="Lexend Light"/>
              <a:cs typeface="Lexend Light"/>
              <a:sym typeface="Lexend Light"/>
            </a:endParaRPr>
          </a:p>
        </p:txBody>
      </p:sp>
      <p:sp>
        <p:nvSpPr>
          <p:cNvPr id="515" name="Google Shape;515;p75"/>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7</a:t>
            </a:r>
            <a:endParaRPr b="1">
              <a:latin typeface="Georama"/>
              <a:ea typeface="Georama"/>
              <a:cs typeface="Georama"/>
              <a:sym typeface="Georama"/>
            </a:endParaRPr>
          </a:p>
        </p:txBody>
      </p:sp>
      <p:sp>
        <p:nvSpPr>
          <p:cNvPr id="516" name="Google Shape;516;p75"/>
          <p:cNvSpPr txBox="1"/>
          <p:nvPr/>
        </p:nvSpPr>
        <p:spPr>
          <a:xfrm>
            <a:off x="921750" y="1384950"/>
            <a:ext cx="7300500" cy="301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a:t>
            </a:r>
            <a:r>
              <a:rPr lang="en" sz="1800">
                <a:solidFill>
                  <a:schemeClr val="dk1"/>
                </a:solidFill>
                <a:latin typeface="Georama"/>
                <a:ea typeface="Georama"/>
                <a:cs typeface="Georama"/>
                <a:sym typeface="Georama"/>
              </a:rPr>
              <a:t>As his statement indicates, Henry’s room is on the second floor.</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Since Thomas did not use the stairs (per Charlotte’s statement), he</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could not have put the notes under Henry’s and Lee’s doors. Only</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Dawn had an opportunity to do so between 8:15 and 8:30.”</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“From Grant’s statement, Dawn and Madison cannot both be guilty,</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rPr lang="en" sz="1800">
                <a:solidFill>
                  <a:schemeClr val="dk1"/>
                </a:solidFill>
                <a:latin typeface="Georama"/>
                <a:ea typeface="Georama"/>
                <a:cs typeface="Georama"/>
                <a:sym typeface="Georama"/>
              </a:rPr>
              <a:t>so Amanda was the killer.”</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None/>
            </a:pPr>
            <a:r>
              <a:t/>
            </a:r>
            <a:endParaRPr sz="1800">
              <a:solidFill>
                <a:schemeClr val="dk1"/>
              </a:solidFill>
              <a:latin typeface="Georama"/>
              <a:ea typeface="Georama"/>
              <a:cs typeface="Georama"/>
              <a:sym typeface="Georama"/>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Georama"/>
                <a:ea typeface="Georama"/>
                <a:cs typeface="Georama"/>
                <a:sym typeface="Georama"/>
              </a:rPr>
              <a:t>Solution from </a:t>
            </a:r>
            <a:r>
              <a:rPr i="1" lang="en" sz="1800">
                <a:solidFill>
                  <a:schemeClr val="dk1"/>
                </a:solidFill>
                <a:latin typeface="Georama"/>
                <a:ea typeface="Georama"/>
                <a:cs typeface="Georama"/>
                <a:sym typeface="Georama"/>
              </a:rPr>
              <a:t>Montague Island Memoirs</a:t>
            </a:r>
            <a:r>
              <a:rPr lang="en" sz="1800">
                <a:solidFill>
                  <a:schemeClr val="dk1"/>
                </a:solidFill>
                <a:latin typeface="Georama"/>
                <a:ea typeface="Georama"/>
                <a:cs typeface="Georama"/>
                <a:sym typeface="Georama"/>
              </a:rPr>
              <a:t>, puzzle 8.2.</a:t>
            </a:r>
            <a:endParaRPr sz="1800">
              <a:solidFill>
                <a:schemeClr val="dk1"/>
              </a:solidFill>
              <a:latin typeface="Georama"/>
              <a:ea typeface="Georama"/>
              <a:cs typeface="Georama"/>
              <a:sym typeface="Georama"/>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76"/>
          <p:cNvSpPr txBox="1"/>
          <p:nvPr>
            <p:ph type="ctrTitle"/>
          </p:nvPr>
        </p:nvSpPr>
        <p:spPr>
          <a:xfrm>
            <a:off x="311700" y="1781698"/>
            <a:ext cx="8520600" cy="1580100"/>
          </a:xfrm>
          <a:prstGeom prst="rect">
            <a:avLst/>
          </a:prstGeom>
        </p:spPr>
        <p:txBody>
          <a:bodyPr anchorCtr="0" anchor="ctr" bIns="91425" lIns="91425" spcFirstLastPara="1" rIns="91425" wrap="square" tIns="91425">
            <a:normAutofit/>
          </a:bodyPr>
          <a:lstStyle/>
          <a:p>
            <a:pPr indent="0" lvl="0" marL="457200" rtl="0" algn="ctr">
              <a:spcBef>
                <a:spcPts val="0"/>
              </a:spcBef>
              <a:spcAft>
                <a:spcPts val="0"/>
              </a:spcAft>
              <a:buNone/>
            </a:pPr>
            <a:r>
              <a:rPr lang="en">
                <a:latin typeface="Lexend"/>
                <a:ea typeface="Lexend"/>
                <a:cs typeface="Lexend"/>
                <a:sym typeface="Lexend"/>
              </a:rPr>
              <a:t>thank you!</a:t>
            </a:r>
            <a:endParaRPr>
              <a:latin typeface="Lexend"/>
              <a:ea typeface="Lexend"/>
              <a:cs typeface="Lexend"/>
              <a:sym typeface="Lexend"/>
            </a:endParaRPr>
          </a:p>
        </p:txBody>
      </p:sp>
      <p:sp>
        <p:nvSpPr>
          <p:cNvPr id="522" name="Google Shape;522;p76"/>
          <p:cNvSpPr/>
          <p:nvPr/>
        </p:nvSpPr>
        <p:spPr>
          <a:xfrm>
            <a:off x="0" y="4378800"/>
            <a:ext cx="764700" cy="7647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Georama"/>
                <a:ea typeface="Georama"/>
                <a:cs typeface="Georama"/>
                <a:sym typeface="Georama"/>
              </a:rPr>
              <a:t>∞</a:t>
            </a:r>
            <a:endParaRPr b="1">
              <a:latin typeface="Georama"/>
              <a:ea typeface="Georama"/>
              <a:cs typeface="Georama"/>
              <a:sym typeface="Georama"/>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