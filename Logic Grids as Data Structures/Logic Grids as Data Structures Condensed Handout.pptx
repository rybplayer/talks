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562100" cx="10689325"/>
  <p:notesSz cx="6858000" cy="9144000"/>
  <p:embeddedFontLst>
    <p:embeddedFont>
      <p:font typeface="Lexend SemiBold"/>
      <p:regular r:id="rId8"/>
      <p:bold r:id="rId9"/>
    </p:embeddedFont>
    <p:embeddedFont>
      <p:font typeface="Georama"/>
      <p:regular r:id="rId10"/>
      <p:bold r:id="rId11"/>
      <p:italic r:id="rId12"/>
      <p:boldItalic r:id="rId13"/>
    </p:embeddedFont>
    <p:embeddedFont>
      <p:font typeface="Lexend Light"/>
      <p:regular r:id="rId14"/>
      <p:bold r:id="rId15"/>
    </p:embeddedFont>
    <p:embeddedFont>
      <p:font typeface="Lexen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2">
          <p15:clr>
            <a:srgbClr val="747775"/>
          </p15:clr>
        </p15:guide>
        <p15:guide id="2" pos="33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2" orient="horz"/>
        <p:guide pos="336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eorama-bold.fntdata"/><Relationship Id="rId10" Type="http://schemas.openxmlformats.org/officeDocument/2006/relationships/font" Target="fonts/Georama-regular.fntdata"/><Relationship Id="rId13" Type="http://schemas.openxmlformats.org/officeDocument/2006/relationships/font" Target="fonts/Georama-boldItalic.fntdata"/><Relationship Id="rId12" Type="http://schemas.openxmlformats.org/officeDocument/2006/relationships/font" Target="fonts/Georam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exendSemiBold-bold.fntdata"/><Relationship Id="rId15" Type="http://schemas.openxmlformats.org/officeDocument/2006/relationships/font" Target="fonts/LexendLight-bold.fntdata"/><Relationship Id="rId14" Type="http://schemas.openxmlformats.org/officeDocument/2006/relationships/font" Target="fonts/LexendLight-regular.fntdata"/><Relationship Id="rId17" Type="http://schemas.openxmlformats.org/officeDocument/2006/relationships/font" Target="fonts/Lexend-bold.fntdata"/><Relationship Id="rId16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Lexen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5822" y="685800"/>
            <a:ext cx="4847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6cb5d6c5_0_0:notes"/>
          <p:cNvSpPr/>
          <p:nvPr>
            <p:ph idx="2" type="sldImg"/>
          </p:nvPr>
        </p:nvSpPr>
        <p:spPr>
          <a:xfrm>
            <a:off x="1005822" y="685800"/>
            <a:ext cx="4847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76cb5d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1005822" y="685800"/>
            <a:ext cx="4847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387" y="1094692"/>
            <a:ext cx="9960300" cy="30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377" y="4166800"/>
            <a:ext cx="99603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377" y="3162232"/>
            <a:ext cx="9960300" cy="12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377" y="654287"/>
            <a:ext cx="9960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377" y="1694397"/>
            <a:ext cx="99603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377" y="654287"/>
            <a:ext cx="9960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377" y="1694397"/>
            <a:ext cx="46758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49070" y="1694397"/>
            <a:ext cx="46758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377" y="654287"/>
            <a:ext cx="99603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377" y="816857"/>
            <a:ext cx="3282600" cy="11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377" y="2043024"/>
            <a:ext cx="3282600" cy="46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102" y="661822"/>
            <a:ext cx="7443900" cy="60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4663" y="-184"/>
            <a:ext cx="5344800" cy="756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369" y="1813044"/>
            <a:ext cx="4728600" cy="21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369" y="4121150"/>
            <a:ext cx="47286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4270" y="1064553"/>
            <a:ext cx="4485300" cy="54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377" y="6219895"/>
            <a:ext cx="7012800" cy="88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377" y="1626252"/>
            <a:ext cx="9960300" cy="28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377" y="4634479"/>
            <a:ext cx="9960300" cy="19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377" y="654287"/>
            <a:ext cx="9960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377" y="1694397"/>
            <a:ext cx="9960300" cy="50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4293" y="6855976"/>
            <a:ext cx="641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hyperlink" Target="https://www.dr-mikes-math-games-for-kids.com/truth-lies-logic-puzzle-generator.html" TargetMode="External"/><Relationship Id="rId8" Type="http://schemas.openxmlformats.org/officeDocument/2006/relationships/hyperlink" Target="https://www.brainzilla.com/logic/logic-grid/basic-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0350" y="68375"/>
            <a:ext cx="4148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Logic Grids</a:t>
            </a:r>
            <a:r>
              <a:rPr b="1" lang="en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000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as</a:t>
            </a: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000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Data Structures</a:t>
            </a:r>
            <a:endParaRPr sz="2000">
              <a:solidFill>
                <a:srgbClr val="00000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Ryan Y. Batubara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0350" y="1021025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#2: Key deductions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03" y="1482722"/>
            <a:ext cx="3489950" cy="44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375" y="825387"/>
            <a:ext cx="6642600" cy="613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931375" y="605100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#4: Garden plots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8925" y="5975475"/>
            <a:ext cx="34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Puzzle from </a:t>
            </a:r>
            <a:r>
              <a:rPr i="1" lang="en" sz="1200">
                <a:latin typeface="Georama"/>
                <a:ea typeface="Georama"/>
                <a:cs typeface="Georama"/>
                <a:sym typeface="Georama"/>
              </a:rPr>
              <a:t>Return to Montague Island</a:t>
            </a: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, puzzle 1.1.</a:t>
            </a:r>
            <a:endParaRPr sz="1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33" y="2820002"/>
            <a:ext cx="4632601" cy="45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775" y="2563408"/>
            <a:ext cx="4632600" cy="476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5585" y="70288"/>
            <a:ext cx="2289091" cy="21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30100" y="179100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#1: Introducing logic grids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83725" y="640800"/>
            <a:ext cx="20673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ama"/>
              <a:buAutoNum type="arabicPeriod"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Peter's birthday </a:t>
            </a:r>
            <a:b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</a:b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is in April.</a:t>
            </a:r>
            <a:endParaRPr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ama"/>
              <a:buAutoNum type="arabicPeriod"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Eric is 7.</a:t>
            </a:r>
            <a:endParaRPr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ama"/>
              <a:buAutoNum type="arabicPeriod"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Arnold was born </a:t>
            </a:r>
            <a:b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</a:b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in September.</a:t>
            </a:r>
            <a:endParaRPr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ama"/>
              <a:buAutoNum type="arabicPeriod"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Peter is 8.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283725" y="2509004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#5: Murder mystery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777775" y="2201440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#6: Pilfer puzzle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777775" y="179100"/>
            <a:ext cx="4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#3: Who’s the liar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6">
            <a:alphaModFix/>
          </a:blip>
          <a:srcRect b="12129" l="0" r="59420" t="43010"/>
          <a:stretch/>
        </p:blipFill>
        <p:spPr>
          <a:xfrm>
            <a:off x="8486175" y="314687"/>
            <a:ext cx="2067300" cy="189553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5777775" y="640800"/>
            <a:ext cx="27084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Fatima and Amara come from a land where some always tell the truth, and the rest always lie.</a:t>
            </a:r>
            <a:endParaRPr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Amara says, “Either Fatima lies, or I am truthful.”</a:t>
            </a:r>
            <a:endParaRPr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888831" y="7201867"/>
            <a:ext cx="34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From </a:t>
            </a:r>
            <a:r>
              <a:rPr i="1" lang="en" sz="1200">
                <a:latin typeface="Georama"/>
                <a:ea typeface="Georama"/>
                <a:cs typeface="Georama"/>
                <a:sym typeface="Georama"/>
              </a:rPr>
              <a:t>Beyond Montague Island</a:t>
            </a: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, puzzle 9.1.</a:t>
            </a:r>
            <a:endParaRPr sz="1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564050" y="7174675"/>
            <a:ext cx="3594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Puzzle from </a:t>
            </a:r>
            <a:r>
              <a:rPr i="1" lang="en" sz="1200">
                <a:latin typeface="Georama"/>
                <a:ea typeface="Georama"/>
                <a:cs typeface="Georama"/>
                <a:sym typeface="Georama"/>
              </a:rPr>
              <a:t>Montague Island Mysteries</a:t>
            </a:r>
            <a:r>
              <a:rPr lang="en" sz="1200">
                <a:latin typeface="Georama"/>
                <a:ea typeface="Georama"/>
                <a:cs typeface="Georama"/>
                <a:sym typeface="Georama"/>
              </a:rPr>
              <a:t>, puzzle 12.4.	</a:t>
            </a:r>
            <a:endParaRPr sz="1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7899475" y="1968729"/>
            <a:ext cx="270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Georama"/>
                <a:ea typeface="Georama"/>
                <a:cs typeface="Georama"/>
                <a:sym typeface="Georam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From Truth &amp; Lies Puzzle Generator</a:t>
            </a:r>
            <a:endParaRPr sz="12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019306" y="2102568"/>
            <a:ext cx="270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From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Georama"/>
                <a:ea typeface="Georama"/>
                <a:cs typeface="Georama"/>
                <a:sym typeface="Georam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Brainzilla Basic Logic Grid 1</a:t>
            </a:r>
            <a:r>
              <a:rPr lang="en" sz="12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.</a:t>
            </a:r>
            <a:endParaRPr sz="12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