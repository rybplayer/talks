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Georama"/>
      <p:regular r:id="rId46"/>
      <p:bold r:id="rId47"/>
      <p:italic r:id="rId48"/>
      <p:boldItalic r:id="rId49"/>
    </p:embeddedFont>
    <p:embeddedFont>
      <p:font typeface="Lexend Light"/>
      <p:regular r:id="rId50"/>
      <p:bold r:id="rId51"/>
    </p:embeddedFont>
    <p:embeddedFont>
      <p:font typeface="Inter Light"/>
      <p:regular r:id="rId52"/>
      <p:bold r:id="rId53"/>
      <p:italic r:id="rId54"/>
      <p:boldItalic r:id="rId55"/>
    </p:embeddedFont>
    <p:embeddedFont>
      <p:font typeface="Inter"/>
      <p:regular r:id="rId56"/>
      <p:bold r:id="rId57"/>
      <p:italic r:id="rId58"/>
      <p:boldItalic r:id="rId59"/>
    </p:embeddedFont>
    <p:embeddedFont>
      <p:font typeface="Lexend"/>
      <p:regular r:id="rId60"/>
      <p:bold r:id="rId61"/>
    </p:embeddedFont>
    <p:embeddedFont>
      <p:font typeface="Inter ExtraLight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Georama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Georama-italic.fntdata"/><Relationship Id="rId47" Type="http://schemas.openxmlformats.org/officeDocument/2006/relationships/font" Target="fonts/Georama-bold.fntdata"/><Relationship Id="rId49" Type="http://schemas.openxmlformats.org/officeDocument/2006/relationships/font" Target="fonts/Georam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ExtraLight-regular.fntdata"/><Relationship Id="rId61" Type="http://schemas.openxmlformats.org/officeDocument/2006/relationships/font" Target="fonts/Lexend-bold.fntdata"/><Relationship Id="rId20" Type="http://schemas.openxmlformats.org/officeDocument/2006/relationships/slide" Target="slides/slide15.xml"/><Relationship Id="rId64" Type="http://schemas.openxmlformats.org/officeDocument/2006/relationships/font" Target="fonts/InterExtraLight-italic.fntdata"/><Relationship Id="rId63" Type="http://schemas.openxmlformats.org/officeDocument/2006/relationships/font" Target="fonts/InterExtraLigh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font" Target="fonts/InterExtraLigh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exend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exendLight-bold.fntdata"/><Relationship Id="rId50" Type="http://schemas.openxmlformats.org/officeDocument/2006/relationships/font" Target="fonts/LexendLight-regular.fntdata"/><Relationship Id="rId53" Type="http://schemas.openxmlformats.org/officeDocument/2006/relationships/font" Target="fonts/InterLight-bold.fntdata"/><Relationship Id="rId52" Type="http://schemas.openxmlformats.org/officeDocument/2006/relationships/font" Target="fonts/InterLight-regular.fntdata"/><Relationship Id="rId11" Type="http://schemas.openxmlformats.org/officeDocument/2006/relationships/slide" Target="slides/slide6.xml"/><Relationship Id="rId55" Type="http://schemas.openxmlformats.org/officeDocument/2006/relationships/font" Target="fonts/Inter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InterLight-italic.fntdata"/><Relationship Id="rId13" Type="http://schemas.openxmlformats.org/officeDocument/2006/relationships/slide" Target="slides/slide8.xml"/><Relationship Id="rId57" Type="http://schemas.openxmlformats.org/officeDocument/2006/relationships/font" Target="fonts/Inter-bold.fntdata"/><Relationship Id="rId12" Type="http://schemas.openxmlformats.org/officeDocument/2006/relationships/slide" Target="slides/slide7.xml"/><Relationship Id="rId56" Type="http://schemas.openxmlformats.org/officeDocument/2006/relationships/font" Target="fonts/Inter-regular.fntdata"/><Relationship Id="rId15" Type="http://schemas.openxmlformats.org/officeDocument/2006/relationships/slide" Target="slides/slide10.xml"/><Relationship Id="rId59" Type="http://schemas.openxmlformats.org/officeDocument/2006/relationships/font" Target="fonts/Inter-boldItalic.fntdata"/><Relationship Id="rId14" Type="http://schemas.openxmlformats.org/officeDocument/2006/relationships/slide" Target="slides/slide9.xml"/><Relationship Id="rId58" Type="http://schemas.openxmlformats.org/officeDocument/2006/relationships/font" Target="fonts/Int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60b40eaf_2_2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760b40eaf_2_2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760b40eaf_2_2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760b40eaf_2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c6b8fa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c6b8fa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5c6b8fac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5c6b8fac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760b40eaf_2_2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760b40eaf_2_2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5c6b8fac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5c6b8fa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5c6b8fac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5c6b8fac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5c6b8fac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5c6b8fac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7d24e05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7d24e05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5c6b8fac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5c6b8fac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5c6b8fac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5c6b8fac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5c6b8fac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5c6b8fac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5c6b8fac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5c6b8fac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5c6b8facf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5c6b8fac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5c6b8facf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5c6b8facf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5c6b8facf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5c6b8facf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5c6b8facf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5c6b8facf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5c6b8fac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5c6b8fac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5c6b8facf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5c6b8facf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5c6b8facf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5c6b8facf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5c6b8facf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5c6b8facf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5c6b8facf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5c6b8facf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5c6b8facf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5c6b8facf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5c6b8facf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5c6b8facf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5c6b8facf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5c6b8facf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5c6b8facf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5c6b8facf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5c6b8facf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b5c6b8facf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5c6b8facf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b5c6b8facf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5c6b8facf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5c6b8facf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5c6b8facf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b5c6b8facf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5c6b8facf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5c6b8facf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5c6b8facf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5c6b8facf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5c6b8facf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b5c6b8facf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b5c6b8facf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b5c6b8facf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5c6b8facf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b5c6b8facf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b6f257fc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b6f257fc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b5c6b8facf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b5c6b8facf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5c6b8facf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b5c6b8facf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5c6b8facf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b5c6b8facf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b5c6b8facf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b5c6b8facf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desmos.com/calculator/hckhphgc5v" TargetMode="External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93573"/>
            <a:ext cx="8520600" cy="15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The Math of Guitar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2743424"/>
            <a:ext cx="8520600" cy="70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Georama"/>
                <a:ea typeface="Georama"/>
                <a:cs typeface="Georama"/>
                <a:sym typeface="Georama"/>
              </a:rPr>
              <a:t>Ryan Y. Batubara</a:t>
            </a:r>
            <a:endParaRPr sz="3000">
              <a:latin typeface="Georama"/>
              <a:ea typeface="Georama"/>
              <a:cs typeface="Georama"/>
              <a:sym typeface="Geora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600" y="1515100"/>
            <a:ext cx="3328875" cy="33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Icebreaker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64988" y="1171250"/>
            <a:ext cx="761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Which can produce a note of higher frequency, this guitar or piano?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700" y="2057088"/>
            <a:ext cx="3975231" cy="22448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What this talk is NOT about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00" y="1290575"/>
            <a:ext cx="1787974" cy="23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24" y="1257725"/>
            <a:ext cx="24193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5675" y="2571752"/>
            <a:ext cx="2126624" cy="21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6">
            <a:alphaModFix/>
          </a:blip>
          <a:srcRect b="7081" l="30100" r="30188" t="22733"/>
          <a:stretch/>
        </p:blipFill>
        <p:spPr>
          <a:xfrm>
            <a:off x="6983125" y="2402800"/>
            <a:ext cx="1680913" cy="22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What this talk is about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400" y="1171250"/>
            <a:ext cx="6879204" cy="38848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2700000">
            <a:off x="3592499" y="1107637"/>
            <a:ext cx="3974025" cy="48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 rot="634411">
            <a:off x="6069022" y="3363939"/>
            <a:ext cx="2311753" cy="4617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MATHEMATICS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 rot="341708">
            <a:off x="3908428" y="3389070"/>
            <a:ext cx="1327151" cy="411504"/>
            <a:chOff x="2818850" y="2013002"/>
            <a:chExt cx="3000000" cy="930197"/>
          </a:xfrm>
        </p:grpSpPr>
        <p:sp>
          <p:nvSpPr>
            <p:cNvPr id="82" name="Google Shape;82;p16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0450" lIns="40450" spcFirstLastPara="1" rIns="40450" wrap="square" tIns="404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69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1769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83" name="Google Shape;83;p16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" name="Google Shape;84;p16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132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132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132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132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8" name="Google Shape;88;p16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16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126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" name="Google Shape;91;p16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2200" lIns="42200" spcFirstLastPara="1" rIns="42200" wrap="square" tIns="42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46"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2200" lIns="42200" spcFirstLastPara="1" rIns="42200" wrap="square" tIns="42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46"/>
            </a:p>
          </p:txBody>
        </p:sp>
      </p:grpSp>
      <p:sp>
        <p:nvSpPr>
          <p:cNvPr id="93" name="Google Shape;93;p16"/>
          <p:cNvSpPr txBox="1"/>
          <p:nvPr/>
        </p:nvSpPr>
        <p:spPr>
          <a:xfrm rot="-613463">
            <a:off x="2877082" y="2325449"/>
            <a:ext cx="2999939" cy="4925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⋅ r =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ctrTitle"/>
          </p:nvPr>
        </p:nvSpPr>
        <p:spPr>
          <a:xfrm>
            <a:off x="311700" y="1781698"/>
            <a:ext cx="8520600" cy="15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58800" lvl="0" marL="457200" rtl="0" algn="ctr">
              <a:spcBef>
                <a:spcPts val="0"/>
              </a:spcBef>
              <a:spcAft>
                <a:spcPts val="0"/>
              </a:spcAft>
              <a:buSzPts val="5200"/>
              <a:buFont typeface="Lexend"/>
              <a:buAutoNum type="arabicPeriod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Models of Sound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The 12-tone system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64988" y="1171250"/>
            <a:ext cx="76140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There are 12 notes: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C# D D# E F F# G G# A A# B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185175" y="2815774"/>
            <a:ext cx="6773652" cy="3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45273" r="41285" t="0"/>
          <a:stretch/>
        </p:blipFill>
        <p:spPr>
          <a:xfrm>
            <a:off x="4251826" y="2815775"/>
            <a:ext cx="910449" cy="330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765000" y="2132925"/>
            <a:ext cx="58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Each note is given an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octave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. Here is C4 up to B4: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311701" y="1069275"/>
            <a:ext cx="10090499" cy="56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The 12-tone system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64988" y="1171250"/>
            <a:ext cx="76140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There are 12 notes: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C# D D# E F F# G G# A A# B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1931225" y="3886025"/>
            <a:ext cx="0" cy="41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9"/>
          <p:cNvSpPr txBox="1"/>
          <p:nvPr/>
        </p:nvSpPr>
        <p:spPr>
          <a:xfrm>
            <a:off x="1734050" y="3277625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ret 0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265325" y="3277613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fret 12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>
            <a:off x="5108850" y="3844100"/>
            <a:ext cx="0" cy="52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9"/>
          <p:cNvSpPr txBox="1"/>
          <p:nvPr/>
        </p:nvSpPr>
        <p:spPr>
          <a:xfrm>
            <a:off x="1642025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968775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295525" y="3776800"/>
            <a:ext cx="345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2628200" y="3776800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907725" y="3776800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235900" y="3776800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472175" y="3776813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212800" y="3776800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625100" y="3776825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761525" y="3776825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4006500" y="3776800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453288" y="3776800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844850" y="3776825"/>
            <a:ext cx="31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052500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380300" y="3776837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670700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950400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068500" y="3776812"/>
            <a:ext cx="289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5173300" y="3776825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499600" y="3776800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5778025" y="3776825"/>
            <a:ext cx="388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 amt="30000"/>
          </a:blip>
          <a:srcRect b="0" l="0" r="0" t="28140"/>
          <a:stretch/>
        </p:blipFill>
        <p:spPr>
          <a:xfrm rot="10800000">
            <a:off x="311701" y="1069275"/>
            <a:ext cx="10090499" cy="40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The 6 strings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764988" y="1171250"/>
            <a:ext cx="761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The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first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, top string has notes 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E4 … C5.</a:t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The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sixth, 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bottom string has notes E2 … C3. 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Why the difference?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1473025" y="3739825"/>
            <a:ext cx="47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5963950" y="373982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491625" y="4148225"/>
            <a:ext cx="434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5963950" y="4217050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C3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The transverse wave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" name="Google Shape;156;p21" title="Screenshot 2026-01-08 at 22.2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25" y="1171254"/>
            <a:ext cx="7461355" cy="366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2807850" y="4251850"/>
            <a:ext cx="378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1 cycle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1891625" y="16166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crest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4409225" y="30190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trough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460525" y="2349750"/>
            <a:ext cx="153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amplitude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1"/>
          <p:cNvSpPr/>
          <p:nvPr/>
        </p:nvSpPr>
        <p:spPr>
          <a:xfrm rot="5400000">
            <a:off x="4610550" y="1589500"/>
            <a:ext cx="183600" cy="5141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 rot="10800000">
            <a:off x="1891625" y="2173050"/>
            <a:ext cx="183600" cy="846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= fλ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8" name="Google Shape;168;p22" title="Screenshot 2026-01-08 at 22.2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25" y="1171254"/>
            <a:ext cx="7461355" cy="366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2757450" y="4251850"/>
            <a:ext cx="38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avelength = width of 1 cycle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2182200" y="1171250"/>
            <a:ext cx="47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speed = frequency × wavelength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2584750" y="1501975"/>
            <a:ext cx="83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m/s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553725" y="1501975"/>
            <a:ext cx="139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cycles/s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179725" y="1501975"/>
            <a:ext cx="139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m/cycle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22"/>
          <p:cNvSpPr/>
          <p:nvPr/>
        </p:nvSpPr>
        <p:spPr>
          <a:xfrm rot="5400000">
            <a:off x="4610550" y="1589500"/>
            <a:ext cx="183600" cy="5141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The string frequency formula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3072000" y="2373652"/>
            <a:ext cx="3000000" cy="930197"/>
            <a:chOff x="2818850" y="2013002"/>
            <a:chExt cx="3000000" cy="930197"/>
          </a:xfrm>
        </p:grpSpPr>
        <p:sp>
          <p:nvSpPr>
            <p:cNvPr id="181" name="Google Shape;181;p23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4000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182" name="Google Shape;182;p23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3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23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23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6" name="Google Shape;186;p23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7" name="Google Shape;187;p23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3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0" name="Google Shape;190;p23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  <p:sp>
        <p:nvSpPr>
          <p:cNvPr id="192" name="Google Shape;192;p23"/>
          <p:cNvSpPr txBox="1"/>
          <p:nvPr/>
        </p:nvSpPr>
        <p:spPr>
          <a:xfrm>
            <a:off x="375025" y="2966775"/>
            <a:ext cx="276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frequency 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(cycles/s or Hz)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2515350" y="2848250"/>
            <a:ext cx="795275" cy="379150"/>
          </a:xfrm>
          <a:custGeom>
            <a:rect b="b" l="l" r="r" t="t"/>
            <a:pathLst>
              <a:path extrusionOk="0" h="15166" w="31811">
                <a:moveTo>
                  <a:pt x="0" y="15166"/>
                </a:moveTo>
                <a:cubicBezTo>
                  <a:pt x="11747" y="15166"/>
                  <a:pt x="20064" y="0"/>
                  <a:pt x="3181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94" name="Google Shape;194;p23"/>
          <p:cNvSpPr txBox="1"/>
          <p:nvPr/>
        </p:nvSpPr>
        <p:spPr>
          <a:xfrm>
            <a:off x="2561875" y="3849725"/>
            <a:ext cx="276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length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(m)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4235400" y="3356875"/>
            <a:ext cx="258925" cy="564100"/>
          </a:xfrm>
          <a:custGeom>
            <a:rect b="b" l="l" r="r" t="t"/>
            <a:pathLst>
              <a:path extrusionOk="0" h="22564" w="10357">
                <a:moveTo>
                  <a:pt x="0" y="22564"/>
                </a:moveTo>
                <a:cubicBezTo>
                  <a:pt x="4963" y="15941"/>
                  <a:pt x="10357" y="8276"/>
                  <a:pt x="10357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96" name="Google Shape;196;p23"/>
          <p:cNvSpPr txBox="1"/>
          <p:nvPr/>
        </p:nvSpPr>
        <p:spPr>
          <a:xfrm>
            <a:off x="6072000" y="1517150"/>
            <a:ext cx="276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tension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(kgm/s</a:t>
            </a:r>
            <a:r>
              <a:rPr baseline="30000"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or N)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881450" y="2034475"/>
            <a:ext cx="749050" cy="638075"/>
          </a:xfrm>
          <a:custGeom>
            <a:rect b="b" l="l" r="r" t="t"/>
            <a:pathLst>
              <a:path extrusionOk="0" h="25523" w="29962">
                <a:moveTo>
                  <a:pt x="29962" y="0"/>
                </a:moveTo>
                <a:cubicBezTo>
                  <a:pt x="29962" y="8385"/>
                  <a:pt x="22355" y="16028"/>
                  <a:pt x="15166" y="20344"/>
                </a:cubicBezTo>
                <a:cubicBezTo>
                  <a:pt x="10586" y="23094"/>
                  <a:pt x="4778" y="23134"/>
                  <a:pt x="0" y="2552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98" name="Google Shape;198;p23"/>
          <p:cNvSpPr txBox="1"/>
          <p:nvPr/>
        </p:nvSpPr>
        <p:spPr>
          <a:xfrm>
            <a:off x="6150400" y="3736275"/>
            <a:ext cx="276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ass / length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(kg/m)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650275" y="3315250"/>
            <a:ext cx="1017250" cy="647350"/>
          </a:xfrm>
          <a:custGeom>
            <a:rect b="b" l="l" r="r" t="t"/>
            <a:pathLst>
              <a:path extrusionOk="0" h="25894" w="40690">
                <a:moveTo>
                  <a:pt x="40690" y="25894"/>
                </a:moveTo>
                <a:cubicBezTo>
                  <a:pt x="24613" y="25894"/>
                  <a:pt x="7190" y="14380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Why this formula?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5" name="Google Shape;205;p24"/>
          <p:cNvGrpSpPr/>
          <p:nvPr/>
        </p:nvGrpSpPr>
        <p:grpSpPr>
          <a:xfrm>
            <a:off x="3072000" y="1965677"/>
            <a:ext cx="3000000" cy="930197"/>
            <a:chOff x="2818850" y="2013002"/>
            <a:chExt cx="3000000" cy="930197"/>
          </a:xfrm>
        </p:grpSpPr>
        <p:sp>
          <p:nvSpPr>
            <p:cNvPr id="206" name="Google Shape;206;p24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4000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07" name="Google Shape;207;p24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" name="Google Shape;208;p24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9" name="Google Shape;209;p24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0" name="Google Shape;210;p24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24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2" name="Google Shape;212;p24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4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4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24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  <p:sp>
        <p:nvSpPr>
          <p:cNvPr id="217" name="Google Shape;217;p24"/>
          <p:cNvSpPr txBox="1"/>
          <p:nvPr/>
        </p:nvSpPr>
        <p:spPr>
          <a:xfrm>
            <a:off x="3025800" y="3114825"/>
            <a:ext cx="309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 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f = —  · </a:t>
            </a:r>
            <a:r>
              <a:rPr lang="en" sz="2000"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v</a:t>
            </a:r>
            <a:endParaRPr sz="4000"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18" name="Google Shape;218;p24"/>
          <p:cNvGrpSpPr/>
          <p:nvPr/>
        </p:nvGrpSpPr>
        <p:grpSpPr>
          <a:xfrm>
            <a:off x="4096750" y="3177025"/>
            <a:ext cx="744900" cy="738200"/>
            <a:chOff x="3802175" y="2110175"/>
            <a:chExt cx="744900" cy="738200"/>
          </a:xfrm>
        </p:grpSpPr>
        <p:sp>
          <p:nvSpPr>
            <p:cNvPr id="219" name="Google Shape;219;p24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0" name="Google Shape;220;p24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λ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1" name="Google Shape;221;p24"/>
          <p:cNvSpPr/>
          <p:nvPr/>
        </p:nvSpPr>
        <p:spPr>
          <a:xfrm rot="5400000">
            <a:off x="4402000" y="2633100"/>
            <a:ext cx="134400" cy="806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 rot="5400000">
            <a:off x="5410075" y="2488200"/>
            <a:ext cx="134400" cy="1096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375025" y="2966775"/>
            <a:ext cx="276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v = fλ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(rearranged)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2314675" y="3256925"/>
            <a:ext cx="1034450" cy="373000"/>
          </a:xfrm>
          <a:custGeom>
            <a:rect b="b" l="l" r="r" t="t"/>
            <a:pathLst>
              <a:path extrusionOk="0" h="14920" w="41378">
                <a:moveTo>
                  <a:pt x="0" y="0"/>
                </a:moveTo>
                <a:cubicBezTo>
                  <a:pt x="6659" y="0"/>
                  <a:pt x="12288" y="5428"/>
                  <a:pt x="17616" y="9423"/>
                </a:cubicBezTo>
                <a:cubicBezTo>
                  <a:pt x="24029" y="14232"/>
                  <a:pt x="34209" y="16695"/>
                  <a:pt x="41378" y="1311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Why this formula?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0" name="Google Shape;230;p25"/>
          <p:cNvGrpSpPr/>
          <p:nvPr/>
        </p:nvGrpSpPr>
        <p:grpSpPr>
          <a:xfrm>
            <a:off x="3072000" y="1965677"/>
            <a:ext cx="3000000" cy="930197"/>
            <a:chOff x="2818850" y="2013002"/>
            <a:chExt cx="3000000" cy="930197"/>
          </a:xfrm>
        </p:grpSpPr>
        <p:sp>
          <p:nvSpPr>
            <p:cNvPr id="231" name="Google Shape;231;p25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9E9E9E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f =</a:t>
              </a: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 —    </a:t>
              </a:r>
              <a:r>
                <a:rPr lang="en" sz="4000">
                  <a:solidFill>
                    <a:srgbClr val="9E9E9E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—</a:t>
              </a:r>
              <a:endParaRPr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32" name="Google Shape;232;p25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3" name="Google Shape;233;p25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4" name="Google Shape;234;p25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5" name="Google Shape;235;p25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25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37" name="Google Shape;237;p25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5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5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0" name="Google Shape;240;p25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  <p:sp>
        <p:nvSpPr>
          <p:cNvPr id="242" name="Google Shape;242;p25"/>
          <p:cNvSpPr txBox="1"/>
          <p:nvPr/>
        </p:nvSpPr>
        <p:spPr>
          <a:xfrm>
            <a:off x="3025800" y="3114825"/>
            <a:ext cx="309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"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 f =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—  </a:t>
            </a:r>
            <a:r>
              <a:rPr lang="en"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· </a:t>
            </a:r>
            <a:r>
              <a:rPr lang="en" sz="2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"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v</a:t>
            </a:r>
            <a:endParaRPr sz="4000">
              <a:solidFill>
                <a:srgbClr val="9E9E9E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43" name="Google Shape;243;p25"/>
          <p:cNvGrpSpPr/>
          <p:nvPr/>
        </p:nvGrpSpPr>
        <p:grpSpPr>
          <a:xfrm>
            <a:off x="4096750" y="3177025"/>
            <a:ext cx="744900" cy="738200"/>
            <a:chOff x="3802175" y="2110175"/>
            <a:chExt cx="744900" cy="738200"/>
          </a:xfrm>
        </p:grpSpPr>
        <p:sp>
          <p:nvSpPr>
            <p:cNvPr id="244" name="Google Shape;244;p25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25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λ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6" name="Google Shape;246;p25"/>
          <p:cNvSpPr/>
          <p:nvPr/>
        </p:nvSpPr>
        <p:spPr>
          <a:xfrm rot="5400000">
            <a:off x="4402000" y="2633100"/>
            <a:ext cx="134400" cy="806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 rot="5400000">
            <a:off x="5410075" y="2488200"/>
            <a:ext cx="134400" cy="1096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3">
            <a:alphaModFix amt="30000"/>
          </a:blip>
          <a:srcRect b="0" l="0" r="0" t="-472"/>
          <a:stretch/>
        </p:blipFill>
        <p:spPr>
          <a:xfrm rot="-5400000">
            <a:off x="-523759" y="884878"/>
            <a:ext cx="3344318" cy="18975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5"/>
          <p:cNvCxnSpPr/>
          <p:nvPr/>
        </p:nvCxnSpPr>
        <p:spPr>
          <a:xfrm rot="10800000">
            <a:off x="1026760" y="678239"/>
            <a:ext cx="141300" cy="0"/>
          </a:xfrm>
          <a:prstGeom prst="straightConnector1">
            <a:avLst/>
          </a:prstGeom>
          <a:noFill/>
          <a:ln cap="flat" cmpd="sng" w="26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5"/>
          <p:cNvCxnSpPr/>
          <p:nvPr/>
        </p:nvCxnSpPr>
        <p:spPr>
          <a:xfrm rot="10800000">
            <a:off x="981729" y="2807492"/>
            <a:ext cx="202800" cy="0"/>
          </a:xfrm>
          <a:prstGeom prst="straightConnector1">
            <a:avLst/>
          </a:prstGeom>
          <a:noFill/>
          <a:ln cap="flat" cmpd="sng" w="26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5"/>
          <p:cNvSpPr/>
          <p:nvPr/>
        </p:nvSpPr>
        <p:spPr>
          <a:xfrm rot="2700000">
            <a:off x="-1385725" y="276047"/>
            <a:ext cx="2929968" cy="2929756"/>
          </a:xfrm>
          <a:prstGeom prst="arc">
            <a:avLst>
              <a:gd fmla="val 16194314" name="adj1"/>
              <a:gd fmla="val 0" name="adj2"/>
            </a:avLst>
          </a:prstGeom>
          <a:noFill/>
          <a:ln cap="flat" cmpd="sng" w="2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9"/>
          </a:p>
        </p:txBody>
      </p:sp>
      <p:sp>
        <p:nvSpPr>
          <p:cNvPr id="252" name="Google Shape;252;p25"/>
          <p:cNvSpPr/>
          <p:nvPr/>
        </p:nvSpPr>
        <p:spPr>
          <a:xfrm rot="-8100249">
            <a:off x="614237" y="2413966"/>
            <a:ext cx="2929756" cy="2929968"/>
          </a:xfrm>
          <a:prstGeom prst="arc">
            <a:avLst>
              <a:gd fmla="val 16194314" name="adj1"/>
              <a:gd fmla="val 0" name="adj2"/>
            </a:avLst>
          </a:prstGeom>
          <a:noFill/>
          <a:ln cap="flat" cmpd="sng" w="2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9"/>
          </a:p>
        </p:txBody>
      </p:sp>
      <p:sp>
        <p:nvSpPr>
          <p:cNvPr id="253" name="Google Shape;253;p25"/>
          <p:cNvSpPr/>
          <p:nvPr/>
        </p:nvSpPr>
        <p:spPr>
          <a:xfrm rot="10800000">
            <a:off x="535150" y="676375"/>
            <a:ext cx="134400" cy="2129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1748925" y="676375"/>
            <a:ext cx="134400" cy="4250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57625" y="2561200"/>
            <a:ext cx="84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λ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-70750" y="1494625"/>
            <a:ext cx="84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L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Why this formula?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26"/>
          <p:cNvPicPr preferRelativeResize="0"/>
          <p:nvPr/>
        </p:nvPicPr>
        <p:blipFill rotWithShape="1">
          <a:blip r:embed="rId3">
            <a:alphaModFix amt="30000"/>
          </a:blip>
          <a:srcRect b="0" l="0" r="0" t="-472"/>
          <a:stretch/>
        </p:blipFill>
        <p:spPr>
          <a:xfrm rot="-5400000">
            <a:off x="-523759" y="884878"/>
            <a:ext cx="3344318" cy="18975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6"/>
          <p:cNvCxnSpPr/>
          <p:nvPr/>
        </p:nvCxnSpPr>
        <p:spPr>
          <a:xfrm rot="10800000">
            <a:off x="1026760" y="678239"/>
            <a:ext cx="141300" cy="0"/>
          </a:xfrm>
          <a:prstGeom prst="straightConnector1">
            <a:avLst/>
          </a:prstGeom>
          <a:noFill/>
          <a:ln cap="flat" cmpd="sng" w="269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6"/>
          <p:cNvCxnSpPr/>
          <p:nvPr/>
        </p:nvCxnSpPr>
        <p:spPr>
          <a:xfrm rot="10800000">
            <a:off x="981729" y="2807492"/>
            <a:ext cx="202800" cy="0"/>
          </a:xfrm>
          <a:prstGeom prst="straightConnector1">
            <a:avLst/>
          </a:prstGeom>
          <a:noFill/>
          <a:ln cap="flat" cmpd="sng" w="269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6"/>
          <p:cNvSpPr/>
          <p:nvPr/>
        </p:nvSpPr>
        <p:spPr>
          <a:xfrm rot="2700000">
            <a:off x="-1385725" y="276047"/>
            <a:ext cx="2929968" cy="2929756"/>
          </a:xfrm>
          <a:prstGeom prst="arc">
            <a:avLst>
              <a:gd fmla="val 16194314" name="adj1"/>
              <a:gd fmla="val 0" name="adj2"/>
            </a:avLst>
          </a:prstGeom>
          <a:noFill/>
          <a:ln cap="flat" cmpd="sng" w="269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9"/>
          </a:p>
        </p:txBody>
      </p:sp>
      <p:sp>
        <p:nvSpPr>
          <p:cNvPr id="266" name="Google Shape;266;p26"/>
          <p:cNvSpPr/>
          <p:nvPr/>
        </p:nvSpPr>
        <p:spPr>
          <a:xfrm rot="10800000">
            <a:off x="535150" y="676375"/>
            <a:ext cx="134400" cy="2129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1748925" y="676375"/>
            <a:ext cx="134400" cy="4250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657625" y="2561200"/>
            <a:ext cx="84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λ</a:t>
            </a:r>
            <a:endParaRPr sz="18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-70750" y="1494625"/>
            <a:ext cx="84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endParaRPr sz="18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26"/>
          <p:cNvSpPr/>
          <p:nvPr/>
        </p:nvSpPr>
        <p:spPr>
          <a:xfrm rot="-8100249">
            <a:off x="614237" y="2413966"/>
            <a:ext cx="2929756" cy="2929968"/>
          </a:xfrm>
          <a:prstGeom prst="arc">
            <a:avLst>
              <a:gd fmla="val 16194314" name="adj1"/>
              <a:gd fmla="val 0" name="adj2"/>
            </a:avLst>
          </a:prstGeom>
          <a:noFill/>
          <a:ln cap="flat" cmpd="sng" w="269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150" lIns="86150" spcFirstLastPara="1" rIns="86150" wrap="square" tIns="8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9"/>
          </a:p>
        </p:txBody>
      </p:sp>
      <p:grpSp>
        <p:nvGrpSpPr>
          <p:cNvPr id="271" name="Google Shape;271;p26"/>
          <p:cNvGrpSpPr/>
          <p:nvPr/>
        </p:nvGrpSpPr>
        <p:grpSpPr>
          <a:xfrm>
            <a:off x="3072000" y="1965677"/>
            <a:ext cx="3000000" cy="930197"/>
            <a:chOff x="2818850" y="2013002"/>
            <a:chExt cx="3000000" cy="930197"/>
          </a:xfrm>
        </p:grpSpPr>
        <p:sp>
          <p:nvSpPr>
            <p:cNvPr id="272" name="Google Shape;272;p26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solidFill>
                    <a:srgbClr val="9E9E9E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f =</a:t>
              </a: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 </a:t>
              </a:r>
              <a:r>
                <a:rPr lang="en" sz="4000">
                  <a:solidFill>
                    <a:srgbClr val="9E9E9E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—</a:t>
              </a: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    —</a:t>
              </a:r>
              <a:endParaRPr sz="4000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273" name="Google Shape;273;p26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4" name="Google Shape;274;p26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5" name="Google Shape;275;p26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26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8" name="Google Shape;278;p26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26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26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" name="Google Shape;281;p26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  <p:sp>
        <p:nvSpPr>
          <p:cNvPr id="283" name="Google Shape;283;p26"/>
          <p:cNvSpPr txBox="1"/>
          <p:nvPr/>
        </p:nvSpPr>
        <p:spPr>
          <a:xfrm>
            <a:off x="3025800" y="3114825"/>
            <a:ext cx="309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 </a:t>
            </a:r>
            <a:r>
              <a:rPr lang="en"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f =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" sz="4000">
                <a:solidFill>
                  <a:srgbClr val="9E9E9E"/>
                </a:solidFill>
                <a:latin typeface="Inter Light"/>
                <a:ea typeface="Inter Light"/>
                <a:cs typeface="Inter Light"/>
                <a:sym typeface="Inter Light"/>
              </a:rPr>
              <a:t>—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  · </a:t>
            </a:r>
            <a:r>
              <a:rPr lang="en" sz="2000"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" sz="4000">
                <a:latin typeface="Inter Light"/>
                <a:ea typeface="Inter Light"/>
                <a:cs typeface="Inter Light"/>
                <a:sym typeface="Inter Light"/>
              </a:rPr>
              <a:t>v</a:t>
            </a:r>
            <a:endParaRPr sz="4000"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84" name="Google Shape;284;p26"/>
          <p:cNvGrpSpPr/>
          <p:nvPr/>
        </p:nvGrpSpPr>
        <p:grpSpPr>
          <a:xfrm>
            <a:off x="4096750" y="3177025"/>
            <a:ext cx="744900" cy="738200"/>
            <a:chOff x="3802175" y="2110175"/>
            <a:chExt cx="744900" cy="738200"/>
          </a:xfrm>
        </p:grpSpPr>
        <p:sp>
          <p:nvSpPr>
            <p:cNvPr id="285" name="Google Shape;285;p26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6" name="Google Shape;286;p26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rgbClr val="9E9E9E"/>
                  </a:solidFill>
                  <a:latin typeface="Inter"/>
                  <a:ea typeface="Inter"/>
                  <a:cs typeface="Inter"/>
                  <a:sym typeface="Inter"/>
                </a:rPr>
                <a:t>λ</a:t>
              </a:r>
              <a:endParaRPr sz="3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7" name="Google Shape;287;p26"/>
          <p:cNvSpPr/>
          <p:nvPr/>
        </p:nvSpPr>
        <p:spPr>
          <a:xfrm rot="5400000">
            <a:off x="4402000" y="2633100"/>
            <a:ext cx="134400" cy="806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 rot="5400000">
            <a:off x="5410075" y="2488200"/>
            <a:ext cx="134400" cy="1096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6"/>
          <p:cNvGrpSpPr/>
          <p:nvPr/>
        </p:nvGrpSpPr>
        <p:grpSpPr>
          <a:xfrm>
            <a:off x="6199325" y="1287913"/>
            <a:ext cx="2760000" cy="877200"/>
            <a:chOff x="6231475" y="1171250"/>
            <a:chExt cx="2760000" cy="877200"/>
          </a:xfrm>
        </p:grpSpPr>
        <p:sp>
          <p:nvSpPr>
            <p:cNvPr id="290" name="Google Shape;290;p26"/>
            <p:cNvSpPr txBox="1"/>
            <p:nvPr/>
          </p:nvSpPr>
          <p:spPr>
            <a:xfrm>
              <a:off x="6231475" y="1171250"/>
              <a:ext cx="27600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latin typeface="Inter"/>
                  <a:ea typeface="Inter"/>
                  <a:cs typeface="Inter"/>
                  <a:sym typeface="Inter"/>
                </a:rPr>
                <a:t>v</a:t>
              </a:r>
              <a:r>
                <a:rPr lang="en" sz="250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4500">
                  <a:latin typeface="Inter"/>
                  <a:ea typeface="Inter"/>
                  <a:cs typeface="Inter"/>
                  <a:sym typeface="Inter"/>
                </a:rPr>
                <a:t>∝</a:t>
              </a:r>
              <a:r>
                <a:rPr lang="en" sz="2500">
                  <a:latin typeface="Inter"/>
                  <a:ea typeface="Inter"/>
                  <a:cs typeface="Inter"/>
                  <a:sym typeface="Inter"/>
                </a:rPr>
                <a:t> —</a:t>
              </a:r>
              <a:endParaRPr sz="23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91" name="Google Shape;291;p26"/>
            <p:cNvGrpSpPr/>
            <p:nvPr/>
          </p:nvGrpSpPr>
          <p:grpSpPr>
            <a:xfrm>
              <a:off x="7701500" y="1396250"/>
              <a:ext cx="488700" cy="590975"/>
              <a:chOff x="4962600" y="2060625"/>
              <a:chExt cx="488700" cy="590975"/>
            </a:xfrm>
          </p:grpSpPr>
          <p:sp>
            <p:nvSpPr>
              <p:cNvPr id="292" name="Google Shape;292;p26"/>
              <p:cNvSpPr txBox="1"/>
              <p:nvPr/>
            </p:nvSpPr>
            <p:spPr>
              <a:xfrm>
                <a:off x="4962600" y="2060625"/>
                <a:ext cx="488700" cy="28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T</a:t>
                </a:r>
                <a:endParaRPr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26"/>
              <p:cNvSpPr txBox="1"/>
              <p:nvPr/>
            </p:nvSpPr>
            <p:spPr>
              <a:xfrm>
                <a:off x="4962600" y="2368400"/>
                <a:ext cx="488700" cy="28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μ</a:t>
                </a:r>
                <a:endParaRPr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94" name="Google Shape;294;p26"/>
          <p:cNvSpPr txBox="1"/>
          <p:nvPr/>
        </p:nvSpPr>
        <p:spPr>
          <a:xfrm>
            <a:off x="6314875" y="2458225"/>
            <a:ext cx="276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" sz="25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baseline="30000" lang="en" sz="2500">
                <a:latin typeface="Inter"/>
                <a:ea typeface="Inter"/>
                <a:cs typeface="Inter"/>
                <a:sym typeface="Inter"/>
              </a:rPr>
              <a:t>-1</a:t>
            </a:r>
            <a:r>
              <a:rPr lang="en" sz="2500">
                <a:latin typeface="Inter"/>
                <a:ea typeface="Inter"/>
                <a:cs typeface="Inter"/>
                <a:sym typeface="Inter"/>
              </a:rPr>
              <a:t> = —</a:t>
            </a:r>
            <a:r>
              <a:rPr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——</a:t>
            </a:r>
            <a:endParaRPr sz="2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5" name="Google Shape;295;p26"/>
          <p:cNvGrpSpPr/>
          <p:nvPr/>
        </p:nvGrpSpPr>
        <p:grpSpPr>
          <a:xfrm>
            <a:off x="7527575" y="2399963"/>
            <a:ext cx="1305600" cy="685950"/>
            <a:chOff x="4946250" y="2062325"/>
            <a:chExt cx="1305600" cy="685950"/>
          </a:xfrm>
        </p:grpSpPr>
        <p:sp>
          <p:nvSpPr>
            <p:cNvPr id="296" name="Google Shape;296;p26"/>
            <p:cNvSpPr txBox="1"/>
            <p:nvPr/>
          </p:nvSpPr>
          <p:spPr>
            <a:xfrm>
              <a:off x="4946250" y="2062325"/>
              <a:ext cx="13056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(kgms</a:t>
              </a:r>
              <a:r>
                <a:rPr baseline="30000"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-2</a:t>
              </a:r>
              <a:r>
                <a:rPr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r>
                <a:rPr baseline="30000"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endParaRPr baseline="30000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26"/>
            <p:cNvSpPr txBox="1"/>
            <p:nvPr/>
          </p:nvSpPr>
          <p:spPr>
            <a:xfrm>
              <a:off x="4946250" y="2465075"/>
              <a:ext cx="13056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(kgm</a:t>
              </a:r>
              <a:r>
                <a:rPr baseline="30000"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-1</a:t>
              </a:r>
              <a:r>
                <a:rPr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r>
                <a:rPr baseline="30000" lang="en" sz="2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  <a:endParaRPr baseline="30000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8" name="Google Shape;298;p26"/>
          <p:cNvSpPr txBox="1"/>
          <p:nvPr/>
        </p:nvSpPr>
        <p:spPr>
          <a:xfrm>
            <a:off x="6199325" y="3224175"/>
            <a:ext cx="276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Inter"/>
                <a:ea typeface="Inter"/>
                <a:cs typeface="Inter"/>
                <a:sym typeface="Inter"/>
              </a:rPr>
              <a:t>⇒ </a:t>
            </a:r>
            <a:r>
              <a:rPr lang="en" sz="2000">
                <a:latin typeface="Inter"/>
                <a:ea typeface="Inter"/>
                <a:cs typeface="Inter"/>
                <a:sym typeface="Inter"/>
              </a:rPr>
              <a:t>a = 1/2, 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latin typeface="Inter"/>
                <a:ea typeface="Inter"/>
                <a:cs typeface="Inter"/>
                <a:sym typeface="Inter"/>
              </a:rPr>
              <a:t>      b = -1/2</a:t>
            </a:r>
            <a:endParaRPr sz="2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The formal derivation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4" name="Google Shape;304;p27" title="Screenshot 2026-01-09 at 09.27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1250"/>
            <a:ext cx="3492975" cy="21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 title="Screenshot 2026-01-09 at 09.27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375" y="1171250"/>
            <a:ext cx="5425450" cy="267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5000" y="3351375"/>
            <a:ext cx="1987776" cy="15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title="Screenshot 2026-01-09 at 09.28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375" y="3845275"/>
            <a:ext cx="4909225" cy="12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8"/>
          <p:cNvPicPr preferRelativeResize="0"/>
          <p:nvPr/>
        </p:nvPicPr>
        <p:blipFill rotWithShape="1">
          <a:blip r:embed="rId3">
            <a:alphaModFix amt="30000"/>
          </a:blip>
          <a:srcRect b="0" l="0" r="0" t="28140"/>
          <a:stretch/>
        </p:blipFill>
        <p:spPr>
          <a:xfrm rot="10800000">
            <a:off x="311701" y="1069275"/>
            <a:ext cx="10090499" cy="40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Back to t</a:t>
            </a:r>
            <a:r>
              <a:rPr lang="en" sz="4000">
                <a:latin typeface="Inter"/>
                <a:ea typeface="Inter"/>
                <a:cs typeface="Inter"/>
                <a:sym typeface="Inter"/>
              </a:rPr>
              <a:t>he 6 strings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Why do different strings produce different notes?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A: Different tension and mass.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1473025" y="3739825"/>
            <a:ext cx="47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5963950" y="373982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1491625" y="4148225"/>
            <a:ext cx="434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8"/>
          <p:cNvSpPr txBox="1"/>
          <p:nvPr/>
        </p:nvSpPr>
        <p:spPr>
          <a:xfrm>
            <a:off x="5963950" y="4217050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C3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9" name="Google Shape;319;p28"/>
          <p:cNvGrpSpPr/>
          <p:nvPr/>
        </p:nvGrpSpPr>
        <p:grpSpPr>
          <a:xfrm>
            <a:off x="1109275" y="2379402"/>
            <a:ext cx="3000000" cy="930197"/>
            <a:chOff x="2818850" y="2013002"/>
            <a:chExt cx="3000000" cy="930197"/>
          </a:xfrm>
        </p:grpSpPr>
        <p:sp>
          <p:nvSpPr>
            <p:cNvPr id="320" name="Google Shape;320;p28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4000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321" name="Google Shape;321;p28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" name="Google Shape;322;p28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4" name="Google Shape;324;p28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5" name="Google Shape;325;p28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26" name="Google Shape;326;p28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28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28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9" name="Google Shape;329;p28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9"/>
          <p:cNvPicPr preferRelativeResize="0"/>
          <p:nvPr/>
        </p:nvPicPr>
        <p:blipFill rotWithShape="1">
          <a:blip r:embed="rId3">
            <a:alphaModFix amt="30000"/>
          </a:blip>
          <a:srcRect b="0" l="0" r="0" t="28140"/>
          <a:stretch/>
        </p:blipFill>
        <p:spPr>
          <a:xfrm rot="10800000">
            <a:off x="311701" y="1069275"/>
            <a:ext cx="10090499" cy="40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9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Back to the 6 strings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764988" y="1171250"/>
            <a:ext cx="7614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Why do different strings produce different notes?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A: Different tension and mass.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What determines note frequencies?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1473025" y="3739825"/>
            <a:ext cx="47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5963950" y="373982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1491625" y="4148225"/>
            <a:ext cx="434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5963950" y="4217050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C3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Back to notes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764988" y="1171250"/>
            <a:ext cx="76140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Each note and octave is just a certain frequency.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… B3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C4 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C#4 … B4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C5 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C#5 …</a:t>
            </a:r>
            <a:endParaRPr sz="20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… f</a:t>
            </a:r>
            <a:r>
              <a:rPr baseline="-25000"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B3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C4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C#4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  … 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B4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C#5</a:t>
            </a:r>
            <a:r>
              <a:rPr lang="en" sz="20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  … </a:t>
            </a:r>
            <a:endParaRPr sz="20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765000" y="2571750"/>
            <a:ext cx="67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Fact: 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Octaves should be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integer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multiples of another:</a:t>
            </a:r>
            <a:endParaRPr/>
          </a:p>
        </p:txBody>
      </p:sp>
      <p:pic>
        <p:nvPicPr>
          <p:cNvPr id="349" name="Google Shape;349;p30" title="Screenshot 2026-01-09 at 09.45.26.png"/>
          <p:cNvPicPr preferRelativeResize="0"/>
          <p:nvPr/>
        </p:nvPicPr>
        <p:blipFill rotWithShape="1">
          <a:blip r:embed="rId3">
            <a:alphaModFix/>
          </a:blip>
          <a:srcRect b="16240" l="5833" r="6439" t="20271"/>
          <a:stretch/>
        </p:blipFill>
        <p:spPr>
          <a:xfrm>
            <a:off x="476250" y="3503875"/>
            <a:ext cx="2602377" cy="93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 title="Screenshot 2026-01-09 at 09.46.23.png"/>
          <p:cNvPicPr preferRelativeResize="0"/>
          <p:nvPr/>
        </p:nvPicPr>
        <p:blipFill rotWithShape="1">
          <a:blip r:embed="rId4">
            <a:alphaModFix/>
          </a:blip>
          <a:srcRect b="0" l="5746" r="5569" t="0"/>
          <a:stretch/>
        </p:blipFill>
        <p:spPr>
          <a:xfrm>
            <a:off x="3393275" y="3405975"/>
            <a:ext cx="2517326" cy="112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 title="Screenshot 2026-01-09 at 09.48.37.png"/>
          <p:cNvPicPr preferRelativeResize="0"/>
          <p:nvPr/>
        </p:nvPicPr>
        <p:blipFill rotWithShape="1">
          <a:blip r:embed="rId5">
            <a:alphaModFix/>
          </a:blip>
          <a:srcRect b="0" l="5233" r="6799" t="0"/>
          <a:stretch/>
        </p:blipFill>
        <p:spPr>
          <a:xfrm>
            <a:off x="6225250" y="3085638"/>
            <a:ext cx="2675077" cy="17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3014200" y="382847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5910600" y="382847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1281375" y="4534175"/>
            <a:ext cx="992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C4</a:t>
            </a:r>
            <a:endParaRPr baseline="-25000"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3774588" y="4534175"/>
            <a:ext cx="1754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</a:t>
            </a: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=2f</a:t>
            </a:r>
            <a:r>
              <a:rPr baseline="-25000"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C4</a:t>
            </a:r>
            <a:endParaRPr baseline="-25000"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6719000" y="2133150"/>
            <a:ext cx="276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nly integers make </a:t>
            </a:r>
            <a:b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this a point of </a:t>
            </a:r>
            <a:b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rotational symmetry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7602050" y="2947375"/>
            <a:ext cx="404350" cy="925525"/>
          </a:xfrm>
          <a:custGeom>
            <a:rect b="b" l="l" r="r" t="t"/>
            <a:pathLst>
              <a:path extrusionOk="0" h="37021" w="16174">
                <a:moveTo>
                  <a:pt x="16174" y="0"/>
                </a:moveTo>
                <a:cubicBezTo>
                  <a:pt x="6652" y="9522"/>
                  <a:pt x="0" y="23554"/>
                  <a:pt x="0" y="370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Octaves demo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https://www.desmos.com/calculator/hckhphgc5v" id="363" name="Google Shape;363;p31" title="https://www.desmos.com/calculator/hckhphgc5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863" y="1171254"/>
            <a:ext cx="6688271" cy="3667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octave intervals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369" name="Google Shape;3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70" name="Google Shape;370;p32"/>
          <p:cNvSpPr txBox="1"/>
          <p:nvPr/>
        </p:nvSpPr>
        <p:spPr>
          <a:xfrm>
            <a:off x="876250" y="3654150"/>
            <a:ext cx="27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“Tango”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(Francisco Tárrega)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DG</a:t>
            </a: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DGBE</a:t>
            </a:r>
            <a:endParaRPr sz="18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1" name="Google Shape;371;p32"/>
          <p:cNvPicPr preferRelativeResize="0"/>
          <p:nvPr/>
        </p:nvPicPr>
        <p:blipFill rotWithShape="1">
          <a:blip r:embed="rId4">
            <a:alphaModFix/>
          </a:blip>
          <a:srcRect b="50698" l="0" r="0" t="3937"/>
          <a:stretch/>
        </p:blipFill>
        <p:spPr>
          <a:xfrm>
            <a:off x="447000" y="1554049"/>
            <a:ext cx="3618500" cy="2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 title="Screenshot 2026-01-10 at 10.27.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249" y="1873554"/>
            <a:ext cx="4773701" cy="2481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311701" y="1069275"/>
            <a:ext cx="10090499" cy="56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Octaves on the fretboard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Recall: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380" name="Google Shape;380;p33"/>
          <p:cNvSpPr txBox="1"/>
          <p:nvPr/>
        </p:nvSpPr>
        <p:spPr>
          <a:xfrm>
            <a:off x="765000" y="2571750"/>
            <a:ext cx="67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Thus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halving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string length brings us up an octave!</a:t>
            </a:r>
            <a:endParaRPr/>
          </a:p>
        </p:txBody>
      </p:sp>
      <p:cxnSp>
        <p:nvCxnSpPr>
          <p:cNvPr id="381" name="Google Shape;381;p33"/>
          <p:cNvCxnSpPr/>
          <p:nvPr/>
        </p:nvCxnSpPr>
        <p:spPr>
          <a:xfrm>
            <a:off x="1931225" y="3886025"/>
            <a:ext cx="0" cy="41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3"/>
          <p:cNvSpPr txBox="1"/>
          <p:nvPr/>
        </p:nvSpPr>
        <p:spPr>
          <a:xfrm>
            <a:off x="1734050" y="3277625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fret 0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4265325" y="3277613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fret 12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4" name="Google Shape;384;p33"/>
          <p:cNvCxnSpPr/>
          <p:nvPr/>
        </p:nvCxnSpPr>
        <p:spPr>
          <a:xfrm>
            <a:off x="5108850" y="3844100"/>
            <a:ext cx="0" cy="52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3"/>
          <p:cNvSpPr txBox="1"/>
          <p:nvPr/>
        </p:nvSpPr>
        <p:spPr>
          <a:xfrm>
            <a:off x="1395075" y="3776800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4685525" y="3776825"/>
            <a:ext cx="478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33"/>
          <p:cNvSpPr/>
          <p:nvPr/>
        </p:nvSpPr>
        <p:spPr>
          <a:xfrm rot="5400000">
            <a:off x="3455675" y="2940250"/>
            <a:ext cx="134400" cy="3183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 rot="5400000">
            <a:off x="6639275" y="2940250"/>
            <a:ext cx="134400" cy="3183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 txBox="1"/>
          <p:nvPr/>
        </p:nvSpPr>
        <p:spPr>
          <a:xfrm>
            <a:off x="3254825" y="4599250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L/2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6438425" y="4599250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L/2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1" name="Google Shape;391;p33"/>
          <p:cNvGrpSpPr/>
          <p:nvPr/>
        </p:nvGrpSpPr>
        <p:grpSpPr>
          <a:xfrm>
            <a:off x="3072000" y="1306452"/>
            <a:ext cx="3000000" cy="930197"/>
            <a:chOff x="2818850" y="2013002"/>
            <a:chExt cx="3000000" cy="930197"/>
          </a:xfrm>
        </p:grpSpPr>
        <p:sp>
          <p:nvSpPr>
            <p:cNvPr id="392" name="Google Shape;392;p33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4000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393" name="Google Shape;393;p33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4" name="Google Shape;394;p33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5" name="Google Shape;395;p33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33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7" name="Google Shape;397;p33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98" name="Google Shape;398;p33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33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33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" name="Google Shape;401;p33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5375" lIns="95375" spcFirstLastPara="1" rIns="95375" wrap="square" tIns="95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4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311701" y="1069275"/>
            <a:ext cx="10090499" cy="56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4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Other notes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34"/>
          <p:cNvSpPr txBox="1"/>
          <p:nvPr/>
        </p:nvSpPr>
        <p:spPr>
          <a:xfrm>
            <a:off x="764988" y="1171250"/>
            <a:ext cx="761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What about other notes? For all notes n from C, C#, …, we want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410" name="Google Shape;410;p34"/>
          <p:cNvSpPr txBox="1"/>
          <p:nvPr/>
        </p:nvSpPr>
        <p:spPr>
          <a:xfrm>
            <a:off x="765000" y="2571750"/>
            <a:ext cx="67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→ Halving string length always brings us up an octave.</a:t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2787975" y="1717600"/>
            <a:ext cx="327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—</a:t>
            </a:r>
            <a:r>
              <a:rPr lang="en" sz="4000">
                <a:latin typeface="Inter ExtraLight"/>
                <a:ea typeface="Inter ExtraLight"/>
                <a:cs typeface="Inter ExtraLight"/>
                <a:sym typeface="Inter ExtraLight"/>
              </a:rPr>
              <a:t> = — = …</a:t>
            </a:r>
            <a:endParaRPr sz="4000"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4122900" y="1748675"/>
            <a:ext cx="681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n2</a:t>
            </a:r>
            <a:endParaRPr sz="2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34"/>
          <p:cNvSpPr txBox="1"/>
          <p:nvPr/>
        </p:nvSpPr>
        <p:spPr>
          <a:xfrm>
            <a:off x="4090950" y="2234800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n1</a:t>
            </a:r>
            <a:endParaRPr sz="2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34"/>
          <p:cNvSpPr txBox="1"/>
          <p:nvPr/>
        </p:nvSpPr>
        <p:spPr>
          <a:xfrm>
            <a:off x="3039075" y="1748675"/>
            <a:ext cx="616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n1</a:t>
            </a:r>
            <a:endParaRPr sz="2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34"/>
          <p:cNvSpPr txBox="1"/>
          <p:nvPr/>
        </p:nvSpPr>
        <p:spPr>
          <a:xfrm>
            <a:off x="2975025" y="2234800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n0</a:t>
            </a:r>
            <a:endParaRPr sz="2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6" name="Google Shape;416;p34"/>
          <p:cNvCxnSpPr/>
          <p:nvPr/>
        </p:nvCxnSpPr>
        <p:spPr>
          <a:xfrm>
            <a:off x="2302550" y="3899150"/>
            <a:ext cx="0" cy="41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4"/>
          <p:cNvSpPr txBox="1"/>
          <p:nvPr/>
        </p:nvSpPr>
        <p:spPr>
          <a:xfrm>
            <a:off x="1810550" y="3312200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fret 1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4784550" y="3312188"/>
            <a:ext cx="9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fret 13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9" name="Google Shape;419;p34"/>
          <p:cNvCxnSpPr/>
          <p:nvPr/>
        </p:nvCxnSpPr>
        <p:spPr>
          <a:xfrm>
            <a:off x="5276550" y="3844100"/>
            <a:ext cx="0" cy="52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34"/>
          <p:cNvSpPr txBox="1"/>
          <p:nvPr/>
        </p:nvSpPr>
        <p:spPr>
          <a:xfrm>
            <a:off x="1831050" y="3776825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4"/>
          <p:cNvSpPr txBox="1"/>
          <p:nvPr/>
        </p:nvSpPr>
        <p:spPr>
          <a:xfrm>
            <a:off x="4803900" y="3776825"/>
            <a:ext cx="478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4"/>
          <p:cNvSpPr/>
          <p:nvPr/>
        </p:nvSpPr>
        <p:spPr>
          <a:xfrm rot="5400000">
            <a:off x="6724775" y="3025750"/>
            <a:ext cx="134400" cy="301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 txBox="1"/>
          <p:nvPr/>
        </p:nvSpPr>
        <p:spPr>
          <a:xfrm>
            <a:off x="3502200" y="4599250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L’/2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6523925" y="4599250"/>
            <a:ext cx="536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L’/2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34"/>
          <p:cNvSpPr/>
          <p:nvPr/>
        </p:nvSpPr>
        <p:spPr>
          <a:xfrm rot="5400000">
            <a:off x="3703050" y="3025750"/>
            <a:ext cx="134400" cy="301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Fretboard design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So why aren’t frets equidistant?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|    |    |    |    |    |    |    |    |    |    |    |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432" name="Google Shape;432;p35"/>
          <p:cNvSpPr txBox="1"/>
          <p:nvPr/>
        </p:nvSpPr>
        <p:spPr>
          <a:xfrm>
            <a:off x="765000" y="2571750"/>
            <a:ext cx="677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Why do higher frets get closer together?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433" name="Google Shape;433;p35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311701" y="1069275"/>
            <a:ext cx="10090499" cy="569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p35"/>
          <p:cNvCxnSpPr/>
          <p:nvPr/>
        </p:nvCxnSpPr>
        <p:spPr>
          <a:xfrm>
            <a:off x="23025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5"/>
          <p:cNvCxnSpPr/>
          <p:nvPr/>
        </p:nvCxnSpPr>
        <p:spPr>
          <a:xfrm>
            <a:off x="19174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5"/>
          <p:cNvCxnSpPr/>
          <p:nvPr/>
        </p:nvCxnSpPr>
        <p:spPr>
          <a:xfrm>
            <a:off x="26345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5"/>
          <p:cNvCxnSpPr/>
          <p:nvPr/>
        </p:nvCxnSpPr>
        <p:spPr>
          <a:xfrm>
            <a:off x="29570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5"/>
          <p:cNvCxnSpPr/>
          <p:nvPr/>
        </p:nvCxnSpPr>
        <p:spPr>
          <a:xfrm>
            <a:off x="3245525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5"/>
          <p:cNvCxnSpPr/>
          <p:nvPr/>
        </p:nvCxnSpPr>
        <p:spPr>
          <a:xfrm>
            <a:off x="35265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5"/>
          <p:cNvCxnSpPr/>
          <p:nvPr/>
        </p:nvCxnSpPr>
        <p:spPr>
          <a:xfrm>
            <a:off x="37930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5"/>
          <p:cNvCxnSpPr/>
          <p:nvPr/>
        </p:nvCxnSpPr>
        <p:spPr>
          <a:xfrm>
            <a:off x="40537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5"/>
          <p:cNvCxnSpPr/>
          <p:nvPr/>
        </p:nvCxnSpPr>
        <p:spPr>
          <a:xfrm>
            <a:off x="42860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5"/>
          <p:cNvCxnSpPr/>
          <p:nvPr/>
        </p:nvCxnSpPr>
        <p:spPr>
          <a:xfrm>
            <a:off x="45068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5"/>
          <p:cNvCxnSpPr/>
          <p:nvPr/>
        </p:nvCxnSpPr>
        <p:spPr>
          <a:xfrm>
            <a:off x="47277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5"/>
          <p:cNvCxnSpPr/>
          <p:nvPr/>
        </p:nvCxnSpPr>
        <p:spPr>
          <a:xfrm>
            <a:off x="49200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5"/>
          <p:cNvCxnSpPr/>
          <p:nvPr/>
        </p:nvCxnSpPr>
        <p:spPr>
          <a:xfrm>
            <a:off x="51066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5"/>
          <p:cNvCxnSpPr/>
          <p:nvPr/>
        </p:nvCxnSpPr>
        <p:spPr>
          <a:xfrm>
            <a:off x="52894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5"/>
          <p:cNvCxnSpPr/>
          <p:nvPr/>
        </p:nvCxnSpPr>
        <p:spPr>
          <a:xfrm>
            <a:off x="54537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5"/>
          <p:cNvCxnSpPr/>
          <p:nvPr/>
        </p:nvCxnSpPr>
        <p:spPr>
          <a:xfrm>
            <a:off x="56141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5"/>
          <p:cNvCxnSpPr/>
          <p:nvPr/>
        </p:nvCxnSpPr>
        <p:spPr>
          <a:xfrm>
            <a:off x="57665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5"/>
          <p:cNvCxnSpPr/>
          <p:nvPr/>
        </p:nvCxnSpPr>
        <p:spPr>
          <a:xfrm>
            <a:off x="59070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5"/>
          <p:cNvCxnSpPr/>
          <p:nvPr/>
        </p:nvCxnSpPr>
        <p:spPr>
          <a:xfrm>
            <a:off x="603560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5"/>
          <p:cNvCxnSpPr/>
          <p:nvPr/>
        </p:nvCxnSpPr>
        <p:spPr>
          <a:xfrm>
            <a:off x="616420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5"/>
          <p:cNvCxnSpPr/>
          <p:nvPr/>
        </p:nvCxnSpPr>
        <p:spPr>
          <a:xfrm>
            <a:off x="62848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6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Equal temperament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764988" y="1171250"/>
            <a:ext cx="76140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All notes should be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equally distant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. Suppose: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+ c =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 baseline="-25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D#1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+ c =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endParaRPr baseline="-25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765000" y="3009050"/>
            <a:ext cx="67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But we want</a:t>
            </a:r>
            <a:endParaRPr/>
          </a:p>
        </p:txBody>
      </p:sp>
      <p:sp>
        <p:nvSpPr>
          <p:cNvPr id="462" name="Google Shape;462;p36"/>
          <p:cNvSpPr txBox="1"/>
          <p:nvPr/>
        </p:nvSpPr>
        <p:spPr>
          <a:xfrm>
            <a:off x="1544738" y="3501650"/>
            <a:ext cx="327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</a:t>
            </a: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 = —</a:t>
            </a: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——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3" name="Google Shape;463;p36"/>
          <p:cNvSpPr txBox="1"/>
          <p:nvPr/>
        </p:nvSpPr>
        <p:spPr>
          <a:xfrm>
            <a:off x="2879663" y="3532725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 + 12c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2879663" y="3864950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1995063" y="3532713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1995063" y="3864938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4319663" y="3501650"/>
            <a:ext cx="327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</a:t>
            </a: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 = —</a:t>
            </a: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——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5654588" y="3532725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 + 24c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36"/>
          <p:cNvSpPr txBox="1"/>
          <p:nvPr/>
        </p:nvSpPr>
        <p:spPr>
          <a:xfrm>
            <a:off x="5654588" y="3864950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 + 12c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36"/>
          <p:cNvSpPr txBox="1"/>
          <p:nvPr/>
        </p:nvSpPr>
        <p:spPr>
          <a:xfrm>
            <a:off x="4769988" y="3532713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C2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4769988" y="3864938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36"/>
          <p:cNvSpPr txBox="1"/>
          <p:nvPr/>
        </p:nvSpPr>
        <p:spPr>
          <a:xfrm>
            <a:off x="4221638" y="3501650"/>
            <a:ext cx="74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=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73" name="Google Shape;473;p36"/>
          <p:cNvCxnSpPr/>
          <p:nvPr/>
        </p:nvCxnSpPr>
        <p:spPr>
          <a:xfrm flipH="1" rot="10800000">
            <a:off x="4545675" y="3732625"/>
            <a:ext cx="100800" cy="2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7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Equal temperament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7"/>
          <p:cNvSpPr txBox="1"/>
          <p:nvPr/>
        </p:nvSpPr>
        <p:spPr>
          <a:xfrm>
            <a:off x="764988" y="1171250"/>
            <a:ext cx="7614000" cy="18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All notes should be </a:t>
            </a:r>
            <a:r>
              <a:rPr i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equally distant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. Suppose: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⋅ r =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 baseline="-25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D#1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⋅ r =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D0</a:t>
            </a:r>
            <a:endParaRPr baseline="-25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37"/>
          <p:cNvSpPr txBox="1"/>
          <p:nvPr/>
        </p:nvSpPr>
        <p:spPr>
          <a:xfrm>
            <a:off x="765000" y="3009050"/>
            <a:ext cx="67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Now we have</a:t>
            </a:r>
            <a:endParaRPr/>
          </a:p>
        </p:txBody>
      </p:sp>
      <p:sp>
        <p:nvSpPr>
          <p:cNvPr id="481" name="Google Shape;481;p37"/>
          <p:cNvSpPr txBox="1"/>
          <p:nvPr/>
        </p:nvSpPr>
        <p:spPr>
          <a:xfrm>
            <a:off x="1544738" y="3501650"/>
            <a:ext cx="327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</a:t>
            </a: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 = —</a:t>
            </a: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——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2" name="Google Shape;482;p37"/>
          <p:cNvSpPr txBox="1"/>
          <p:nvPr/>
        </p:nvSpPr>
        <p:spPr>
          <a:xfrm>
            <a:off x="2879663" y="3532725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 ⋅ r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aseline="30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2879663" y="3864950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1995063" y="3532713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37"/>
          <p:cNvSpPr txBox="1"/>
          <p:nvPr/>
        </p:nvSpPr>
        <p:spPr>
          <a:xfrm>
            <a:off x="1995063" y="3864938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37"/>
          <p:cNvSpPr txBox="1"/>
          <p:nvPr/>
        </p:nvSpPr>
        <p:spPr>
          <a:xfrm>
            <a:off x="4319663" y="3501650"/>
            <a:ext cx="327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</a:t>
            </a: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 = —</a:t>
            </a:r>
            <a:r>
              <a:rPr lang="en" sz="3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——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7" name="Google Shape;487;p37"/>
          <p:cNvSpPr txBox="1"/>
          <p:nvPr/>
        </p:nvSpPr>
        <p:spPr>
          <a:xfrm>
            <a:off x="5654588" y="3532725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 ⋅ r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37"/>
          <p:cNvSpPr txBox="1"/>
          <p:nvPr/>
        </p:nvSpPr>
        <p:spPr>
          <a:xfrm>
            <a:off x="5654588" y="3864950"/>
            <a:ext cx="14400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⋅ r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37"/>
          <p:cNvSpPr txBox="1"/>
          <p:nvPr/>
        </p:nvSpPr>
        <p:spPr>
          <a:xfrm>
            <a:off x="4769988" y="3532713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C2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7"/>
          <p:cNvSpPr txBox="1"/>
          <p:nvPr/>
        </p:nvSpPr>
        <p:spPr>
          <a:xfrm>
            <a:off x="4769988" y="3864938"/>
            <a:ext cx="744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4221638" y="3501650"/>
            <a:ext cx="74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 Light"/>
                <a:ea typeface="Inter Light"/>
                <a:cs typeface="Inter Light"/>
                <a:sym typeface="Inter Light"/>
              </a:rPr>
              <a:t>=</a:t>
            </a:r>
            <a:endParaRPr sz="3000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8" title="Screenshot 2026-01-10 at 10.28.14.png"/>
          <p:cNvPicPr preferRelativeResize="0"/>
          <p:nvPr/>
        </p:nvPicPr>
        <p:blipFill rotWithShape="1">
          <a:blip r:embed="rId3">
            <a:alphaModFix/>
          </a:blip>
          <a:srcRect b="0" l="0" r="50644" t="0"/>
          <a:stretch/>
        </p:blipFill>
        <p:spPr>
          <a:xfrm>
            <a:off x="4877925" y="961375"/>
            <a:ext cx="3446476" cy="220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8" title="Screenshot 2026-01-10 at 10.28.14.png"/>
          <p:cNvPicPr preferRelativeResize="0"/>
          <p:nvPr/>
        </p:nvPicPr>
        <p:blipFill rotWithShape="1">
          <a:blip r:embed="rId3">
            <a:alphaModFix/>
          </a:blip>
          <a:srcRect b="0" l="51126" r="0" t="8625"/>
          <a:stretch/>
        </p:blipFill>
        <p:spPr>
          <a:xfrm>
            <a:off x="4841250" y="3066800"/>
            <a:ext cx="3519851" cy="20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8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other intervals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99" name="Google Shape;49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00" name="Google Shape;500;p38"/>
          <p:cNvSpPr txBox="1"/>
          <p:nvPr/>
        </p:nvSpPr>
        <p:spPr>
          <a:xfrm>
            <a:off x="876250" y="3654150"/>
            <a:ext cx="27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“Tango”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(Francisco Tárrega)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DGDGBE</a:t>
            </a:r>
            <a:endParaRPr sz="1800">
              <a:solidFill>
                <a:srgbClr val="9E9E9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1" name="Google Shape;501;p38"/>
          <p:cNvPicPr preferRelativeResize="0"/>
          <p:nvPr/>
        </p:nvPicPr>
        <p:blipFill rotWithShape="1">
          <a:blip r:embed="rId5">
            <a:alphaModFix/>
          </a:blip>
          <a:srcRect b="50698" l="0" r="0" t="3937"/>
          <a:stretch/>
        </p:blipFill>
        <p:spPr>
          <a:xfrm>
            <a:off x="447000" y="1554049"/>
            <a:ext cx="3618500" cy="20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Why uneven frets?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764988" y="1171250"/>
            <a:ext cx="7614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Since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2 ⋅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⋅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C0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we have  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 = 2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1/12</a:t>
            </a:r>
            <a:endParaRPr baseline="30000"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508" name="Google Shape;508;p39"/>
          <p:cNvSpPr txBox="1"/>
          <p:nvPr/>
        </p:nvSpPr>
        <p:spPr>
          <a:xfrm>
            <a:off x="765000" y="2053600"/>
            <a:ext cx="677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Recall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∝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1 / f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. So the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th note has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∝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2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-n/12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.</a:t>
            </a:r>
            <a:endParaRPr sz="2000"/>
          </a:p>
        </p:txBody>
      </p:sp>
      <p:pic>
        <p:nvPicPr>
          <p:cNvPr id="509" name="Google Shape;509;p39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10800000">
            <a:off x="311701" y="1069275"/>
            <a:ext cx="10090499" cy="569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39"/>
          <p:cNvCxnSpPr/>
          <p:nvPr/>
        </p:nvCxnSpPr>
        <p:spPr>
          <a:xfrm>
            <a:off x="23025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9"/>
          <p:cNvCxnSpPr/>
          <p:nvPr/>
        </p:nvCxnSpPr>
        <p:spPr>
          <a:xfrm>
            <a:off x="19174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9"/>
          <p:cNvCxnSpPr/>
          <p:nvPr/>
        </p:nvCxnSpPr>
        <p:spPr>
          <a:xfrm>
            <a:off x="26345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9"/>
          <p:cNvCxnSpPr/>
          <p:nvPr/>
        </p:nvCxnSpPr>
        <p:spPr>
          <a:xfrm>
            <a:off x="2957050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9"/>
          <p:cNvCxnSpPr/>
          <p:nvPr/>
        </p:nvCxnSpPr>
        <p:spPr>
          <a:xfrm>
            <a:off x="3245525" y="38678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9"/>
          <p:cNvCxnSpPr/>
          <p:nvPr/>
        </p:nvCxnSpPr>
        <p:spPr>
          <a:xfrm>
            <a:off x="35265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9"/>
          <p:cNvCxnSpPr/>
          <p:nvPr/>
        </p:nvCxnSpPr>
        <p:spPr>
          <a:xfrm>
            <a:off x="37930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9"/>
          <p:cNvCxnSpPr/>
          <p:nvPr/>
        </p:nvCxnSpPr>
        <p:spPr>
          <a:xfrm>
            <a:off x="40537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9"/>
          <p:cNvCxnSpPr/>
          <p:nvPr/>
        </p:nvCxnSpPr>
        <p:spPr>
          <a:xfrm>
            <a:off x="42860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9"/>
          <p:cNvCxnSpPr/>
          <p:nvPr/>
        </p:nvCxnSpPr>
        <p:spPr>
          <a:xfrm>
            <a:off x="45068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9"/>
          <p:cNvCxnSpPr/>
          <p:nvPr/>
        </p:nvCxnSpPr>
        <p:spPr>
          <a:xfrm>
            <a:off x="47277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9"/>
          <p:cNvCxnSpPr/>
          <p:nvPr/>
        </p:nvCxnSpPr>
        <p:spPr>
          <a:xfrm>
            <a:off x="49200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9"/>
          <p:cNvCxnSpPr/>
          <p:nvPr/>
        </p:nvCxnSpPr>
        <p:spPr>
          <a:xfrm>
            <a:off x="51066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9"/>
          <p:cNvCxnSpPr/>
          <p:nvPr/>
        </p:nvCxnSpPr>
        <p:spPr>
          <a:xfrm>
            <a:off x="52894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9"/>
          <p:cNvCxnSpPr/>
          <p:nvPr/>
        </p:nvCxnSpPr>
        <p:spPr>
          <a:xfrm>
            <a:off x="545377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9"/>
          <p:cNvCxnSpPr/>
          <p:nvPr/>
        </p:nvCxnSpPr>
        <p:spPr>
          <a:xfrm>
            <a:off x="56141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9"/>
          <p:cNvCxnSpPr/>
          <p:nvPr/>
        </p:nvCxnSpPr>
        <p:spPr>
          <a:xfrm>
            <a:off x="57665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9"/>
          <p:cNvCxnSpPr/>
          <p:nvPr/>
        </p:nvCxnSpPr>
        <p:spPr>
          <a:xfrm>
            <a:off x="5907025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9"/>
          <p:cNvCxnSpPr/>
          <p:nvPr/>
        </p:nvCxnSpPr>
        <p:spPr>
          <a:xfrm>
            <a:off x="603560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9"/>
          <p:cNvCxnSpPr/>
          <p:nvPr/>
        </p:nvCxnSpPr>
        <p:spPr>
          <a:xfrm>
            <a:off x="616420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9"/>
          <p:cNvCxnSpPr/>
          <p:nvPr/>
        </p:nvCxnSpPr>
        <p:spPr>
          <a:xfrm>
            <a:off x="6284850" y="3864100"/>
            <a:ext cx="0" cy="42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40"/>
          <p:cNvPicPr preferRelativeResize="0"/>
          <p:nvPr/>
        </p:nvPicPr>
        <p:blipFill rotWithShape="1">
          <a:blip r:embed="rId3">
            <a:alphaModFix amt="30000"/>
          </a:blip>
          <a:srcRect b="0" l="0" r="0" t="28140"/>
          <a:stretch/>
        </p:blipFill>
        <p:spPr>
          <a:xfrm rot="10800000">
            <a:off x="311701" y="1069275"/>
            <a:ext cx="10090499" cy="40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0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Inter"/>
                <a:ea typeface="Inter"/>
                <a:cs typeface="Inter"/>
                <a:sym typeface="Inter"/>
              </a:rPr>
              <a:t>Back to the 6 strings</a:t>
            </a:r>
            <a:endParaRPr sz="4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40"/>
          <p:cNvSpPr txBox="1"/>
          <p:nvPr/>
        </p:nvSpPr>
        <p:spPr>
          <a:xfrm>
            <a:off x="764988" y="1171250"/>
            <a:ext cx="761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Georama"/>
                <a:ea typeface="Georama"/>
                <a:cs typeface="Georama"/>
                <a:sym typeface="Georama"/>
              </a:rPr>
              <a:t>Why do different strings produce different notes?</a:t>
            </a:r>
            <a:endParaRPr sz="2000">
              <a:solidFill>
                <a:srgbClr val="9E9E9E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E9E9E"/>
                </a:solidFill>
                <a:latin typeface="Georama"/>
                <a:ea typeface="Georama"/>
                <a:cs typeface="Georama"/>
                <a:sym typeface="Georama"/>
              </a:rPr>
              <a:t>A: Different tension and mass.</a:t>
            </a:r>
            <a:endParaRPr sz="2000">
              <a:solidFill>
                <a:srgbClr val="9E9E9E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What determines note 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frequencies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	A: Equal temperament; this makes frets uneven.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538" name="Google Shape;538;p40"/>
          <p:cNvSpPr txBox="1"/>
          <p:nvPr/>
        </p:nvSpPr>
        <p:spPr>
          <a:xfrm>
            <a:off x="1473025" y="3739825"/>
            <a:ext cx="47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E4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40"/>
          <p:cNvSpPr txBox="1"/>
          <p:nvPr/>
        </p:nvSpPr>
        <p:spPr>
          <a:xfrm>
            <a:off x="5963950" y="3739825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C5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1491625" y="4148225"/>
            <a:ext cx="4341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E2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40"/>
          <p:cNvSpPr txBox="1"/>
          <p:nvPr/>
        </p:nvSpPr>
        <p:spPr>
          <a:xfrm>
            <a:off x="5963950" y="4217050"/>
            <a:ext cx="4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C3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900" y="1774875"/>
            <a:ext cx="3328875" cy="33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1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Recall: icebreaker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8" name="Google Shape;548;p41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Which can produce a note of higher frequency, this guitar or piano?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	Guitar	: highest string, highest fret is C5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  	Piano	: highest note is C8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549" name="Google Shape;5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000" y="2316863"/>
            <a:ext cx="3975231" cy="22448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2"/>
          <p:cNvSpPr txBox="1"/>
          <p:nvPr>
            <p:ph type="ctrTitle"/>
          </p:nvPr>
        </p:nvSpPr>
        <p:spPr>
          <a:xfrm>
            <a:off x="311700" y="1781698"/>
            <a:ext cx="8520600" cy="15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2. Harmonics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The longitudinal wave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60" name="Google Shape;560;p43"/>
          <p:cNvCxnSpPr/>
          <p:nvPr/>
        </p:nvCxnSpPr>
        <p:spPr>
          <a:xfrm>
            <a:off x="1929675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3"/>
          <p:cNvCxnSpPr/>
          <p:nvPr/>
        </p:nvCxnSpPr>
        <p:spPr>
          <a:xfrm>
            <a:off x="2039998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3"/>
          <p:cNvCxnSpPr/>
          <p:nvPr/>
        </p:nvCxnSpPr>
        <p:spPr>
          <a:xfrm>
            <a:off x="2155868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3"/>
          <p:cNvCxnSpPr/>
          <p:nvPr/>
        </p:nvCxnSpPr>
        <p:spPr>
          <a:xfrm>
            <a:off x="2503479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3"/>
          <p:cNvCxnSpPr/>
          <p:nvPr/>
        </p:nvCxnSpPr>
        <p:spPr>
          <a:xfrm>
            <a:off x="2851089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3"/>
          <p:cNvCxnSpPr/>
          <p:nvPr/>
        </p:nvCxnSpPr>
        <p:spPr>
          <a:xfrm>
            <a:off x="6075539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3"/>
          <p:cNvCxnSpPr/>
          <p:nvPr/>
        </p:nvCxnSpPr>
        <p:spPr>
          <a:xfrm>
            <a:off x="6423149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3"/>
          <p:cNvCxnSpPr/>
          <p:nvPr/>
        </p:nvCxnSpPr>
        <p:spPr>
          <a:xfrm>
            <a:off x="6770760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3"/>
          <p:cNvCxnSpPr/>
          <p:nvPr/>
        </p:nvCxnSpPr>
        <p:spPr>
          <a:xfrm>
            <a:off x="6886630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3"/>
          <p:cNvCxnSpPr/>
          <p:nvPr/>
        </p:nvCxnSpPr>
        <p:spPr>
          <a:xfrm>
            <a:off x="7002500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3"/>
          <p:cNvCxnSpPr/>
          <p:nvPr/>
        </p:nvCxnSpPr>
        <p:spPr>
          <a:xfrm>
            <a:off x="3198700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43"/>
          <p:cNvCxnSpPr/>
          <p:nvPr/>
        </p:nvCxnSpPr>
        <p:spPr>
          <a:xfrm>
            <a:off x="3546310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3"/>
          <p:cNvCxnSpPr/>
          <p:nvPr/>
        </p:nvCxnSpPr>
        <p:spPr>
          <a:xfrm>
            <a:off x="3662181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3"/>
          <p:cNvCxnSpPr/>
          <p:nvPr/>
        </p:nvCxnSpPr>
        <p:spPr>
          <a:xfrm>
            <a:off x="3778051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3"/>
          <p:cNvCxnSpPr/>
          <p:nvPr/>
        </p:nvCxnSpPr>
        <p:spPr>
          <a:xfrm>
            <a:off x="4125661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3"/>
          <p:cNvCxnSpPr/>
          <p:nvPr/>
        </p:nvCxnSpPr>
        <p:spPr>
          <a:xfrm>
            <a:off x="4473277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3"/>
          <p:cNvCxnSpPr/>
          <p:nvPr/>
        </p:nvCxnSpPr>
        <p:spPr>
          <a:xfrm>
            <a:off x="4800967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3"/>
          <p:cNvCxnSpPr/>
          <p:nvPr/>
        </p:nvCxnSpPr>
        <p:spPr>
          <a:xfrm>
            <a:off x="5148577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3"/>
          <p:cNvCxnSpPr/>
          <p:nvPr/>
        </p:nvCxnSpPr>
        <p:spPr>
          <a:xfrm>
            <a:off x="5264448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3"/>
          <p:cNvCxnSpPr/>
          <p:nvPr/>
        </p:nvCxnSpPr>
        <p:spPr>
          <a:xfrm>
            <a:off x="5380318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3"/>
          <p:cNvCxnSpPr/>
          <p:nvPr/>
        </p:nvCxnSpPr>
        <p:spPr>
          <a:xfrm>
            <a:off x="5727928" y="2267375"/>
            <a:ext cx="0" cy="11247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43"/>
          <p:cNvSpPr/>
          <p:nvPr/>
        </p:nvSpPr>
        <p:spPr>
          <a:xfrm rot="5400000">
            <a:off x="2759300" y="2815175"/>
            <a:ext cx="183600" cy="1617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3"/>
          <p:cNvSpPr txBox="1"/>
          <p:nvPr/>
        </p:nvSpPr>
        <p:spPr>
          <a:xfrm>
            <a:off x="2184950" y="3631400"/>
            <a:ext cx="133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1 cycle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43"/>
          <p:cNvSpPr txBox="1"/>
          <p:nvPr/>
        </p:nvSpPr>
        <p:spPr>
          <a:xfrm>
            <a:off x="2755125" y="1535450"/>
            <a:ext cx="181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compression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43"/>
          <p:cNvSpPr/>
          <p:nvPr/>
        </p:nvSpPr>
        <p:spPr>
          <a:xfrm rot="-5400000">
            <a:off x="3570375" y="1957500"/>
            <a:ext cx="183600" cy="33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3"/>
          <p:cNvSpPr txBox="1"/>
          <p:nvPr/>
        </p:nvSpPr>
        <p:spPr>
          <a:xfrm>
            <a:off x="5174300" y="3631400"/>
            <a:ext cx="181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expansion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Google Shape;586;p43"/>
          <p:cNvSpPr/>
          <p:nvPr/>
        </p:nvSpPr>
        <p:spPr>
          <a:xfrm rot="5400000">
            <a:off x="5989550" y="3154350"/>
            <a:ext cx="183600" cy="934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3"/>
          <p:cNvSpPr/>
          <p:nvPr/>
        </p:nvSpPr>
        <p:spPr>
          <a:xfrm>
            <a:off x="7118375" y="2267375"/>
            <a:ext cx="183600" cy="112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3"/>
          <p:cNvSpPr txBox="1"/>
          <p:nvPr/>
        </p:nvSpPr>
        <p:spPr>
          <a:xfrm>
            <a:off x="7234250" y="2429525"/>
            <a:ext cx="153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string</a:t>
            </a:r>
            <a:endParaRPr sz="2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diameter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4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The harmonics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4" name="Google Shape;594;p44"/>
          <p:cNvCxnSpPr/>
          <p:nvPr/>
        </p:nvCxnSpPr>
        <p:spPr>
          <a:xfrm>
            <a:off x="7780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44"/>
          <p:cNvSpPr txBox="1"/>
          <p:nvPr/>
        </p:nvSpPr>
        <p:spPr>
          <a:xfrm>
            <a:off x="150450" y="1656525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6" name="Google Shape;596;p44"/>
          <p:cNvCxnSpPr/>
          <p:nvPr/>
        </p:nvCxnSpPr>
        <p:spPr>
          <a:xfrm>
            <a:off x="867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4"/>
          <p:cNvCxnSpPr/>
          <p:nvPr/>
        </p:nvCxnSpPr>
        <p:spPr>
          <a:xfrm>
            <a:off x="961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4"/>
          <p:cNvCxnSpPr/>
          <p:nvPr/>
        </p:nvCxnSpPr>
        <p:spPr>
          <a:xfrm>
            <a:off x="1243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4"/>
          <p:cNvCxnSpPr/>
          <p:nvPr/>
        </p:nvCxnSpPr>
        <p:spPr>
          <a:xfrm>
            <a:off x="1619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4"/>
          <p:cNvCxnSpPr/>
          <p:nvPr/>
        </p:nvCxnSpPr>
        <p:spPr>
          <a:xfrm>
            <a:off x="1995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4"/>
          <p:cNvCxnSpPr/>
          <p:nvPr/>
        </p:nvCxnSpPr>
        <p:spPr>
          <a:xfrm>
            <a:off x="2371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4"/>
          <p:cNvCxnSpPr/>
          <p:nvPr/>
        </p:nvCxnSpPr>
        <p:spPr>
          <a:xfrm>
            <a:off x="2747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4"/>
          <p:cNvCxnSpPr/>
          <p:nvPr/>
        </p:nvCxnSpPr>
        <p:spPr>
          <a:xfrm>
            <a:off x="3123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4"/>
          <p:cNvCxnSpPr/>
          <p:nvPr/>
        </p:nvCxnSpPr>
        <p:spPr>
          <a:xfrm>
            <a:off x="3499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44"/>
          <p:cNvCxnSpPr/>
          <p:nvPr/>
        </p:nvCxnSpPr>
        <p:spPr>
          <a:xfrm>
            <a:off x="3875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44"/>
          <p:cNvCxnSpPr/>
          <p:nvPr/>
        </p:nvCxnSpPr>
        <p:spPr>
          <a:xfrm>
            <a:off x="4251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44"/>
          <p:cNvCxnSpPr/>
          <p:nvPr/>
        </p:nvCxnSpPr>
        <p:spPr>
          <a:xfrm>
            <a:off x="4533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4"/>
          <p:cNvCxnSpPr/>
          <p:nvPr/>
        </p:nvCxnSpPr>
        <p:spPr>
          <a:xfrm>
            <a:off x="4627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4"/>
          <p:cNvCxnSpPr/>
          <p:nvPr/>
        </p:nvCxnSpPr>
        <p:spPr>
          <a:xfrm>
            <a:off x="4721550" y="16565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44"/>
          <p:cNvSpPr txBox="1"/>
          <p:nvPr/>
        </p:nvSpPr>
        <p:spPr>
          <a:xfrm>
            <a:off x="5003550" y="1656525"/>
            <a:ext cx="14073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aseline="-25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1" name="Google Shape;611;p44"/>
          <p:cNvCxnSpPr/>
          <p:nvPr/>
        </p:nvCxnSpPr>
        <p:spPr>
          <a:xfrm>
            <a:off x="7780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44"/>
          <p:cNvSpPr txBox="1"/>
          <p:nvPr/>
        </p:nvSpPr>
        <p:spPr>
          <a:xfrm>
            <a:off x="150450" y="2250550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3" name="Google Shape;613;p44"/>
          <p:cNvCxnSpPr/>
          <p:nvPr/>
        </p:nvCxnSpPr>
        <p:spPr>
          <a:xfrm>
            <a:off x="867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4"/>
          <p:cNvCxnSpPr/>
          <p:nvPr/>
        </p:nvCxnSpPr>
        <p:spPr>
          <a:xfrm>
            <a:off x="961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4"/>
          <p:cNvCxnSpPr/>
          <p:nvPr/>
        </p:nvCxnSpPr>
        <p:spPr>
          <a:xfrm>
            <a:off x="1243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4"/>
          <p:cNvCxnSpPr/>
          <p:nvPr/>
        </p:nvCxnSpPr>
        <p:spPr>
          <a:xfrm>
            <a:off x="1525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4"/>
          <p:cNvCxnSpPr/>
          <p:nvPr/>
        </p:nvCxnSpPr>
        <p:spPr>
          <a:xfrm>
            <a:off x="1807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4"/>
          <p:cNvCxnSpPr/>
          <p:nvPr/>
        </p:nvCxnSpPr>
        <p:spPr>
          <a:xfrm>
            <a:off x="2089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44"/>
          <p:cNvCxnSpPr/>
          <p:nvPr/>
        </p:nvCxnSpPr>
        <p:spPr>
          <a:xfrm>
            <a:off x="2371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44"/>
          <p:cNvCxnSpPr/>
          <p:nvPr/>
        </p:nvCxnSpPr>
        <p:spPr>
          <a:xfrm>
            <a:off x="2747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44"/>
          <p:cNvCxnSpPr/>
          <p:nvPr/>
        </p:nvCxnSpPr>
        <p:spPr>
          <a:xfrm>
            <a:off x="4533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44"/>
          <p:cNvCxnSpPr/>
          <p:nvPr/>
        </p:nvCxnSpPr>
        <p:spPr>
          <a:xfrm>
            <a:off x="4627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44"/>
          <p:cNvCxnSpPr/>
          <p:nvPr/>
        </p:nvCxnSpPr>
        <p:spPr>
          <a:xfrm>
            <a:off x="4721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44"/>
          <p:cNvCxnSpPr/>
          <p:nvPr/>
        </p:nvCxnSpPr>
        <p:spPr>
          <a:xfrm>
            <a:off x="7780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44"/>
          <p:cNvSpPr txBox="1"/>
          <p:nvPr/>
        </p:nvSpPr>
        <p:spPr>
          <a:xfrm>
            <a:off x="150450" y="2844575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26" name="Google Shape;626;p44"/>
          <p:cNvCxnSpPr/>
          <p:nvPr/>
        </p:nvCxnSpPr>
        <p:spPr>
          <a:xfrm>
            <a:off x="86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4"/>
          <p:cNvCxnSpPr/>
          <p:nvPr/>
        </p:nvCxnSpPr>
        <p:spPr>
          <a:xfrm>
            <a:off x="961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44"/>
          <p:cNvCxnSpPr/>
          <p:nvPr/>
        </p:nvCxnSpPr>
        <p:spPr>
          <a:xfrm>
            <a:off x="1243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4"/>
          <p:cNvCxnSpPr/>
          <p:nvPr/>
        </p:nvCxnSpPr>
        <p:spPr>
          <a:xfrm>
            <a:off x="1525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44"/>
          <p:cNvCxnSpPr/>
          <p:nvPr/>
        </p:nvCxnSpPr>
        <p:spPr>
          <a:xfrm>
            <a:off x="3969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4"/>
          <p:cNvCxnSpPr/>
          <p:nvPr/>
        </p:nvCxnSpPr>
        <p:spPr>
          <a:xfrm>
            <a:off x="4251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4"/>
          <p:cNvCxnSpPr/>
          <p:nvPr/>
        </p:nvCxnSpPr>
        <p:spPr>
          <a:xfrm>
            <a:off x="4533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44"/>
          <p:cNvCxnSpPr/>
          <p:nvPr/>
        </p:nvCxnSpPr>
        <p:spPr>
          <a:xfrm>
            <a:off x="462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4"/>
          <p:cNvCxnSpPr/>
          <p:nvPr/>
        </p:nvCxnSpPr>
        <p:spPr>
          <a:xfrm>
            <a:off x="4721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4"/>
          <p:cNvCxnSpPr/>
          <p:nvPr/>
        </p:nvCxnSpPr>
        <p:spPr>
          <a:xfrm>
            <a:off x="7780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44"/>
          <p:cNvSpPr txBox="1"/>
          <p:nvPr/>
        </p:nvSpPr>
        <p:spPr>
          <a:xfrm>
            <a:off x="150450" y="3438600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7" name="Google Shape;637;p44"/>
          <p:cNvCxnSpPr/>
          <p:nvPr/>
        </p:nvCxnSpPr>
        <p:spPr>
          <a:xfrm>
            <a:off x="867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4"/>
          <p:cNvCxnSpPr/>
          <p:nvPr/>
        </p:nvCxnSpPr>
        <p:spPr>
          <a:xfrm>
            <a:off x="961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4"/>
          <p:cNvCxnSpPr/>
          <p:nvPr/>
        </p:nvCxnSpPr>
        <p:spPr>
          <a:xfrm>
            <a:off x="1243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4"/>
          <p:cNvCxnSpPr/>
          <p:nvPr/>
        </p:nvCxnSpPr>
        <p:spPr>
          <a:xfrm>
            <a:off x="1525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4"/>
          <p:cNvCxnSpPr/>
          <p:nvPr/>
        </p:nvCxnSpPr>
        <p:spPr>
          <a:xfrm>
            <a:off x="1807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4"/>
          <p:cNvCxnSpPr/>
          <p:nvPr/>
        </p:nvCxnSpPr>
        <p:spPr>
          <a:xfrm>
            <a:off x="1901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4"/>
          <p:cNvCxnSpPr/>
          <p:nvPr/>
        </p:nvCxnSpPr>
        <p:spPr>
          <a:xfrm>
            <a:off x="2371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4"/>
          <p:cNvCxnSpPr/>
          <p:nvPr/>
        </p:nvCxnSpPr>
        <p:spPr>
          <a:xfrm>
            <a:off x="2747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4"/>
          <p:cNvCxnSpPr/>
          <p:nvPr/>
        </p:nvCxnSpPr>
        <p:spPr>
          <a:xfrm>
            <a:off x="4533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4"/>
          <p:cNvCxnSpPr/>
          <p:nvPr/>
        </p:nvCxnSpPr>
        <p:spPr>
          <a:xfrm>
            <a:off x="4627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4"/>
          <p:cNvCxnSpPr/>
          <p:nvPr/>
        </p:nvCxnSpPr>
        <p:spPr>
          <a:xfrm>
            <a:off x="4721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44"/>
          <p:cNvCxnSpPr/>
          <p:nvPr/>
        </p:nvCxnSpPr>
        <p:spPr>
          <a:xfrm>
            <a:off x="7780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44"/>
          <p:cNvSpPr txBox="1"/>
          <p:nvPr/>
        </p:nvSpPr>
        <p:spPr>
          <a:xfrm>
            <a:off x="150450" y="4032625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50" name="Google Shape;650;p44"/>
          <p:cNvCxnSpPr/>
          <p:nvPr/>
        </p:nvCxnSpPr>
        <p:spPr>
          <a:xfrm>
            <a:off x="867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4"/>
          <p:cNvCxnSpPr/>
          <p:nvPr/>
        </p:nvCxnSpPr>
        <p:spPr>
          <a:xfrm>
            <a:off x="961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4"/>
          <p:cNvCxnSpPr/>
          <p:nvPr/>
        </p:nvCxnSpPr>
        <p:spPr>
          <a:xfrm>
            <a:off x="1243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4"/>
          <p:cNvCxnSpPr/>
          <p:nvPr/>
        </p:nvCxnSpPr>
        <p:spPr>
          <a:xfrm>
            <a:off x="1525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4"/>
          <p:cNvCxnSpPr/>
          <p:nvPr/>
        </p:nvCxnSpPr>
        <p:spPr>
          <a:xfrm>
            <a:off x="1619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44"/>
          <p:cNvCxnSpPr/>
          <p:nvPr/>
        </p:nvCxnSpPr>
        <p:spPr>
          <a:xfrm>
            <a:off x="1713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4"/>
          <p:cNvCxnSpPr/>
          <p:nvPr/>
        </p:nvCxnSpPr>
        <p:spPr>
          <a:xfrm>
            <a:off x="1995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44"/>
          <p:cNvCxnSpPr/>
          <p:nvPr/>
        </p:nvCxnSpPr>
        <p:spPr>
          <a:xfrm>
            <a:off x="2277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4"/>
          <p:cNvCxnSpPr/>
          <p:nvPr/>
        </p:nvCxnSpPr>
        <p:spPr>
          <a:xfrm>
            <a:off x="2371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4"/>
          <p:cNvCxnSpPr/>
          <p:nvPr/>
        </p:nvCxnSpPr>
        <p:spPr>
          <a:xfrm>
            <a:off x="2465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44"/>
          <p:cNvCxnSpPr/>
          <p:nvPr/>
        </p:nvCxnSpPr>
        <p:spPr>
          <a:xfrm>
            <a:off x="2747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44"/>
          <p:cNvCxnSpPr/>
          <p:nvPr/>
        </p:nvCxnSpPr>
        <p:spPr>
          <a:xfrm>
            <a:off x="3029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4"/>
          <p:cNvCxnSpPr/>
          <p:nvPr/>
        </p:nvCxnSpPr>
        <p:spPr>
          <a:xfrm>
            <a:off x="3123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44"/>
          <p:cNvCxnSpPr/>
          <p:nvPr/>
        </p:nvCxnSpPr>
        <p:spPr>
          <a:xfrm>
            <a:off x="3217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4"/>
          <p:cNvCxnSpPr/>
          <p:nvPr/>
        </p:nvCxnSpPr>
        <p:spPr>
          <a:xfrm>
            <a:off x="3499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44"/>
          <p:cNvCxnSpPr/>
          <p:nvPr/>
        </p:nvCxnSpPr>
        <p:spPr>
          <a:xfrm>
            <a:off x="3781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4"/>
          <p:cNvCxnSpPr/>
          <p:nvPr/>
        </p:nvCxnSpPr>
        <p:spPr>
          <a:xfrm>
            <a:off x="3875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4"/>
          <p:cNvCxnSpPr/>
          <p:nvPr/>
        </p:nvCxnSpPr>
        <p:spPr>
          <a:xfrm>
            <a:off x="3969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4"/>
          <p:cNvCxnSpPr/>
          <p:nvPr/>
        </p:nvCxnSpPr>
        <p:spPr>
          <a:xfrm>
            <a:off x="4251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4"/>
          <p:cNvCxnSpPr/>
          <p:nvPr/>
        </p:nvCxnSpPr>
        <p:spPr>
          <a:xfrm>
            <a:off x="4533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4"/>
          <p:cNvCxnSpPr/>
          <p:nvPr/>
        </p:nvCxnSpPr>
        <p:spPr>
          <a:xfrm>
            <a:off x="4627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4"/>
          <p:cNvCxnSpPr/>
          <p:nvPr/>
        </p:nvCxnSpPr>
        <p:spPr>
          <a:xfrm>
            <a:off x="4721550" y="403262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44"/>
          <p:cNvSpPr txBox="1"/>
          <p:nvPr/>
        </p:nvSpPr>
        <p:spPr>
          <a:xfrm>
            <a:off x="5003550" y="2250550"/>
            <a:ext cx="14073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2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3" name="Google Shape;673;p44"/>
          <p:cNvSpPr txBox="1"/>
          <p:nvPr/>
        </p:nvSpPr>
        <p:spPr>
          <a:xfrm>
            <a:off x="5003550" y="2844575"/>
            <a:ext cx="2626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2⋅3/2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≈ 2⋅2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4/12</a:t>
            </a:r>
            <a:endParaRPr baseline="30000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4" name="Google Shape;674;p44"/>
          <p:cNvSpPr txBox="1"/>
          <p:nvPr/>
        </p:nvSpPr>
        <p:spPr>
          <a:xfrm>
            <a:off x="5003550" y="3438600"/>
            <a:ext cx="16977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2⋅2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44"/>
          <p:cNvSpPr txBox="1"/>
          <p:nvPr/>
        </p:nvSpPr>
        <p:spPr>
          <a:xfrm>
            <a:off x="5003550" y="4032625"/>
            <a:ext cx="2678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4⋅5/4 f</a:t>
            </a:r>
            <a:r>
              <a:rPr baseline="-25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≈ 2⋅2</a:t>
            </a:r>
            <a:r>
              <a:rPr baseline="30000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7/12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Google Shape;676;p44"/>
          <p:cNvSpPr txBox="1"/>
          <p:nvPr/>
        </p:nvSpPr>
        <p:spPr>
          <a:xfrm>
            <a:off x="7681950" y="2843525"/>
            <a:ext cx="13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 oct. + 3rd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Google Shape;677;p44"/>
          <p:cNvSpPr txBox="1"/>
          <p:nvPr/>
        </p:nvSpPr>
        <p:spPr>
          <a:xfrm>
            <a:off x="7681950" y="4031575"/>
            <a:ext cx="13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oct. + 5th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Google Shape;678;p44"/>
          <p:cNvSpPr txBox="1"/>
          <p:nvPr/>
        </p:nvSpPr>
        <p:spPr>
          <a:xfrm>
            <a:off x="7681950" y="3437550"/>
            <a:ext cx="13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 octaves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44"/>
          <p:cNvSpPr txBox="1"/>
          <p:nvPr/>
        </p:nvSpPr>
        <p:spPr>
          <a:xfrm>
            <a:off x="7681950" y="2249500"/>
            <a:ext cx="13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octave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0" name="Google Shape;680;p44"/>
          <p:cNvCxnSpPr/>
          <p:nvPr/>
        </p:nvCxnSpPr>
        <p:spPr>
          <a:xfrm>
            <a:off x="265355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4"/>
          <p:cNvCxnSpPr/>
          <p:nvPr/>
        </p:nvCxnSpPr>
        <p:spPr>
          <a:xfrm>
            <a:off x="2843800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4"/>
          <p:cNvCxnSpPr/>
          <p:nvPr/>
        </p:nvCxnSpPr>
        <p:spPr>
          <a:xfrm>
            <a:off x="3124675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4"/>
          <p:cNvCxnSpPr/>
          <p:nvPr/>
        </p:nvCxnSpPr>
        <p:spPr>
          <a:xfrm>
            <a:off x="3406675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4"/>
          <p:cNvCxnSpPr/>
          <p:nvPr/>
        </p:nvCxnSpPr>
        <p:spPr>
          <a:xfrm>
            <a:off x="3688675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4"/>
          <p:cNvCxnSpPr/>
          <p:nvPr/>
        </p:nvCxnSpPr>
        <p:spPr>
          <a:xfrm>
            <a:off x="3970675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4"/>
          <p:cNvCxnSpPr/>
          <p:nvPr/>
        </p:nvCxnSpPr>
        <p:spPr>
          <a:xfrm>
            <a:off x="4252675" y="22505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4"/>
          <p:cNvCxnSpPr/>
          <p:nvPr/>
        </p:nvCxnSpPr>
        <p:spPr>
          <a:xfrm>
            <a:off x="180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4"/>
          <p:cNvCxnSpPr/>
          <p:nvPr/>
        </p:nvCxnSpPr>
        <p:spPr>
          <a:xfrm>
            <a:off x="2089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4"/>
          <p:cNvCxnSpPr/>
          <p:nvPr/>
        </p:nvCxnSpPr>
        <p:spPr>
          <a:xfrm>
            <a:off x="2183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4"/>
          <p:cNvCxnSpPr/>
          <p:nvPr/>
        </p:nvCxnSpPr>
        <p:spPr>
          <a:xfrm>
            <a:off x="227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4"/>
          <p:cNvCxnSpPr/>
          <p:nvPr/>
        </p:nvCxnSpPr>
        <p:spPr>
          <a:xfrm>
            <a:off x="2559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4"/>
          <p:cNvCxnSpPr/>
          <p:nvPr/>
        </p:nvCxnSpPr>
        <p:spPr>
          <a:xfrm>
            <a:off x="274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4"/>
          <p:cNvCxnSpPr/>
          <p:nvPr/>
        </p:nvCxnSpPr>
        <p:spPr>
          <a:xfrm>
            <a:off x="2935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4"/>
          <p:cNvCxnSpPr/>
          <p:nvPr/>
        </p:nvCxnSpPr>
        <p:spPr>
          <a:xfrm>
            <a:off x="321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4"/>
          <p:cNvCxnSpPr/>
          <p:nvPr/>
        </p:nvCxnSpPr>
        <p:spPr>
          <a:xfrm>
            <a:off x="3311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3405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3687550" y="2844575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265242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4"/>
          <p:cNvCxnSpPr/>
          <p:nvPr/>
        </p:nvCxnSpPr>
        <p:spPr>
          <a:xfrm>
            <a:off x="28426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44"/>
          <p:cNvCxnSpPr/>
          <p:nvPr/>
        </p:nvCxnSpPr>
        <p:spPr>
          <a:xfrm>
            <a:off x="2089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4"/>
          <p:cNvCxnSpPr/>
          <p:nvPr/>
        </p:nvCxnSpPr>
        <p:spPr>
          <a:xfrm>
            <a:off x="1713550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4"/>
          <p:cNvCxnSpPr/>
          <p:nvPr/>
        </p:nvCxnSpPr>
        <p:spPr>
          <a:xfrm>
            <a:off x="4248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4"/>
          <p:cNvCxnSpPr/>
          <p:nvPr/>
        </p:nvCxnSpPr>
        <p:spPr>
          <a:xfrm>
            <a:off x="3966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4"/>
          <p:cNvCxnSpPr/>
          <p:nvPr/>
        </p:nvCxnSpPr>
        <p:spPr>
          <a:xfrm>
            <a:off x="3684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44"/>
          <p:cNvCxnSpPr/>
          <p:nvPr/>
        </p:nvCxnSpPr>
        <p:spPr>
          <a:xfrm>
            <a:off x="3590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44"/>
          <p:cNvCxnSpPr/>
          <p:nvPr/>
        </p:nvCxnSpPr>
        <p:spPr>
          <a:xfrm>
            <a:off x="3120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44"/>
          <p:cNvCxnSpPr/>
          <p:nvPr/>
        </p:nvCxnSpPr>
        <p:spPr>
          <a:xfrm>
            <a:off x="3402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44"/>
          <p:cNvCxnSpPr/>
          <p:nvPr/>
        </p:nvCxnSpPr>
        <p:spPr>
          <a:xfrm>
            <a:off x="3778175" y="3438600"/>
            <a:ext cx="0" cy="41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44"/>
          <p:cNvSpPr txBox="1"/>
          <p:nvPr/>
        </p:nvSpPr>
        <p:spPr>
          <a:xfrm>
            <a:off x="7725050" y="1655475"/>
            <a:ext cx="13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fundamental</a:t>
            </a:r>
            <a:endParaRPr i="1" sz="13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10" name="Google Shape;710;p44"/>
          <p:cNvGrpSpPr/>
          <p:nvPr/>
        </p:nvGrpSpPr>
        <p:grpSpPr>
          <a:xfrm>
            <a:off x="7068959" y="866747"/>
            <a:ext cx="1967700" cy="610209"/>
            <a:chOff x="2818850" y="2013002"/>
            <a:chExt cx="3000000" cy="930197"/>
          </a:xfrm>
        </p:grpSpPr>
        <p:sp>
          <p:nvSpPr>
            <p:cNvPr id="711" name="Google Shape;711;p44"/>
            <p:cNvSpPr txBox="1"/>
            <p:nvPr/>
          </p:nvSpPr>
          <p:spPr>
            <a:xfrm>
              <a:off x="2818850" y="2047963"/>
              <a:ext cx="3000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975" lIns="59975" spcFirstLastPara="1" rIns="59975" wrap="square" tIns="599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23">
                  <a:latin typeface="Inter Light"/>
                  <a:ea typeface="Inter Light"/>
                  <a:cs typeface="Inter Light"/>
                  <a:sym typeface="Inter Light"/>
                </a:rPr>
                <a:t>f = —    —</a:t>
              </a:r>
              <a:endParaRPr sz="2623"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cxnSp>
          <p:nvCxnSpPr>
            <p:cNvPr id="712" name="Google Shape;712;p44"/>
            <p:cNvCxnSpPr/>
            <p:nvPr/>
          </p:nvCxnSpPr>
          <p:spPr>
            <a:xfrm>
              <a:off x="4888300" y="2022638"/>
              <a:ext cx="710100" cy="0"/>
            </a:xfrm>
            <a:prstGeom prst="straightConnector1">
              <a:avLst/>
            </a:prstGeom>
            <a:noFill/>
            <a:ln cap="flat" cmpd="sng" w="18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3" name="Google Shape;713;p44"/>
            <p:cNvSpPr txBox="1"/>
            <p:nvPr/>
          </p:nvSpPr>
          <p:spPr>
            <a:xfrm>
              <a:off x="5006225" y="21039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975" lIns="59975" spcFirstLastPara="1" rIns="59975" wrap="square" tIns="5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6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endParaRPr sz="19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4" name="Google Shape;714;p44"/>
            <p:cNvSpPr txBox="1"/>
            <p:nvPr/>
          </p:nvSpPr>
          <p:spPr>
            <a:xfrm>
              <a:off x="5006225" y="250672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975" lIns="59975" spcFirstLastPara="1" rIns="59975" wrap="square" tIns="5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6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μ</a:t>
              </a:r>
              <a:endParaRPr sz="19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5" name="Google Shape;715;p44"/>
            <p:cNvSpPr txBox="1"/>
            <p:nvPr/>
          </p:nvSpPr>
          <p:spPr>
            <a:xfrm>
              <a:off x="3930275" y="2110175"/>
              <a:ext cx="4887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975" lIns="59975" spcFirstLastPara="1" rIns="59975" wrap="square" tIns="5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6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19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6" name="Google Shape;716;p44"/>
            <p:cNvSpPr txBox="1"/>
            <p:nvPr/>
          </p:nvSpPr>
          <p:spPr>
            <a:xfrm>
              <a:off x="3802175" y="2565175"/>
              <a:ext cx="744900" cy="2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975" lIns="59975" spcFirstLastPara="1" rIns="59975" wrap="square" tIns="5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67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2L</a:t>
              </a:r>
              <a:endParaRPr sz="19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717" name="Google Shape;717;p44"/>
            <p:cNvCxnSpPr/>
            <p:nvPr/>
          </p:nvCxnSpPr>
          <p:spPr>
            <a:xfrm>
              <a:off x="4547071" y="2469311"/>
              <a:ext cx="108000" cy="0"/>
            </a:xfrm>
            <a:prstGeom prst="straightConnector1">
              <a:avLst/>
            </a:prstGeom>
            <a:noFill/>
            <a:ln cap="flat" cmpd="sng" w="18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p44"/>
            <p:cNvCxnSpPr/>
            <p:nvPr/>
          </p:nvCxnSpPr>
          <p:spPr>
            <a:xfrm>
              <a:off x="4655274" y="2472011"/>
              <a:ext cx="98100" cy="456000"/>
            </a:xfrm>
            <a:prstGeom prst="straightConnector1">
              <a:avLst/>
            </a:prstGeom>
            <a:noFill/>
            <a:ln cap="flat" cmpd="sng" w="18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44"/>
            <p:cNvCxnSpPr/>
            <p:nvPr/>
          </p:nvCxnSpPr>
          <p:spPr>
            <a:xfrm flipH="1" rot="10800000">
              <a:off x="4754792" y="2013002"/>
              <a:ext cx="144900" cy="912600"/>
            </a:xfrm>
            <a:prstGeom prst="straightConnector1">
              <a:avLst/>
            </a:prstGeom>
            <a:noFill/>
            <a:ln cap="flat" cmpd="sng" w="18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0" name="Google Shape;720;p44"/>
            <p:cNvSpPr/>
            <p:nvPr/>
          </p:nvSpPr>
          <p:spPr>
            <a:xfrm>
              <a:off x="4739249" y="2914399"/>
              <a:ext cx="29700" cy="28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2550" lIns="62550" spcFirstLastPara="1" rIns="62550" wrap="square" tIns="62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7"/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4639775" y="2454450"/>
              <a:ext cx="29700" cy="29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2550" lIns="62550" spcFirstLastPara="1" rIns="62550" wrap="square" tIns="62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57"/>
            </a:p>
          </p:txBody>
        </p:sp>
      </p:grpSp>
      <p:sp>
        <p:nvSpPr>
          <p:cNvPr id="722" name="Google Shape;722;p44"/>
          <p:cNvSpPr txBox="1"/>
          <p:nvPr/>
        </p:nvSpPr>
        <p:spPr>
          <a:xfrm>
            <a:off x="2526113" y="1980850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3" name="Google Shape;723;p44"/>
          <p:cNvSpPr txBox="1"/>
          <p:nvPr/>
        </p:nvSpPr>
        <p:spPr>
          <a:xfrm>
            <a:off x="1961538" y="2571750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4" name="Google Shape;724;p44"/>
          <p:cNvSpPr txBox="1"/>
          <p:nvPr/>
        </p:nvSpPr>
        <p:spPr>
          <a:xfrm>
            <a:off x="3089538" y="2571750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p44"/>
          <p:cNvSpPr txBox="1"/>
          <p:nvPr/>
        </p:nvSpPr>
        <p:spPr>
          <a:xfrm>
            <a:off x="1585538" y="3173338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44"/>
          <p:cNvSpPr txBox="1"/>
          <p:nvPr/>
        </p:nvSpPr>
        <p:spPr>
          <a:xfrm>
            <a:off x="3465538" y="3173338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44"/>
          <p:cNvSpPr txBox="1"/>
          <p:nvPr/>
        </p:nvSpPr>
        <p:spPr>
          <a:xfrm>
            <a:off x="2523863" y="3173338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44"/>
          <p:cNvSpPr txBox="1"/>
          <p:nvPr/>
        </p:nvSpPr>
        <p:spPr>
          <a:xfrm>
            <a:off x="1397538" y="3762113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44"/>
          <p:cNvSpPr txBox="1"/>
          <p:nvPr/>
        </p:nvSpPr>
        <p:spPr>
          <a:xfrm>
            <a:off x="2148975" y="3762113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44"/>
          <p:cNvSpPr txBox="1"/>
          <p:nvPr/>
        </p:nvSpPr>
        <p:spPr>
          <a:xfrm>
            <a:off x="2900413" y="3762113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44"/>
          <p:cNvSpPr txBox="1"/>
          <p:nvPr/>
        </p:nvSpPr>
        <p:spPr>
          <a:xfrm>
            <a:off x="3651863" y="3762113"/>
            <a:ext cx="444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27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5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harmonics for reach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37" name="Google Shape;7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38" name="Google Shape;738;p45"/>
          <p:cNvSpPr txBox="1"/>
          <p:nvPr/>
        </p:nvSpPr>
        <p:spPr>
          <a:xfrm>
            <a:off x="447050" y="3654150"/>
            <a:ext cx="361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“Valse de Loges”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(Roland Dyens)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EADGBE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9" name="Google Shape;739;p45" title="Screenshot 2026-01-10 at 02.12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8250" y="1554049"/>
            <a:ext cx="4278200" cy="299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5"/>
          <p:cNvPicPr preferRelativeResize="0"/>
          <p:nvPr/>
        </p:nvPicPr>
        <p:blipFill rotWithShape="1">
          <a:blip r:embed="rId5">
            <a:alphaModFix/>
          </a:blip>
          <a:srcRect b="7670" l="0" r="0" t="7662"/>
          <a:stretch/>
        </p:blipFill>
        <p:spPr>
          <a:xfrm>
            <a:off x="447000" y="1554050"/>
            <a:ext cx="3618500" cy="203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</a:t>
            </a: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x: harmonic melody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46" name="Google Shape;7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47" name="Google Shape;747;p46"/>
          <p:cNvSpPr txBox="1"/>
          <p:nvPr/>
        </p:nvSpPr>
        <p:spPr>
          <a:xfrm>
            <a:off x="876250" y="3654150"/>
            <a:ext cx="27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“Safe Haven”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(Sönke Meinen)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ADGBE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8" name="Google Shape;748;p46" title="Screenshot 2026-01-10 at 01.08.46.png"/>
          <p:cNvPicPr preferRelativeResize="0"/>
          <p:nvPr/>
        </p:nvPicPr>
        <p:blipFill rotWithShape="1">
          <a:blip r:embed="rId4">
            <a:alphaModFix/>
          </a:blip>
          <a:srcRect b="0" l="19104" r="1328" t="0"/>
          <a:stretch/>
        </p:blipFill>
        <p:spPr>
          <a:xfrm>
            <a:off x="4723200" y="1554050"/>
            <a:ext cx="3618500" cy="29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7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harmonics for sustain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4" name="Google Shape;7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55" name="Google Shape;755;p47"/>
          <p:cNvSpPr txBox="1"/>
          <p:nvPr/>
        </p:nvSpPr>
        <p:spPr>
          <a:xfrm>
            <a:off x="447050" y="3654150"/>
            <a:ext cx="361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“Julia Florida”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Agustín Barrios Mangoré</a:t>
            </a: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ADGBE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6" name="Google Shape;75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00" y="1554050"/>
            <a:ext cx="3591870" cy="2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7" title="Screenshot 2026-01-10 at 01.30.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8775" y="1726254"/>
            <a:ext cx="4773549" cy="2476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harmonics for scales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3" name="Google Shape;7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64" name="Google Shape;764;p48"/>
          <p:cNvSpPr txBox="1"/>
          <p:nvPr/>
        </p:nvSpPr>
        <p:spPr>
          <a:xfrm>
            <a:off x="447050" y="3654150"/>
            <a:ext cx="361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“Julia Florida”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(Agustín Barrios Mangoré)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DADGBE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5" name="Google Shape;76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00" y="1554050"/>
            <a:ext cx="3591870" cy="20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8" title="Screenshot 2026-01-13 at 09.03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9499" y="1554054"/>
            <a:ext cx="4773701" cy="2082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9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harmonics for volume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2" name="Google Shape;77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00" y="1554050"/>
            <a:ext cx="3618499" cy="203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73" name="Google Shape;773;p49"/>
          <p:cNvSpPr txBox="1"/>
          <p:nvPr/>
        </p:nvSpPr>
        <p:spPr>
          <a:xfrm>
            <a:off x="447050" y="3654150"/>
            <a:ext cx="361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“Sunset on the Peak”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(Masaaki Kishibe 岸部真明)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ADF#AD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4" name="Google Shape;774;p49" title="Screenshot 2026-01-10 at 01.34.56.png"/>
          <p:cNvPicPr preferRelativeResize="0"/>
          <p:nvPr/>
        </p:nvPicPr>
        <p:blipFill rotWithShape="1">
          <a:blip r:embed="rId4">
            <a:alphaModFix/>
          </a:blip>
          <a:srcRect b="71831" l="0" r="0" t="0"/>
          <a:stretch/>
        </p:blipFill>
        <p:spPr>
          <a:xfrm>
            <a:off x="4198400" y="2511824"/>
            <a:ext cx="2911237" cy="119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9" title="Screenshot 2026-01-10 at 01.34.56.png"/>
          <p:cNvPicPr preferRelativeResize="0"/>
          <p:nvPr/>
        </p:nvPicPr>
        <p:blipFill rotWithShape="1">
          <a:blip r:embed="rId4">
            <a:alphaModFix/>
          </a:blip>
          <a:srcRect b="0" l="0" r="0" t="46783"/>
          <a:stretch/>
        </p:blipFill>
        <p:spPr>
          <a:xfrm>
            <a:off x="5678900" y="2018725"/>
            <a:ext cx="2816350" cy="21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9"/>
          <p:cNvPicPr preferRelativeResize="0"/>
          <p:nvPr/>
        </p:nvPicPr>
        <p:blipFill rotWithShape="1">
          <a:blip r:embed="rId5">
            <a:alphaModFix/>
          </a:blip>
          <a:srcRect b="28552" l="0" r="0" t="15198"/>
          <a:stretch/>
        </p:blipFill>
        <p:spPr>
          <a:xfrm>
            <a:off x="447000" y="1525000"/>
            <a:ext cx="3618500" cy="20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0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ex: everything combined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2" name="Google Shape;7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75" y="1563850"/>
            <a:ext cx="3618499" cy="203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0"/>
          <p:cNvSpPr txBox="1"/>
          <p:nvPr/>
        </p:nvSpPr>
        <p:spPr>
          <a:xfrm>
            <a:off x="862925" y="3663950"/>
            <a:ext cx="27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nter"/>
                <a:ea typeface="Inter"/>
                <a:cs typeface="Inter"/>
                <a:sym typeface="Inter"/>
              </a:rPr>
              <a:t>“Bell’s Harmonics”</a:t>
            </a:r>
            <a:br>
              <a:rPr lang="en" sz="2000">
                <a:latin typeface="Inter"/>
                <a:ea typeface="Inter"/>
                <a:cs typeface="Inter"/>
                <a:sym typeface="Inter"/>
              </a:rPr>
            </a:b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(Alan Gogoll)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rPr>
              <a:t>EAC#EBE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4" name="Google Shape;784;p50" title="Screenshot 2026-01-10 at 01.15.06.png"/>
          <p:cNvPicPr preferRelativeResize="0"/>
          <p:nvPr/>
        </p:nvPicPr>
        <p:blipFill rotWithShape="1">
          <a:blip r:embed="rId4">
            <a:alphaModFix/>
          </a:blip>
          <a:srcRect b="0" l="12008" r="2885" t="0"/>
          <a:stretch/>
        </p:blipFill>
        <p:spPr>
          <a:xfrm>
            <a:off x="4310800" y="1767525"/>
            <a:ext cx="4421451" cy="24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675" y="1563850"/>
            <a:ext cx="3618499" cy="20354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900" y="1774875"/>
            <a:ext cx="3328875" cy="33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51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Recall: icebreaker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92" name="Google Shape;792;p51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Which can produce a note of higher frequency, this guitar or piano?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	Guitar	: highest string, fret, </a:t>
            </a:r>
            <a:r>
              <a:rPr b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&amp; harmonic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</a:t>
            </a:r>
            <a:r>
              <a:rPr b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is C7</a:t>
            </a:r>
            <a:b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</a:b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    	Piano	: highest note is C8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793" name="Google Shape;79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000" y="2316863"/>
            <a:ext cx="3975231" cy="224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900" y="1774875"/>
            <a:ext cx="3328875" cy="33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52"/>
          <p:cNvSpPr txBox="1"/>
          <p:nvPr>
            <p:ph type="ctrTitle"/>
          </p:nvPr>
        </p:nvSpPr>
        <p:spPr>
          <a:xfrm>
            <a:off x="311700" y="238854"/>
            <a:ext cx="85206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 Light"/>
                <a:ea typeface="Lexend Light"/>
                <a:cs typeface="Lexend Light"/>
                <a:sym typeface="Lexend Light"/>
              </a:rPr>
              <a:t>Closing question</a:t>
            </a:r>
            <a:endParaRPr sz="4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0" name="Google Shape;800;p52"/>
          <p:cNvSpPr txBox="1"/>
          <p:nvPr/>
        </p:nvSpPr>
        <p:spPr>
          <a:xfrm>
            <a:off x="764988" y="1171250"/>
            <a:ext cx="761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Which can produce a note of </a:t>
            </a:r>
            <a:r>
              <a:rPr b="1"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lower</a:t>
            </a: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frequency, this guitar or piano?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	Guitar	: ???</a:t>
            </a:r>
            <a:b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</a:br>
            <a:r>
              <a:rPr lang="en" sz="20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     	Piano	: A0 (typical 88 key)</a:t>
            </a:r>
            <a:endParaRPr sz="20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pic>
        <p:nvPicPr>
          <p:cNvPr id="801" name="Google Shape;80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000" y="2316863"/>
            <a:ext cx="3975231" cy="224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